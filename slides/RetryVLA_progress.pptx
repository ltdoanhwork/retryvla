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fe5c156-65ac-9404-7aa7-1919d118fc30}">
          <p14:sldIdLst>
            <p14:sldId id="256"/>
            <p14:sldId id="257"/>
            <p14:sldId id="258"/>
          </p14:sldIdLst>
        </p14:section>
        <p14:section name="Setup" id="{071cc9c8-31f5-23eb-5160-a008e75121c8}">
          <p14:sldIdLst>
            <p14:sldId id="259"/>
            <p14:sldId id="260"/>
            <p14:sldId id="261"/>
          </p14:sldIdLst>
        </p14:section>
        <p14:section name="M0 baseline" id="{7cfff75b-707f-968a-144c-7e2c37f3c756}">
          <p14:sldIdLst>
            <p14:sldId id="262"/>
            <p14:sldId id="263"/>
          </p14:sldIdLst>
        </p14:section>
        <p14:section name="M1 oracle search" id="{d412fd0e-2cf7-7ac9-c880-e987c56da0a4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World model" id="{a50b7e6a-6aa1-9b8b-7b75-e00de00c7f92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Distillation" id="{2d11cc0d-ce9c-534f-6702-6be0e77d7230}">
          <p14:sldIdLst>
            <p14:sldId id="283"/>
          </p14:sldIdLst>
        </p14:section>
        <p14:section name="M5 results" id="{5190830e-1020-6b97-1482-8a9ac9876575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Assessment and plan" id="{44706fea-d280-11b0-5482-a750829d0464}">
          <p14:sldIdLst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WM + critic (16 sims)</c:v>
                </c:pt>
              </c:strCache>
            </c:strRef>
          </c:tx>
          <c:spPr>
            <a:solidFill>
              <a:srgbClr val="E89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30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instances solved (of 53)</c:v>
                  </c:pt>
                  <c:pt idx="1">
                    <c:v>verified hits (of 848)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from same pool (16 sims)</c:v>
                </c:pt>
              </c:strCache>
            </c:strRef>
          </c:tx>
          <c:spPr>
            <a:solidFill>
              <a:srgbClr val="AAB4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30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instances solved (of 53)</c:v>
                  </c:pt>
                  <c:pt idx="1">
                    <c:v>verified hits (of 848)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30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A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update. Question: can a world model find recoveries from real VLA failure states, and can those be distilled into the VLA so it recovers without search at test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1-6 from the research plan. M1 uses the simulator as the scorer (oracle). M2/M3 replace it with a latent world model + critic.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failure states, 2 search (simulator scorer in M1, world model + critic in M3), 3 verify in simulator, 4 recovery dataset, 5 distill into SmolVLA, 6 evaluate on held-out failures without search. Dashed: WM training (M2), critic self-improvement (M5), iterative loop (M6).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3.12, lerobot 0.5.1. Every eval uses the same seeds so arms see identical perturbations.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3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3C98B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3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3C98B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RetryVLA  ·  LIBERO-Recover Spatial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video" Target="../media/media-8-4.mp4"/><Relationship Id="rId5" Type="http://schemas.microsoft.com/office/2007/relationships/media" Target="../media/media-8-4.mp4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9-1.mp4"/><Relationship Id="rId2" Type="http://schemas.microsoft.com/office/2007/relationships/media" Target="../media/media-19-1.mp4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5-1.mp4"/><Relationship Id="rId2" Type="http://schemas.microsoft.com/office/2007/relationships/media" Target="../media/media-25-1.mp4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6-1.mp4"/><Relationship Id="rId2" Type="http://schemas.microsoft.com/office/2007/relationships/media" Target="../media/media-26-1.mp4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2-1.mp4"/><Relationship Id="rId2" Type="http://schemas.microsoft.com/office/2007/relationships/media" Target="../media/media-32-1.mp4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3-1.mp4"/><Relationship Id="rId2" Type="http://schemas.microsoft.com/office/2007/relationships/media" Target="../media/media-33-1.mp4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4-1.mp4"/><Relationship Id="rId2" Type="http://schemas.microsoft.com/office/2007/relationships/media" Target="../media/media-34-1.mp4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7-1.mp4"/><Relationship Id="rId2" Type="http://schemas.microsoft.com/office/2007/relationships/media" Target="../media/media-37-1.mp4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9-1.mp4"/><Relationship Id="rId2" Type="http://schemas.microsoft.com/office/2007/relationships/media" Target="../media/media-39-1.mp4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RetryVLA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World-model-guided synthetic recovery learning for VLAs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Progress M0–M5 · LIBERO-Recover Spatial · Oct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question we are answering</a:t>
            </a:r>
            <a:endParaRPr lang="en-US" sz="3000" dirty="0"/>
          </a:p>
        </p:txBody>
      </p:sp>
      <p:sp>
        <p:nvSpPr>
          <p:cNvPr id="3" name="question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2330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a world model discover action sequences that recover from actual VLA failure states, and can those imagined recoveries be distilled into the VLA so it recovers without search at inference?</a:t>
            </a:r>
            <a:endParaRPr lang="en-US" sz="1700" dirty="0"/>
          </a:p>
        </p:txBody>
      </p:sp>
      <p:sp>
        <p:nvSpPr>
          <p:cNvPr id="5" name="step0"/>
          <p:cNvSpPr/>
          <p:nvPr/>
        </p:nvSpPr>
        <p:spPr>
          <a:xfrm>
            <a:off x="548640" y="274320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6" name="badge"/>
          <p:cNvSpPr/>
          <p:nvPr/>
        </p:nvSpPr>
        <p:spPr>
          <a:xfrm>
            <a:off x="731520" y="292608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3B"/>
                </a:solidFill>
              </a:rPr>
              <a:t>Failure states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LIBERO-Recover scenes where SmolVLA failed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78608" y="3657600"/>
            <a:ext cx="182880" cy="274320"/>
          </a:xfrm>
          <a:prstGeom prst="rightArrow">
            <a:avLst/>
          </a:prstGeom>
          <a:solidFill>
            <a:srgbClr val="D5DBE1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1" name="step1"/>
          <p:cNvSpPr/>
          <p:nvPr/>
        </p:nvSpPr>
        <p:spPr>
          <a:xfrm>
            <a:off x="2788920" y="274320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3303B"/>
          </a:solidFill>
          <a:ln w="12700">
            <a:solidFill>
              <a:srgbClr val="23303B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2971800" y="2926080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Search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3E8"/>
                </a:solidFill>
              </a:rPr>
              <a:t>propose 50-step recovery segments, score them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18888" y="3657600"/>
            <a:ext cx="182880" cy="274320"/>
          </a:xfrm>
          <a:prstGeom prst="rightArrow">
            <a:avLst/>
          </a:prstGeom>
          <a:solidFill>
            <a:srgbClr val="D5DBE1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step2"/>
          <p:cNvSpPr/>
          <p:nvPr/>
        </p:nvSpPr>
        <p:spPr>
          <a:xfrm>
            <a:off x="5029200" y="274320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8" name="badge"/>
          <p:cNvSpPr/>
          <p:nvPr/>
        </p:nvSpPr>
        <p:spPr>
          <a:xfrm>
            <a:off x="5212080" y="292608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3B"/>
                </a:solidFill>
              </a:rPr>
              <a:t>Verify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run best candidates in the simulator + SmolVLA continuation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59168" y="3657600"/>
            <a:ext cx="182880" cy="274320"/>
          </a:xfrm>
          <a:prstGeom prst="rightArrow">
            <a:avLst/>
          </a:prstGeom>
          <a:solidFill>
            <a:srgbClr val="D5DBE1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3" name="step3"/>
          <p:cNvSpPr/>
          <p:nvPr/>
        </p:nvSpPr>
        <p:spPr>
          <a:xfrm>
            <a:off x="7269480" y="274320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7452360" y="292608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523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3B"/>
                </a:solidFill>
              </a:rPr>
              <a:t>Distill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fine-tune SmolVLA on verified recoveries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99448" y="3657600"/>
            <a:ext cx="182880" cy="274320"/>
          </a:xfrm>
          <a:prstGeom prst="rightArrow">
            <a:avLst/>
          </a:prstGeom>
          <a:solidFill>
            <a:srgbClr val="D5DBE1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9" name="step4"/>
          <p:cNvSpPr/>
          <p:nvPr/>
        </p:nvSpPr>
        <p:spPr>
          <a:xfrm>
            <a:off x="9509760" y="274320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30" name="badge"/>
          <p:cNvSpPr/>
          <p:nvPr/>
        </p:nvSpPr>
        <p:spPr>
          <a:xfrm>
            <a:off x="9692640" y="292608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92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3474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3B"/>
                </a:solidFill>
              </a:rPr>
              <a:t>Evaluate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3931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recovery success on held-out failures, no search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A57"/>
                </a:solidFill>
              </a:rPr>
              <a:t>Search is where the world model enters: it replaces the simulator as the thing that says which candidates are good.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Pipeline overview</a:t>
            </a:r>
            <a:endParaRPr lang="en-US" sz="3000" dirty="0"/>
          </a:p>
        </p:txBody>
      </p:sp>
      <p:pic>
        <p:nvPicPr>
          <p:cNvPr id="3" name="pipeline_overview.png" descr="RetryVLA pipeline overview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159" y="1097280"/>
            <a:ext cx="9635201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Setting: benchmark, policy, compute</a:t>
            </a:r>
            <a:endParaRPr lang="en-US" sz="3000" dirty="0"/>
          </a:p>
        </p:txBody>
      </p:sp>
      <p:sp>
        <p:nvSpPr>
          <p:cNvPr id="3" name="col0"/>
          <p:cNvSpPr/>
          <p:nvPr/>
        </p:nvSpPr>
        <p:spPr>
          <a:xfrm>
            <a:off x="548640" y="12801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292608" cy="292608"/>
          </a:xfrm>
          <a:prstGeom prst="ellipse">
            <a:avLst/>
          </a:prstGeom>
          <a:solidFill>
            <a:srgbClr val="1F8FE5"/>
          </a:solidFill>
          <a:ln w="12700">
            <a:solidFill>
              <a:srgbClr val="1F8F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303B"/>
                </a:solidFill>
              </a:rPr>
              <a:t>Benchmark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LIBERO-Recover, Spatial suite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168 failure scenes, 84 failed episodes, 9 tasks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official protocol: 5 closed-gripper + 5 open-gripper trials, ±2 cm object noise, 520 steps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metric: Recovery Success Rate (RSR)</a:t>
            </a:r>
            <a:endParaRPr lang="en-US" sz="1400" dirty="0"/>
          </a:p>
        </p:txBody>
      </p:sp>
      <p:sp>
        <p:nvSpPr>
          <p:cNvPr id="7" name="col1"/>
          <p:cNvSpPr/>
          <p:nvPr/>
        </p:nvSpPr>
        <p:spPr>
          <a:xfrm>
            <a:off x="4297680" y="12801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1508760"/>
            <a:ext cx="292608" cy="29260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303B"/>
                </a:solidFill>
              </a:rPr>
              <a:t>Policy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SmolVLA, checkpoint HuggingFaceVLA/smolvla_libero (450M)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chunk 50 actions, replan every 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7-D OSC delta actions, gripper ±1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pi0 = checkpoint as-is; pi1 = after recovery fine-tuning</a:t>
            </a:r>
            <a:endParaRPr lang="en-US" sz="1400" dirty="0"/>
          </a:p>
        </p:txBody>
      </p:sp>
      <p:sp>
        <p:nvSpPr>
          <p:cNvPr id="11" name="col2"/>
          <p:cNvSpPr/>
          <p:nvPr/>
        </p:nvSpPr>
        <p:spPr>
          <a:xfrm>
            <a:off x="8046720" y="12801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50876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303B"/>
                </a:solidFill>
              </a:rPr>
              <a:t>Compute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574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1 local A100 + idle A100s borrowed from other shells (avoid-list)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MuJoCo rendered on GPU (user-local NVIDIA EGL), ~20 ms/step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bit-exact sim snapshots for branching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all runs tracked: config, git sha, metrics, registry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a LIBERO-Recover failure state looks like</a:t>
            </a:r>
            <a:endParaRPr lang="en-US" sz="3000" dirty="0"/>
          </a:p>
        </p:txBody>
      </p:sp>
      <p:pic>
        <p:nvPicPr>
          <p:cNvPr id="3" name="failure_grid.png" descr="20 restored failure st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6736"/>
            <a:ext cx="5852160" cy="4681728"/>
          </a:xfrm>
          <a:prstGeom prst="rect">
            <a:avLst/>
          </a:prstGeom>
        </p:spPr>
      </p:pic>
      <p:sp>
        <p:nvSpPr>
          <p:cNvPr id="4" name="explain"/>
          <p:cNvSpPr/>
          <p:nvPr/>
        </p:nvSpPr>
        <p:spPr>
          <a:xfrm>
            <a:off x="6766560" y="1188720"/>
            <a:ext cx="4846320" cy="4937760"/>
          </a:xfrm>
          <a:prstGeom prst="roundRect">
            <a:avLst>
              <a:gd name="adj" fmla="val 150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040880" y="1417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Each scene = a .bddl task + the exact physics state recorded when SmolVLA was failing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377440"/>
            <a:ext cx="43891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bowl half-grasped, pushed off the plate, stuck in a drawer, arm in an odd pose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the gripper is forced closed in half of the trials: an initial state SmolVLA never saw in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restore is bit-exact: state, controller, observables. The same actions always give the same pixels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no L1-L4 difficulty labels released yet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20 restored failure states (agent camera), M0b check: 20/20 deterministic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Train / pilot / test split, grouped by failure episode</a:t>
            </a:r>
            <a:endParaRPr lang="en-US" sz="3000" dirty="0"/>
          </a:p>
        </p:txBody>
      </p:sp>
      <p:pic>
        <p:nvPicPr>
          <p:cNvPr id="3" name="split.png" descr="scenes per task and spl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2843"/>
            <a:ext cx="6766560" cy="34723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371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9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112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084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train scenes (search, WM data, SFT)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9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4107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pilot scenes (subset of train, search targets)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330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736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test scenes: never searched, never trained 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step_0180 and step_0200 of one failed episode are near-duplicates, so they always stay in the same split. Code asserts test scenes never enter search or training.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M0: SmolVLA is decent at nominal tasks, bad at recovery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330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76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nominal LIBERO-Spatial success (500 ep)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lerobot-eval cross-check: 0.68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55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30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recovery success (RSR) on 56 held-out failure scenes, 560 ep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55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160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2852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drawer-task failures recovered</a:t>
            </a:r>
            <a:endParaRPr lang="en-US" sz="1200" dirty="0"/>
          </a:p>
        </p:txBody>
      </p:sp>
      <p:pic>
        <p:nvPicPr>
          <p:cNvPr id="9" name="strip_demo.png" descr="nominal LIBERO demo str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482291"/>
            <a:ext cx="7315200" cy="215605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29768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Training data SmolVLA learned from: a nominal LIBERO-Spatial demo (agent + wrist camera, action per step)</a:t>
            </a:r>
            <a:endParaRPr lang="en-US" sz="1100" dirty="0"/>
          </a:p>
        </p:txBody>
      </p:sp>
      <p:sp>
        <p:nvSpPr>
          <p:cNvPr id="11" name="m0notes"/>
          <p:cNvSpPr/>
          <p:nvPr/>
        </p:nvSpPr>
        <p:spPr>
          <a:xfrm>
            <a:off x="4297680" y="4343400"/>
            <a:ext cx="7315200" cy="1737360"/>
          </a:xfrm>
          <a:prstGeom prst="roundRect">
            <a:avLst>
              <a:gd name="adj" fmla="val 421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26280" y="448056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checkpoint is weaker than the ~0.90 reported for SmolVLA, but our engine matches lerobot-eval, so the interface is correct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fine-tuning on the Spatial demos alone reaches 0.80 nominal. That checkpoint (pi1-nominal) becomes the control and the stronger 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replanning every step (n_action_steps=1) gives +5 points at 10x the cost, so we keep 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SmolVLA on held-out failure states</a:t>
            </a:r>
            <a:endParaRPr lang="en-US" sz="3000" dirty="0"/>
          </a:p>
        </p:txBody>
      </p:sp>
      <p:pic>
        <p:nvPicPr>
          <p:cNvPr id="3" name="video_m0_pi0_fail_drawe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34440" y="1234440"/>
            <a:ext cx="4114800" cy="4114800"/>
          </a:xfrm>
          <a:prstGeom prst="rect">
            <a:avLst/>
          </a:prstGeom>
        </p:spPr>
      </p:pic>
      <p:pic>
        <p:nvPicPr>
          <p:cNvPr id="6" name="video_m0_pi0_fail_ramekin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12280" y="1234440"/>
            <a:ext cx="4114800" cy="4114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28016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1280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126480" y="128016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26480" y="1280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Drawer failure: pi0 never recovers (26 s)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Ramekin failure: pi0 keeps trying the same grasp (26 s)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A57"/>
                </a:solidFill>
              </a:rPr>
              <a:t>Official protocol, 520 steps. These are the 88% of test episodes we want to fix.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M1: how one recovery candidate is tried</a:t>
            </a:r>
            <a:endParaRPr lang="en-US" sz="3000" dirty="0"/>
          </a:p>
        </p:txBody>
      </p:sp>
      <p:sp>
        <p:nvSpPr>
          <p:cNvPr id="3" name="ph0"/>
          <p:cNvSpPr/>
          <p:nvPr/>
        </p:nvSpPr>
        <p:spPr>
          <a:xfrm>
            <a:off x="54864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63040"/>
            <a:ext cx="292608" cy="29260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Restore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load the exact failure snapshot</a:t>
            </a:r>
            <a:endParaRPr lang="en-US" sz="1300" dirty="0"/>
          </a:p>
        </p:txBody>
      </p:sp>
      <p:sp>
        <p:nvSpPr>
          <p:cNvPr id="7" name="ph1"/>
          <p:cNvSpPr/>
          <p:nvPr/>
        </p:nvSpPr>
        <p:spPr>
          <a:xfrm>
            <a:off x="338328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4448" y="1463040"/>
            <a:ext cx="292608" cy="29260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Segment (50 steps)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open-loop actions from search: SmolVLA samples, smooth perturbations, primitives</a:t>
            </a:r>
            <a:endParaRPr lang="en-US" sz="1300" dirty="0"/>
          </a:p>
        </p:txBody>
      </p:sp>
      <p:sp>
        <p:nvSpPr>
          <p:cNvPr id="11" name="ph2"/>
          <p:cNvSpPr/>
          <p:nvPr/>
        </p:nvSpPr>
        <p:spPr>
          <a:xfrm>
            <a:off x="621792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463040"/>
            <a:ext cx="292608" cy="292608"/>
          </a:xfrm>
          <a:prstGeom prst="ellipse">
            <a:avLst/>
          </a:prstGeom>
          <a:solidFill>
            <a:srgbClr val="1F8FE5"/>
          </a:solidFill>
          <a:ln w="12700">
            <a:solidFill>
              <a:srgbClr val="1F8F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SmolVLA continues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frozen pi0 drives closed-loop up to 300 steps</a:t>
            </a:r>
            <a:endParaRPr lang="en-US" sz="1300" dirty="0"/>
          </a:p>
        </p:txBody>
      </p:sp>
      <p:sp>
        <p:nvSpPr>
          <p:cNvPr id="15" name="ph3"/>
          <p:cNvSpPr/>
          <p:nvPr/>
        </p:nvSpPr>
        <p:spPr>
          <a:xfrm>
            <a:off x="905256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53728" y="146304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692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Judge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simulator checks the BDDL goal: bowl on plate?</a:t>
            </a:r>
            <a:endParaRPr lang="en-US" sz="1300" dirty="0"/>
          </a:p>
        </p:txBody>
      </p:sp>
      <p:pic>
        <p:nvPicPr>
          <p:cNvPr id="19" name="strip_primitive.png" descr="primitive recovery then SmolV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6" y="3337560"/>
            <a:ext cx="11058748" cy="26060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Orange = searched segment (here a hand-written 'open + lift' primitive). Blue = SmolVLA takes over and places the bowl. Competence-targeted: the segment does not solve the task, it returns the robot to a state SmolVLA can finish from.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oracle-search recoveries</a:t>
            </a:r>
            <a:endParaRPr lang="en-US" sz="3000" dirty="0"/>
          </a:p>
        </p:txBody>
      </p:sp>
      <p:pic>
        <p:nvPicPr>
          <p:cNvPr id="3" name="video_m1_tri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311667" y="1188720"/>
            <a:ext cx="5538186" cy="4343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A57"/>
                </a:solidFill>
              </a:rPr>
              <a:t>Orange bar = searched 50-step segment, blue = SmolVLA continuing, green = nominal demo. Overlay: step, segment, action given to the policy, finger opening.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M1: search = propose, score in the simulator, refine</a:t>
            </a:r>
            <a:endParaRPr lang="en-US" sz="3000" dirty="0"/>
          </a:p>
        </p:txBody>
      </p:sp>
      <p:sp>
        <p:nvSpPr>
          <p:cNvPr id="3" name="badge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</a:rPr>
              <a:t>Propose 64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64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24 SmolVLA samples (different noise), 24 smooth perturbations, 16 primitives</a:t>
            </a:r>
            <a:endParaRPr lang="en-US" sz="1300" dirty="0"/>
          </a:p>
        </p:txBody>
      </p:sp>
      <p:sp>
        <p:nvSpPr>
          <p:cNvPr id="7" name="badge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</a:rPr>
              <a:t>Score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07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simulate each: success × speed + small goal-progress shaping − jerk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</a:rPr>
              <a:t>Keep elites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50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8 best candidates</a:t>
            </a:r>
            <a:endParaRPr lang="en-US" sz="1300" dirty="0"/>
          </a:p>
        </p:txBody>
      </p:sp>
      <p:sp>
        <p:nvSpPr>
          <p:cNvPr id="15" name="badge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</a:rPr>
              <a:t>Refine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932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CEM: sample around elites, up to 4 rounds (≤256 sims / instance)</a:t>
            </a:r>
            <a:endParaRPr lang="en-US" sz="1300" dirty="0"/>
          </a:p>
        </p:txBody>
      </p:sp>
      <p:pic>
        <p:nvPicPr>
          <p:cNvPr id="19" name="m1_search_overview.png" descr="M1 search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9136"/>
            <a:ext cx="6126480" cy="1633728"/>
          </a:xfrm>
          <a:prstGeom prst="rect">
            <a:avLst/>
          </a:prstGeom>
        </p:spPr>
      </p:pic>
      <p:sp>
        <p:nvSpPr>
          <p:cNvPr id="20" name="lesson"/>
          <p:cNvSpPr/>
          <p:nvPr/>
        </p:nvSpPr>
        <p:spPr>
          <a:xfrm>
            <a:off x="5486400" y="3611880"/>
            <a:ext cx="6126480" cy="2514600"/>
          </a:xfrm>
          <a:prstGeom prst="roundRect">
            <a:avLst>
              <a:gd name="adj" fmla="val 2909"/>
            </a:avLst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760720" y="3749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553D"/>
                </a:solidFill>
              </a:rPr>
              <a:t>What we learned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0" y="416052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~70% of pilot failures have a recovery reachable in 50 steps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the first CEM was broken: averaging different strategies into one Gaussian drops success 11% → 1%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fix: refine around ONE elite at a time. On hard instances it then solves 68% vs 55% for random at equal budget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~1/3 of recoveries are trivial (bowl already over plate: just open)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recovery training data looks like</a:t>
            </a:r>
            <a:endParaRPr lang="en-US" sz="3000" dirty="0"/>
          </a:p>
        </p:txBody>
      </p:sp>
      <p:pic>
        <p:nvPicPr>
          <p:cNvPr id="3" name="strip_trivial.png" descr="trivial recov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9726"/>
            <a:ext cx="2194560" cy="26097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Trivial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2 steps: release the bowl already above the plate. Removing these HURT RSR (0.254 → 0.220)</a:t>
            </a:r>
            <a:endParaRPr lang="en-US" sz="1200" dirty="0"/>
          </a:p>
        </p:txBody>
      </p:sp>
      <p:pic>
        <p:nvPicPr>
          <p:cNvPr id="6" name="strip_vla_sample.png" descr="vla sample recove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204654"/>
            <a:ext cx="8595360" cy="20255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0175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One of 24 SmolVLA samples (different noise) happens to open and back off; continuation succeeds</a:t>
            </a:r>
            <a:endParaRPr lang="en-US" sz="1100" dirty="0"/>
          </a:p>
        </p:txBody>
      </p:sp>
      <p:pic>
        <p:nvPicPr>
          <p:cNvPr id="8" name="strip_cem_bad.png" descr="noisy CEM recov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673534"/>
            <a:ext cx="8595360" cy="20255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017520" y="5715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Old CEM on a hard instance: jerky, gripper chatter (3-4 flips / 50 steps vs 0.9 in demos). Searched segments are 4-6x jerkier than demos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why random-noise search proves little</a:t>
            </a:r>
            <a:endParaRPr lang="en-US" sz="3000" dirty="0"/>
          </a:p>
        </p:txBody>
      </p:sp>
      <p:pic>
        <p:nvPicPr>
          <p:cNvPr id="3" name="video_m1_cem_ba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446638" y="1234440"/>
            <a:ext cx="2056164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8016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</a:t>
            </a:r>
            <a:endParaRPr lang="en-US" sz="1100" dirty="0"/>
          </a:p>
        </p:txBody>
      </p:sp>
      <p:sp>
        <p:nvSpPr>
          <p:cNvPr id="6" name="bad"/>
          <p:cNvSpPr/>
          <p:nvPr/>
        </p:nvSpPr>
        <p:spPr>
          <a:xfrm>
            <a:off x="6766560" y="1234440"/>
            <a:ext cx="4846320" cy="4754880"/>
          </a:xfrm>
          <a:prstGeom prst="roundRect">
            <a:avLst>
              <a:gd name="adj" fmla="val 1538"/>
            </a:avLst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9516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553D"/>
                </a:solidFill>
              </a:rPr>
              <a:t>Old CEM on a hard instance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1920240"/>
            <a:ext cx="4389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arm thrashes, gripper flips open/closed with no effect on the fingers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it still 'succeeds' afterwards, so it lands in the training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4-6× jerkier than demos: a likely reason recovery SFT costs nominal success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motivates: smoothness cost, elite-local refinement, and scoring by a model of what SmolVLA can finish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Distilling simulator-verified recoveries works</a:t>
            </a:r>
            <a:endParaRPr lang="en-US" sz="3000" dirty="0"/>
          </a:p>
        </p:txBody>
      </p:sp>
      <p:pic>
        <p:nvPicPr>
          <p:cNvPr id="3" name="m1_policy_results.png" descr="M1 policy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3960"/>
            <a:ext cx="7589520" cy="25298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7589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SFT arm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recovery data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RSR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nominal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pi0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0.118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0.656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pi1-nominal (control)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demos only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0.138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0.796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pi1-random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241 random-search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0.279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0.698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pi1-CEM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241 CEM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0.286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0.690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ratio 0.25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241 random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0.254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0.726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ratio 0.25, no trivial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170 random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0.220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303B"/>
                          </a:solidFill>
                        </a:rPr>
                        <a:t>0.766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"/>
          <p:cNvSpPr/>
          <p:nvPr/>
        </p:nvSpPr>
        <p:spPr>
          <a:xfrm>
            <a:off x="8503920" y="1188720"/>
            <a:ext cx="3108960" cy="4937760"/>
          </a:xfrm>
          <a:prstGeom prst="roundRect">
            <a:avLst>
              <a:gd name="adj" fmla="val 235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73252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2.4×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873252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test RSR vs pi0 (0.118 → 0.28), +14 pts over the fine-tune-only control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732520" y="3063240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CEM ≈ random here: the old CEM's useful data all came from its random first round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cost: nominal 0.80 → 0.70 at a 50% mix. Trade-off set by the ratio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trivial recoveries are useful supervision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Replacing the simulator with a world model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M2: latent world model + competence critic   ·   M3: search in imagination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a world model if we already have a simulator?</a:t>
            </a:r>
            <a:endParaRPr lang="en-US" sz="3000" dirty="0"/>
          </a:p>
        </p:txBody>
      </p:sp>
      <p:sp>
        <p:nvSpPr>
          <p:cNvPr id="3" name="oracle"/>
          <p:cNvSpPr/>
          <p:nvPr/>
        </p:nvSpPr>
        <p:spPr>
          <a:xfrm>
            <a:off x="548640" y="12801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303B"/>
                </a:solidFill>
              </a:rPr>
              <a:t>Oracle search (M1)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scores a candidate by running it for real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up to 256 simulator rollouts per failure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exact, but only exists where a simulator of THIS scene exists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upper bound on what search can find</a:t>
            </a:r>
            <a:endParaRPr lang="en-US" sz="1500" dirty="0"/>
          </a:p>
        </p:txBody>
      </p:sp>
      <p:sp>
        <p:nvSpPr>
          <p:cNvPr id="6" name="wm"/>
          <p:cNvSpPr/>
          <p:nvPr/>
        </p:nvSpPr>
        <p:spPr>
          <a:xfrm>
            <a:off x="6309360" y="12801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303B"/>
                </a:solidFill>
              </a:rPr>
              <a:t>World-model search (M3)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574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scores a candidate by imagining it in latent space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~800 candidates in a few GPU seconds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simulator only to verify the top 16 (later: real robot, or none)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C4A57"/>
                </a:solidFill>
              </a:rPr>
              <a:t>needs: accurate dynamics on failure states + a critic that knows what SmolVLA can finish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C4A57"/>
                </a:solidFill>
              </a:rPr>
              <a:t>Claim to test: at a fixed number of real rollouts, WM-guided search finds more recoveries than proposing at random.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State = frozen DINOv2 patch tokens + robot state</a:t>
            </a:r>
            <a:endParaRPr lang="en-US" sz="3000" dirty="0"/>
          </a:p>
        </p:txBody>
      </p:sp>
      <p:pic>
        <p:nvPicPr>
          <p:cNvPr id="3" name="dino_tokens.png" descr="DINOv2 tokens P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6355"/>
            <a:ext cx="7498080" cy="25707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Same drawer failure state. Token colors = first 3 PCA components: bowl, drawer, arm and table separate without any training</a:t>
            </a:r>
            <a:endParaRPr lang="en-US" sz="1100" dirty="0"/>
          </a:p>
        </p:txBody>
      </p:sp>
      <p:sp>
        <p:nvSpPr>
          <p:cNvPr id="5" name="state"/>
          <p:cNvSpPr/>
          <p:nvPr/>
        </p:nvSpPr>
        <p:spPr>
          <a:xfrm>
            <a:off x="8321040" y="1188720"/>
            <a:ext cx="3291840" cy="4937760"/>
          </a:xfrm>
          <a:prstGeom prst="roundRect">
            <a:avLst>
              <a:gd name="adj" fmla="val 222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5496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</a:rPr>
              <a:t>h_t (per time step)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828800"/>
            <a:ext cx="2834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agent cam 6×6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wrist cam 6×6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robot state q (8-D): eef pos, axis-angle, finger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= 72 tokens × 384-D + 1 state token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spatial tokens, not one global vector: L3/L4 failures depend on where things are</a:t>
            </a:r>
            <a:endParaRPr lang="en-US" sz="1300" dirty="0"/>
          </a:p>
        </p:txBody>
      </p:sp>
      <p:sp>
        <p:nvSpPr>
          <p:cNvPr id="8" name="c1"/>
          <p:cNvSpPr/>
          <p:nvPr/>
        </p:nvSpPr>
        <p:spPr>
          <a:xfrm>
            <a:off x="548640" y="4206240"/>
            <a:ext cx="7498080" cy="1920240"/>
          </a:xfrm>
          <a:prstGeom prst="roundRect">
            <a:avLst>
              <a:gd name="adj" fmla="val 3810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43434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C1 training data for the WM and critic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144 TRAIN failure instances × 32 candidate segments = 4,608 simulated trajectories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latents every 5 env steps + the actions + outcome label (did SmolVLA finish afterwards?)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the failure episodes containing the 53 hard search targets are excluded: those failures stay UNSEEN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failure state, two candidates, two labels</a:t>
            </a:r>
            <a:endParaRPr lang="en-US" sz="3000" dirty="0"/>
          </a:p>
        </p:txBody>
      </p:sp>
      <p:pic>
        <p:nvPicPr>
          <p:cNvPr id="3" name="strip_c1_success.png" descr="C1 success s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406" y="1188720"/>
            <a:ext cx="7290707" cy="2148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3375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Label 1: opens at t=21 and lifts. The bowl stays on the plate and SmolVLA finishes</a:t>
            </a:r>
            <a:endParaRPr lang="en-US" sz="1100" dirty="0"/>
          </a:p>
        </p:txBody>
      </p:sp>
      <p:pic>
        <p:nvPicPr>
          <p:cNvPr id="5" name="strip_c1_fail.png" descr="C1 failure s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06" y="3703320"/>
            <a:ext cx="7290707" cy="2148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Label 0: also opens, but drags the bowl off the plate (t≥35), so SmolVLA cannot finish. The critic must tell these apart from latents alone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WM data, same state, opposite labels</a:t>
            </a:r>
            <a:endParaRPr lang="en-US" sz="3000" dirty="0"/>
          </a:p>
        </p:txBody>
      </p:sp>
      <p:pic>
        <p:nvPicPr>
          <p:cNvPr id="3" name="video_c1_pai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37995" y="1188720"/>
            <a:ext cx="4170729" cy="4937760"/>
          </a:xfrm>
          <a:prstGeom prst="rect">
            <a:avLst/>
          </a:prstGeom>
        </p:spPr>
      </p:pic>
      <p:sp>
        <p:nvSpPr>
          <p:cNvPr id="4" name="c1v"/>
          <p:cNvSpPr/>
          <p:nvPr/>
        </p:nvSpPr>
        <p:spPr>
          <a:xfrm>
            <a:off x="7863840" y="1188720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Same failure state, two candidate segments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9456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left: opens and lifts, bowl stays on the plate, so SmolVLA can finish (label 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right: opens but drags the bowl off the plate, so SmolVLA cannot (label 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4,608 such segments teach the WM how latents move and the critic which end states are recoverable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replayed from the stored actions: bit-exact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M2: latent dynamics h(t+1) = h(t) + F(h(t), 5 actions)</a:t>
            </a:r>
            <a:endParaRPr lang="en-US" sz="3000" dirty="0"/>
          </a:p>
        </p:txBody>
      </p:sp>
      <p:sp>
        <p:nvSpPr>
          <p:cNvPr id="3" name="arch0"/>
          <p:cNvSpPr/>
          <p:nvPr/>
        </p:nvSpPr>
        <p:spPr>
          <a:xfrm>
            <a:off x="548640" y="13258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h_t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</a:rPr>
              <a:t>72 patch + 1 state token</a:t>
            </a:r>
            <a:endParaRPr lang="en-US" sz="1100" dirty="0"/>
          </a:p>
        </p:txBody>
      </p:sp>
      <p:sp>
        <p:nvSpPr>
          <p:cNvPr id="6" name="arch1"/>
          <p:cNvSpPr/>
          <p:nvPr/>
        </p:nvSpPr>
        <p:spPr>
          <a:xfrm>
            <a:off x="2331720" y="13258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46888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+ action token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9202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</a:rPr>
              <a:t>MLP(5 × 7-D actions)</a:t>
            </a:r>
            <a:endParaRPr lang="en-US" sz="1100" dirty="0"/>
          </a:p>
        </p:txBody>
      </p:sp>
      <p:sp>
        <p:nvSpPr>
          <p:cNvPr id="9" name="arch2"/>
          <p:cNvSpPr/>
          <p:nvPr/>
        </p:nvSpPr>
        <p:spPr>
          <a:xfrm>
            <a:off x="4114800" y="13258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23303B"/>
          </a:solidFill>
          <a:ln w="12700">
            <a:solidFill>
              <a:srgbClr val="23303B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5196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9202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</a:rPr>
              <a:t>6 layers, width 384</a:t>
            </a:r>
            <a:endParaRPr lang="en-US" sz="1100" dirty="0"/>
          </a:p>
        </p:txBody>
      </p:sp>
      <p:sp>
        <p:nvSpPr>
          <p:cNvPr id="12" name="arch3"/>
          <p:cNvSpPr/>
          <p:nvPr/>
        </p:nvSpPr>
        <p:spPr>
          <a:xfrm>
            <a:off x="5897880" y="1325880"/>
            <a:ext cx="1600200" cy="1554480"/>
          </a:xfrm>
          <a:prstGeom prst="roundRect">
            <a:avLst>
              <a:gd name="adj" fmla="val 4706"/>
            </a:avLst>
          </a:prstGeom>
          <a:solidFill>
            <a:srgbClr val="1F8FE5"/>
          </a:solidFill>
          <a:ln w="12700">
            <a:solidFill>
              <a:srgbClr val="1F8FE5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3504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 heads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9202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EF"/>
                </a:solidFill>
              </a:rPr>
              <a:t>ensemble Δh: mean = prediction, spread = uncertainty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loss = 1-step teacher-forced + 10-step open-loop rollout (search needs 50-step imagination)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11.6M params, 20k steps, ~1.5 h on one A100</a:t>
            </a:r>
            <a:endParaRPr lang="en-US" sz="1300" dirty="0"/>
          </a:p>
        </p:txBody>
      </p:sp>
      <p:pic>
        <p:nvPicPr>
          <p:cNvPr id="16" name="wm_horizon.png" descr="WM error vs horiz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20981"/>
            <a:ext cx="3931920" cy="2387237"/>
          </a:xfrm>
          <a:prstGeom prst="rect">
            <a:avLst/>
          </a:prstGeom>
        </p:spPr>
      </p:pic>
      <p:pic>
        <p:nvPicPr>
          <p:cNvPr id="17" name="wm_imagination.png" descr="imagined vs real gripper he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305" y="3977640"/>
            <a:ext cx="8104909" cy="2057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Held-out failures: gripper height, real (black) vs imagined from the start frame + actions only (amber). Error is 0.36-0.63× the copy-last-frame baseline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M2: the competence critic V(z, q, task)</a:t>
            </a:r>
            <a:endParaRPr lang="en-US" sz="3000" dirty="0"/>
          </a:p>
        </p:txBody>
      </p:sp>
      <p:sp>
        <p:nvSpPr>
          <p:cNvPr id="3" name="q"/>
          <p:cNvSpPr/>
          <p:nvPr/>
        </p:nvSpPr>
        <p:spPr>
          <a:xfrm>
            <a:off x="548640" y="12801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2330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“From this (possibly imagined) state, will frozen SmolVLA finish the task?”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small transformer over the same tokens + learned task embedding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trained on real AND WM-imagined end states (50/50), so it is calibrated for what search feeds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competence-targeted: lifting out of a drawer scores high even though the bowl gets no closer to the plate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held-out AUC 0.71 real / 0.67 imagined; top-4 picks succeed 2.1× the base rate</a:t>
            </a:r>
            <a:endParaRPr lang="en-US" sz="1400" dirty="0"/>
          </a:p>
        </p:txBody>
      </p:sp>
      <p:pic>
        <p:nvPicPr>
          <p:cNvPr id="6" name="critic_scores.png" descr="critic score hist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70363"/>
            <a:ext cx="5303520" cy="3219994"/>
          </a:xfrm>
          <a:prstGeom prst="rect">
            <a:avLst/>
          </a:prstGeom>
        </p:spPr>
      </p:pic>
      <p:sp>
        <p:nvSpPr>
          <p:cNvPr id="7" name="calib"/>
          <p:cNvSpPr/>
          <p:nvPr/>
        </p:nvSpPr>
        <p:spPr>
          <a:xfrm>
            <a:off x="6309360" y="4709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3796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553D"/>
                </a:solidFill>
              </a:rPr>
              <a:t>Ranks well, calibrated badly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519379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Almost every pick gets V≈1 while ~12% verify. Fine for ranking. Needs fixing before V can weight training (AWR).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M3: how the world model searches</a:t>
            </a:r>
            <a:endParaRPr lang="en-US" sz="3000" dirty="0"/>
          </a:p>
        </p:txBody>
      </p:sp>
      <p:sp>
        <p:nvSpPr>
          <p:cNvPr id="3" name="flow0"/>
          <p:cNvSpPr/>
          <p:nvPr/>
        </p:nvSpPr>
        <p:spPr>
          <a:xfrm>
            <a:off x="548640" y="12801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713232" y="1444752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63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Encode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real failure frame → DINOv2 latent z0, robot state q0</a:t>
            </a:r>
            <a:endParaRPr lang="en-US" sz="1200" dirty="0"/>
          </a:p>
        </p:txBody>
      </p:sp>
      <p:sp>
        <p:nvSpPr>
          <p:cNvPr id="8" name="flow1"/>
          <p:cNvSpPr/>
          <p:nvPr/>
        </p:nvSpPr>
        <p:spPr>
          <a:xfrm>
            <a:off x="3566160" y="12801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3730752" y="1444752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0752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1463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Propose 256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same proposal pool as M1: SmolVLA samples, perturbations, primitives</a:t>
            </a:r>
            <a:endParaRPr lang="en-US" sz="1200" dirty="0"/>
          </a:p>
        </p:txBody>
      </p:sp>
      <p:sp>
        <p:nvSpPr>
          <p:cNvPr id="13" name="flow2"/>
          <p:cNvSpPr/>
          <p:nvPr/>
        </p:nvSpPr>
        <p:spPr>
          <a:xfrm>
            <a:off x="548640" y="28803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713232" y="3044952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Imagine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520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WM rolls each 50-step candidate forward: z0 → z50 (10 steps of 5 actions)</a:t>
            </a:r>
            <a:endParaRPr lang="en-US" sz="1200" dirty="0"/>
          </a:p>
        </p:txBody>
      </p:sp>
      <p:sp>
        <p:nvSpPr>
          <p:cNvPr id="18" name="flow3"/>
          <p:cNvSpPr/>
          <p:nvPr/>
        </p:nvSpPr>
        <p:spPr>
          <a:xfrm>
            <a:off x="3566160" y="28803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3730752" y="3044952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3075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24528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Score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5204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S = V(z50) − λ·uncertainty − β·jerkiness</a:t>
            </a:r>
            <a:endParaRPr lang="en-US" sz="1200" dirty="0"/>
          </a:p>
        </p:txBody>
      </p:sp>
      <p:sp>
        <p:nvSpPr>
          <p:cNvPr id="23" name="flow4"/>
          <p:cNvSpPr/>
          <p:nvPr/>
        </p:nvSpPr>
        <p:spPr>
          <a:xfrm>
            <a:off x="548640" y="44805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713232" y="4645152"/>
            <a:ext cx="384048" cy="38404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4663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Refine in imagination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2 rounds of elite-local CEM, ~800 candidates, zero simulator calls</a:t>
            </a:r>
            <a:endParaRPr lang="en-US" sz="1200" dirty="0"/>
          </a:p>
        </p:txBody>
      </p:sp>
      <p:sp>
        <p:nvSpPr>
          <p:cNvPr id="28" name="flow5"/>
          <p:cNvSpPr/>
          <p:nvPr/>
        </p:nvSpPr>
        <p:spPr>
          <a:xfrm>
            <a:off x="3566160" y="448056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E0F2EF"/>
          </a:solidFill>
          <a:ln w="12700">
            <a:solidFill>
              <a:srgbClr val="E0F2EF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29" name="badge"/>
          <p:cNvSpPr/>
          <p:nvPr/>
        </p:nvSpPr>
        <p:spPr>
          <a:xfrm>
            <a:off x="3730752" y="464515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30752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24528" y="4663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Verify top-16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5120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only these touch the simulator; successes become training data</a:t>
            </a:r>
            <a:endParaRPr lang="en-US" sz="1200" dirty="0"/>
          </a:p>
        </p:txBody>
      </p:sp>
      <p:pic>
        <p:nvPicPr>
          <p:cNvPr id="33" name="drawer_failure_frame.png" descr="drawer failure agent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80160"/>
            <a:ext cx="2331720" cy="2331720"/>
          </a:xfrm>
          <a:prstGeom prst="rect">
            <a:avLst/>
          </a:prstGeom>
        </p:spPr>
      </p:pic>
      <p:pic>
        <p:nvPicPr>
          <p:cNvPr id="34" name="drawer_failure_wrist.png" descr="drawer failure wrist 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280160"/>
            <a:ext cx="2331720" cy="23317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6766560" y="3657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Input: one real failure observation (agent + wrist)</a:t>
            </a:r>
            <a:endParaRPr lang="en-US" sz="1100" dirty="0"/>
          </a:p>
        </p:txBody>
      </p:sp>
      <p:sp>
        <p:nvSpPr>
          <p:cNvPr id="36" name="fair"/>
          <p:cNvSpPr/>
          <p:nvPr/>
        </p:nvSpPr>
        <p:spPr>
          <a:xfrm>
            <a:off x="6766560" y="4069080"/>
            <a:ext cx="4846320" cy="2057400"/>
          </a:xfrm>
          <a:prstGeom prst="roundRect">
            <a:avLst>
              <a:gd name="adj" fmla="val 355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699516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Fair comparison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995160" y="4572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random arm: 16 candidates drawn from the same 256-proposal pool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both arms: exactly 16 simulator rollouts per instance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53 hard instances whose failure episodes the WM/critic never saw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M3: 2× more recoveries on unseen hard failures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949440" y="1325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9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36% vs 17%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949440" y="20391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hard failures solved, same simulator budget (sign test p = 0.04)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743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330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 / 45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34564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recoveries found by latent CEM: plans the WM invented, never simulated before verification</a:t>
            </a:r>
            <a:endParaRPr lang="en-US" sz="1200" dirty="0"/>
          </a:p>
        </p:txBody>
      </p:sp>
      <p:sp>
        <p:nvSpPr>
          <p:cNvPr id="8" name="caveat"/>
          <p:cNvSpPr/>
          <p:nvPr/>
        </p:nvSpPr>
        <p:spPr>
          <a:xfrm>
            <a:off x="6949440" y="42062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178040" y="4315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553D"/>
                </a:solidFill>
              </a:rPr>
              <a:t>Caveat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4681728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The gain is concentrated in the drawer task (WM 12/20 vs random 1/20). Other tasks: 7/33 vs 8/33. N = 53, one seed.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49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Picks are also smoother: jerk 0.017 vs 0.027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failure state: SmolVLA alone vs WM-guided</a:t>
            </a:r>
            <a:endParaRPr lang="en-US" sz="3000" dirty="0"/>
          </a:p>
        </p:txBody>
      </p:sp>
      <p:pic>
        <p:nvPicPr>
          <p:cNvPr id="3" name="compare_grid.png" descr="side by side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1782"/>
            <a:ext cx="11064240" cy="3605757"/>
          </a:xfrm>
          <a:prstGeom prst="rect">
            <a:avLst/>
          </a:prstGeom>
        </p:spPr>
      </p:pic>
      <p:sp>
        <p:nvSpPr>
          <p:cNvPr id="4" name="alone"/>
          <p:cNvSpPr/>
          <p:nvPr/>
        </p:nvSpPr>
        <p:spPr>
          <a:xfrm>
            <a:off x="548640" y="4983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51206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Top: SmolVLA alone hovers at the drawer mouth for 350 steps. 0/3 seeds, 0/4 pre-checks, random 0/16.</a:t>
            </a:r>
            <a:endParaRPr lang="en-US" sz="1300" dirty="0"/>
          </a:p>
        </p:txBody>
      </p:sp>
      <p:sp>
        <p:nvSpPr>
          <p:cNvPr id="6" name="wmguided"/>
          <p:cNvSpPr/>
          <p:nvPr/>
        </p:nvSpPr>
        <p:spPr>
          <a:xfrm>
            <a:off x="6217920" y="4983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46520" y="51206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Bottom: the WM picks 'lift straight up' (orange). From there SmolVLA reaches in, grasps and places the bowl. 3/16 verified.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SmolVLA alone vs WM-guided, same failure</a:t>
            </a:r>
            <a:endParaRPr lang="en-US" sz="3000" dirty="0"/>
          </a:p>
        </p:txBody>
      </p:sp>
      <p:pic>
        <p:nvPicPr>
          <p:cNvPr id="3" name="video_m3_compar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098040" y="1188720"/>
            <a:ext cx="7965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344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A57"/>
                </a:solidFill>
              </a:rPr>
              <a:t>Left: SmolVLA alone hovers at the drawer for 350 steps. Right: WM-chosen 50-step lift (orange) then SmolVLA grasps and places the bowl.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WM-found recoveries on unseen failures</a:t>
            </a:r>
            <a:endParaRPr lang="en-US" sz="3000" dirty="0"/>
          </a:p>
        </p:txBody>
      </p:sp>
      <p:pic>
        <p:nvPicPr>
          <p:cNvPr id="3" name="video_m3_wm_pai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37995" y="1188720"/>
            <a:ext cx="4170729" cy="4937760"/>
          </a:xfrm>
          <a:prstGeom prst="rect">
            <a:avLst/>
          </a:prstGeom>
        </p:spPr>
      </p:pic>
      <p:sp>
        <p:nvSpPr>
          <p:cNvPr id="4" name="m3v"/>
          <p:cNvSpPr/>
          <p:nvPr/>
        </p:nvSpPr>
        <p:spPr>
          <a:xfrm>
            <a:off x="7863840" y="1188720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Picked by WM + critic, verified in sim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94560"/>
            <a:ext cx="3291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orange: the 50 steps the WM chose in imagination (lift clear of the drawer)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blue: SmolVLA reaches in, grasps, places the bowl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neither failure episode was in the WM's training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same strategy found on different failures: the WM generalizes the 'get clear first' idea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WM chose, step by step</a:t>
            </a:r>
            <a:endParaRPr lang="en-US" sz="3000" dirty="0"/>
          </a:p>
        </p:txBody>
      </p:sp>
      <p:pic>
        <p:nvPicPr>
          <p:cNvPr id="3" name="strip_wm_drawer.png" descr="WM-chosen drawer recovery str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6" y="1188720"/>
            <a:ext cx="11058748" cy="2606040"/>
          </a:xfrm>
          <a:prstGeom prst="rect">
            <a:avLst/>
          </a:prstGeom>
        </p:spPr>
      </p:pic>
      <p:pic>
        <p:nvPicPr>
          <p:cNvPr id="4" name="actions_wm_drawer.png" descr="WM recovery ac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200"/>
            <a:ext cx="5660571" cy="2377440"/>
          </a:xfrm>
          <a:prstGeom prst="rect">
            <a:avLst/>
          </a:prstGeom>
        </p:spPr>
      </p:pic>
      <p:sp>
        <p:nvSpPr>
          <p:cNvPr id="5" name="readact"/>
          <p:cNvSpPr/>
          <p:nvPr/>
        </p:nvSpPr>
        <p:spPr>
          <a:xfrm>
            <a:off x="7406640" y="3931920"/>
            <a:ext cx="4206240" cy="2240280"/>
          </a:xfrm>
          <a:prstGeom prst="roundRect">
            <a:avLst>
              <a:gd name="adj" fmla="val 32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7635240" y="40690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shaded = the 50 steps the WM chose: one clean dz = +0.5 move, gripper open, no chatter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white = SmolVLA's own actions afterwards; finger closes at t≈95 (red), bowl placed at t=183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contrast with the jerky old-CEM segment in M1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M4: does WM-found data improve the VLA? Not yet measurable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040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1005840"/>
                <a:gridCol w="100584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policy (init)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recovery data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RSR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drawer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nominal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pi1-random (pi0)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241 random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0.279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18/160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0.698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A (pi1-nominal)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241 random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0.293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24/160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0.756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B (pi1-nominal)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241 random + 45 WM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0.298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28/160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3B"/>
                          </a:solidFill>
                        </a:rPr>
                        <a:t>0.748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154680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stronger init (pi1-nominal) recovers nominal 0.70 → 0.75 and nudges RSR 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+45 WM trajectories: +0.005 RSR, drawer 24 → 28. Paired episodes 61 vs 58: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the dose is tiny: 45 WM trajectories ≈ 8% of training samples</a:t>
            </a:r>
            <a:endParaRPr lang="en-US" sz="1400" dirty="0"/>
          </a:p>
        </p:txBody>
      </p:sp>
      <p:sp>
        <p:nvSpPr>
          <p:cNvPr id="5" name="fix"/>
          <p:cNvSpPr/>
          <p:nvPr/>
        </p:nvSpPr>
        <p:spPr>
          <a:xfrm>
            <a:off x="7955280" y="1325880"/>
            <a:ext cx="3657600" cy="4800600"/>
          </a:xfrm>
          <a:prstGeom prst="roundRect">
            <a:avLst>
              <a:gd name="adj" fmla="val 2000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838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03B"/>
                </a:solidFill>
              </a:rPr>
              <a:t>So M5 asks it properly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0116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generate WM data on all 108 pilot failures (not just 53 hard)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same trajectory count WM vs random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WM-only vs random-only SFT, same init, same recipe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measure RSR, drawer, nominal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M5: WM data makes a better VLA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test RSR 0.25 (random data) → 0.44 (WM data), same #trajectories, nominal kept at 0.81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videos below are clickable: click to play in PowerPoint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M5b: 4 search arms, 256 fresh failures, same 16 sims each</a:t>
            </a:r>
            <a:endParaRPr lang="en-US" sz="3000" dirty="0"/>
          </a:p>
        </p:txBody>
      </p:sp>
      <p:pic>
        <p:nvPicPr>
          <p:cNvPr id="3" name="m5b_search.png" descr="search arms solve rate and hit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0369"/>
            <a:ext cx="7589520" cy="30571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12480" y="1234440"/>
            <a:ext cx="109728" cy="640080"/>
          </a:xfrm>
          <a:prstGeom prst="rect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303B"/>
                </a:solidFill>
              </a:rPr>
              <a:t>random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4904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A57"/>
                </a:solidFill>
              </a:rPr>
              <a:t>16 uniform picks from the proposal pool (no WM)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12480" y="2057400"/>
            <a:ext cx="109728" cy="640080"/>
          </a:xfrm>
          <a:prstGeom prst="rect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303B"/>
                </a:solidFill>
              </a:rPr>
              <a:t>WM diverse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3134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A57"/>
                </a:solidFill>
              </a:rPr>
              <a:t>pool + latent CEM, k-means diverse top-16 (M5 default)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0" y="2880360"/>
            <a:ext cx="109728" cy="640080"/>
          </a:xfrm>
          <a:prstGeom prst="rect">
            <a:avLst/>
          </a:prstGeom>
          <a:solidFill>
            <a:srgbClr val="1F8FE5"/>
          </a:solidFill>
          <a:ln w="12700">
            <a:solidFill>
              <a:srgbClr val="1F8F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4108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303B"/>
                </a:solidFill>
              </a:rPr>
              <a:t>WM noise-CEM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136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A57"/>
                </a:solidFill>
              </a:rPr>
              <a:t>NEW: CEM in SmolVLA's flow-matching noise: on-manifold by construction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2480" y="3703320"/>
            <a:ext cx="109728" cy="640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4108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303B"/>
                </a:solidFill>
              </a:rPr>
              <a:t>WM quality-div.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3959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A57"/>
                </a:solidFill>
              </a:rPr>
              <a:t>NEW: MAP-Elites over 60 strategy cells (gripper × motion)</a:t>
            </a:r>
            <a:endParaRPr lang="en-US" sz="1100" dirty="0"/>
          </a:p>
        </p:txBody>
      </p:sp>
      <p:sp>
        <p:nvSpPr>
          <p:cNvPr id="16" name="m5bread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47548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WM diverse: 2.8× more verified recoveries per simulator rollout than random (0.171 vs 0.062), p = 4e-9. Drawer: 0.43 vs 0.07 solved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noise-CEM is the smoothest and closest to SmolVLA, but WORSE than random: it inherits SmolVLA's 'keep grasping' habit (drawer 0.02)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quality-diversity: most distinct strategies per solved failure (4.0 vs 2.2), still beats random (p = 0.002)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Which strategies the WM finds</a:t>
            </a:r>
            <a:endParaRPr lang="en-US" sz="3000" dirty="0"/>
          </a:p>
        </p:txBody>
      </p:sp>
      <p:pic>
        <p:nvPicPr>
          <p:cNvPr id="3" name="m5_strategies.png" descr="strategy statis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6980"/>
            <a:ext cx="11064240" cy="3261039"/>
          </a:xfrm>
          <a:prstGeom prst="rect">
            <a:avLst/>
          </a:prstGeom>
        </p:spPr>
      </p:pic>
      <p:sp>
        <p:nvSpPr>
          <p:cNvPr id="4" name="s1"/>
          <p:cNvSpPr/>
          <p:nvPr/>
        </p:nvSpPr>
        <p:spPr>
          <a:xfrm>
            <a:off x="54864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4892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Top recovery = open + lift: let go, get clear, let SmolVLA re-approach as from a normal start. WM found it ~230×, random ~35×.</a:t>
            </a:r>
            <a:endParaRPr lang="en-US" sz="1300" dirty="0"/>
          </a:p>
        </p:txBody>
      </p:sp>
      <p:sp>
        <p:nvSpPr>
          <p:cNvPr id="6" name="s2"/>
          <p:cNvSpPr/>
          <p:nvPr/>
        </p:nvSpPr>
        <p:spPr>
          <a:xfrm>
            <a:off x="621792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46520" y="4892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Drawer: random spends 55% of sims on 'grasp again' (0 / 732 succeed); WM spends 83% on 'stay open, lift' (79 successes).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drawer failure, A alone / B random / C WM</a:t>
            </a:r>
            <a:endParaRPr lang="en-US" sz="3000" dirty="0"/>
          </a:p>
        </p:txBody>
      </p:sp>
      <p:pic>
        <p:nvPicPr>
          <p:cNvPr id="3" name="video_m5_explain_drawe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89567" y="1097280"/>
            <a:ext cx="8982385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55801" y="115214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55801" y="1152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VIDEO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All 3 columns start from the SAME failure state. Only the first 50 steps differ; after that SmolVLA drives every column. C lifts 1.13 → 1.38 m with the gripper open (orange bar), then SmolVLA re-approaches, grasps and places the bowl at step 198. A and B hover at the drawer for 360 steps.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cabinet failure, A alone / B random / C WM</a:t>
            </a:r>
            <a:endParaRPr lang="en-US" sz="3000" dirty="0"/>
          </a:p>
        </p:txBody>
      </p:sp>
      <p:pic>
        <p:nvPicPr>
          <p:cNvPr id="3" name="video_m5_explain_cabinet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89567" y="1097280"/>
            <a:ext cx="8982385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55801" y="115214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55801" y="1152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VIDEO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All 3 columns start from the SAME failure state. Only the first 50 steps differ; after that SmolVLA drives every column. B tries to re-grasp in place (open → close, shift +y) and fails. C lets go and lifts; SmolVLA then finishes at step 142.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ramekin failure, A alone / B random / C WM</a:t>
            </a:r>
            <a:endParaRPr lang="en-US" sz="3000" dirty="0"/>
          </a:p>
        </p:txBody>
      </p:sp>
      <p:pic>
        <p:nvPicPr>
          <p:cNvPr id="3" name="video_m5_explain_ramekin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89567" y="1097280"/>
            <a:ext cx="8982385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55801" y="1152144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55801" y="11521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VIDEO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All 3 columns start from the SAME failure state. Only the first 50 steps differ; after that SmolVLA drives every column. Here the WM segment alone finishes the task (step 39): a short grasp-in-place the WM predicted to work. Random 0/16 on this failure.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Distillation: WM data &gt; random data for the VLA</a:t>
            </a:r>
            <a:endParaRPr lang="en-US" sz="3000" dirty="0"/>
          </a:p>
        </p:txBody>
      </p:sp>
      <p:pic>
        <p:nvPicPr>
          <p:cNvPr id="3" name="m5_sft.png" descr="test RSR per SFT vari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4148"/>
            <a:ext cx="7680960" cy="3072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188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96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0.439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9019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test RSR, +208 WM recoveries (vs 0.252 random, same count, same init)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0.808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2735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nominal SR: no longer lost (demo-only SFT: 0.796)</a:t>
            </a:r>
            <a:endParaRPr lang="en-US" sz="1200" dirty="0"/>
          </a:p>
        </p:txBody>
      </p:sp>
      <p:sp>
        <p:nvSpPr>
          <p:cNvPr id="8" name="sftread"/>
          <p:cNvSpPr/>
          <p:nvPr/>
        </p:nvSpPr>
        <p:spPr>
          <a:xfrm>
            <a:off x="548640" y="452628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46634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M5 (241 vs 241): WM 0.402 vs random 0.286, +0.116 [+0.045, +0.191] scene-bootstrap CI, paired McNemar p = 4e-7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M5c (208 vs 208, round-robin subset): WM diverse 0.439, quality-div. 0.354, random 0.252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C4A57"/>
                </a:solidFill>
              </a:rPr>
              <a:t>more is not better: all 423 WM trajectories 0.389 &lt; 208 balanced. One training seed per variant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data-selection bug that hid the gain</a:t>
            </a:r>
            <a:endParaRPr lang="en-US" sz="3000" dirty="0"/>
          </a:p>
        </p:txBody>
      </p:sp>
      <p:pic>
        <p:nvPicPr>
          <p:cNvPr id="3" name="m5_task_rsr.png" descr="per task RS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8176"/>
            <a:ext cx="7680960" cy="2944368"/>
          </a:xfrm>
          <a:prstGeom prst="rect">
            <a:avLst/>
          </a:prstGeom>
        </p:spPr>
      </p:pic>
      <p:sp>
        <p:nvSpPr>
          <p:cNvPr id="4" name="bug"/>
          <p:cNvSpPr/>
          <p:nvPr/>
        </p:nvSpPr>
        <p:spPr>
          <a:xfrm>
            <a:off x="8503920" y="1143000"/>
            <a:ext cx="3108960" cy="5029200"/>
          </a:xfrm>
          <a:prstGeom prst="roundRect">
            <a:avLst>
              <a:gd name="adj" fmla="val 2353"/>
            </a:avLst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7325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</a:rPr>
              <a:t>What went wrong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783080"/>
            <a:ext cx="2697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to match counts we kept the top-208 trajectories by critic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the critic scores drawer recoveries low, so only 4 drawer trajectories survived (of 44)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drawer test RSR collapsed to 0.11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fix: round-robin per failure (each failure's best, then 2nd best, ...): drawer 0.44, overall 0.30 → 0.44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46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Lesson: the distribution of the distilled data matters as much as the 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end-to-end, no search, unseen TEST failure</a:t>
            </a:r>
            <a:endParaRPr lang="en-US" sz="3000" dirty="0"/>
          </a:p>
        </p:txBody>
      </p:sp>
      <p:pic>
        <p:nvPicPr>
          <p:cNvPr id="3" name="video_m5_e2e_test_drawe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120083"/>
            <a:ext cx="11064240" cy="38863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396728" y="1174947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396728" y="1174947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VIDEO</a:t>
            </a:r>
            <a:endParaRPr lang="en-US" sz="1100" dirty="0"/>
          </a:p>
        </p:txBody>
      </p:sp>
      <p:sp>
        <p:nvSpPr>
          <p:cNvPr id="6" name="e2e0"/>
          <p:cNvSpPr/>
          <p:nvPr/>
        </p:nvSpPr>
        <p:spPr>
          <a:xfrm>
            <a:off x="548640" y="5166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5230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C4A57"/>
                </a:solidFill>
              </a:rPr>
              <a:t>0/5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52852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π0 SmolVLA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seeds solved</a:t>
            </a:r>
            <a:endParaRPr lang="en-US" sz="1200" dirty="0"/>
          </a:p>
        </p:txBody>
      </p:sp>
      <p:sp>
        <p:nvSpPr>
          <p:cNvPr id="9" name="e2e1"/>
          <p:cNvSpPr/>
          <p:nvPr/>
        </p:nvSpPr>
        <p:spPr>
          <a:xfrm>
            <a:off x="3337560" y="5166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520440" y="5230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C4A57"/>
                </a:solidFill>
              </a:rPr>
              <a:t>0/5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52852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π1-nominal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seeds solved</a:t>
            </a:r>
            <a:endParaRPr lang="en-US" sz="1200" dirty="0"/>
          </a:p>
        </p:txBody>
      </p:sp>
      <p:sp>
        <p:nvSpPr>
          <p:cNvPr id="12" name="e2e2"/>
          <p:cNvSpPr/>
          <p:nvPr/>
        </p:nvSpPr>
        <p:spPr>
          <a:xfrm>
            <a:off x="6126480" y="5166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09360" y="5230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C4A57"/>
                </a:solidFill>
              </a:rPr>
              <a:t>0/5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52852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π1-random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seeds solved</a:t>
            </a:r>
            <a:endParaRPr lang="en-US" sz="1200" dirty="0"/>
          </a:p>
        </p:txBody>
      </p:sp>
      <p:sp>
        <p:nvSpPr>
          <p:cNvPr id="15" name="e2e3"/>
          <p:cNvSpPr/>
          <p:nvPr/>
        </p:nvSpPr>
        <p:spPr>
          <a:xfrm>
            <a:off x="8915400" y="51663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098280" y="523036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962E"/>
                </a:solidFill>
              </a:rPr>
              <a:t>3/5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0149840" y="52852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π1-WM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C4A57"/>
                </a:solidFill>
              </a:rPr>
              <a:t>seeds solved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VLA learned the WM's move: get clear, then retry</a:t>
            </a:r>
            <a:endParaRPr lang="en-US" sz="3000" dirty="0"/>
          </a:p>
        </p:txBody>
      </p:sp>
      <p:pic>
        <p:nvPicPr>
          <p:cNvPr id="3" name="m5_e2e_test_keys.png" descr="end to end keyfr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085" y="1097280"/>
            <a:ext cx="6222550" cy="5120640"/>
          </a:xfrm>
          <a:prstGeom prst="rect">
            <a:avLst/>
          </a:prstGeom>
        </p:spPr>
      </p:pic>
      <p:sp>
        <p:nvSpPr>
          <p:cNvPr id="4" name="e2eread"/>
          <p:cNvSpPr/>
          <p:nvPr/>
        </p:nvSpPr>
        <p:spPr>
          <a:xfrm>
            <a:off x="7772400" y="109728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01000" y="1280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Same unseen drawer failure, seed 0 for every row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01168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rows: π0, π1-nominal, π1-random, π1-WM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π0 / π1-nominal hover at 1.09-1.10 m for all 520 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π1-random moves a little higher (1.14-1.24 m), still stuck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π1-WM lifts itself to 1.31 m by step 40, comes back down, grasps at ~140, places at 163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no world model or simulator at test time: the behaviour was distilled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C4A57"/>
                </a:solidFill>
              </a:rPr>
              <a:t>train-split episode (ep031): 0/5, 0/5, 0/5, 2/5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Video: end-to-end on the training-split drawer failure</a:t>
            </a:r>
            <a:endParaRPr lang="en-US" sz="3000" dirty="0"/>
          </a:p>
        </p:txBody>
      </p:sp>
      <p:pic>
        <p:nvPicPr>
          <p:cNvPr id="3" name="video_m5_e2e_train_drawe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120083"/>
            <a:ext cx="11064240" cy="38863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396728" y="1174947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396728" y="1174947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VIDEO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A57"/>
                </a:solidFill>
              </a:rPr>
              <a:t>The same drawer failure as the A/B/C explainer (ep031 open6). π0 0/5, π1-nominal 0/5, π1-random 0/5, π1-WM 2/5 seeds. Still far from reliable: the next step is verifying each recovery under 2-3 continuation seeds and keeping only robust 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we stand</a:t>
            </a:r>
            <a:endParaRPr lang="en-US" sz="3000" dirty="0"/>
          </a:p>
        </p:txBody>
      </p:sp>
      <p:sp>
        <p:nvSpPr>
          <p:cNvPr id="3" name="works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0F2EF"/>
          </a:solidFill>
          <a:ln w="12700">
            <a:solidFill>
              <a:srgbClr val="E0F2EF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Supported so far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recoveries exist and can be found: ~70% of failures, 50-step segments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WM + competence critic: 2.8× more verified recoveries per simulator rollout than random (N = 256, p = 4e-9)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WM data makes a better VLA: test RSR 0.44 vs 0.25 (random data, same count), nominal kept at 0.81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the distilled VLA performs the WM's 'get clear, then retry' by itself on unseen failures</a:t>
            </a:r>
            <a:endParaRPr lang="en-US" sz="1400" dirty="0"/>
          </a:p>
        </p:txBody>
      </p:sp>
      <p:sp>
        <p:nvSpPr>
          <p:cNvPr id="6" name="open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</a:rPr>
              <a:t>Open problems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one training seed per SFT variant; 56 test scenes, one suite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recoveries are stochastic: some verified ones fail on re-simulation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critic barely improved by its own labels (v2 yield 0.186 vs 0.161)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noise-space search inherits SmolVLA's failure habit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data selection is fragile (top-score cut dropped the drawer task)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C4A57"/>
                </a:solidFill>
              </a:rPr>
              <a:t>weak base checkpoint (0.66 vs ~0.90 reported)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Long-term plan</a:t>
            </a:r>
            <a:endParaRPr lang="en-US" sz="3000" dirty="0"/>
          </a:p>
        </p:txBody>
      </p:sp>
      <p:sp>
        <p:nvSpPr>
          <p:cNvPr id="3" name="phase0"/>
          <p:cNvSpPr/>
          <p:nvPr/>
        </p:nvSpPr>
        <p:spPr>
          <a:xfrm>
            <a:off x="548640" y="1234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475488" cy="475488"/>
          </a:xfrm>
          <a:prstGeom prst="ellipse">
            <a:avLst/>
          </a:prstGeom>
          <a:solidFill>
            <a:srgbClr val="E8962E"/>
          </a:solidFill>
          <a:ln w="12700">
            <a:solidFill>
              <a:srgbClr val="E89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Done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344168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WM data &gt; random data for the VLA (0.44 vs 0.25); 4 search arms compared on 256 paired failures</a:t>
            </a:r>
            <a:endParaRPr lang="en-US" sz="1300" dirty="0"/>
          </a:p>
        </p:txBody>
      </p:sp>
      <p:sp>
        <p:nvSpPr>
          <p:cNvPr id="8" name="phase1"/>
          <p:cNvSpPr/>
          <p:nvPr/>
        </p:nvSpPr>
        <p:spPr>
          <a:xfrm>
            <a:off x="548640" y="22219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04872"/>
            <a:ext cx="475488" cy="475488"/>
          </a:xfrm>
          <a:prstGeom prst="ellipse">
            <a:avLst/>
          </a:prstGeom>
          <a:solidFill>
            <a:srgbClr val="1F8FE5"/>
          </a:solidFill>
          <a:ln w="12700">
            <a:solidFill>
              <a:srgbClr val="1F8F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Next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33172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robust data: verify each recovery under 2-3 seeds; 3 SFT seeds; then loop π1 → π2 on π1's own remaining failures</a:t>
            </a:r>
            <a:endParaRPr lang="en-US" sz="1300" dirty="0"/>
          </a:p>
        </p:txBody>
      </p:sp>
      <p:sp>
        <p:nvSpPr>
          <p:cNvPr id="13" name="phase2"/>
          <p:cNvSpPr/>
          <p:nvPr/>
        </p:nvSpPr>
        <p:spPr>
          <a:xfrm>
            <a:off x="548640" y="320954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392424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92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4564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Then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331927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hybrid search (WM diverse + QD cells), parameterized primitives, multi-chunk / MCTS for multi-stage recoveries</a:t>
            </a:r>
            <a:endParaRPr lang="en-US" sz="1300" dirty="0"/>
          </a:p>
        </p:txBody>
      </p:sp>
      <p:sp>
        <p:nvSpPr>
          <p:cNvPr id="18" name="phase3"/>
          <p:cNvSpPr/>
          <p:nvPr/>
        </p:nvSpPr>
        <p:spPr>
          <a:xfrm>
            <a:off x="548640" y="419709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379976"/>
            <a:ext cx="475488" cy="47548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379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443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Scale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4306824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Object, Goal, LIBERO-10 suites; L1-L4 levels once released; 3 seeds; stronger base VLAs</a:t>
            </a:r>
            <a:endParaRPr lang="en-US" sz="1300" dirty="0"/>
          </a:p>
        </p:txBody>
      </p:sp>
      <p:sp>
        <p:nvSpPr>
          <p:cNvPr id="23" name="phase4"/>
          <p:cNvSpPr/>
          <p:nvPr/>
        </p:nvSpPr>
        <p:spPr>
          <a:xfrm>
            <a:off x="548640" y="51846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367528"/>
            <a:ext cx="475488" cy="47548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431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03B"/>
                </a:solidFill>
              </a:rPr>
              <a:t>Stretch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529437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neural video WM generates RGB for imagined recoveries (no simulator at all), then real-robot recovery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paper story we are building toward</a:t>
            </a:r>
            <a:endParaRPr lang="en-US" sz="3000" dirty="0"/>
          </a:p>
        </p:txBody>
      </p:sp>
      <p:sp>
        <p:nvSpPr>
          <p:cNvPr id="3" name="story"/>
          <p:cNvSpPr/>
          <p:nvPr/>
        </p:nvSpPr>
        <p:spPr>
          <a:xfrm>
            <a:off x="548640" y="1280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CEFDC"/>
          </a:solidFill>
          <a:ln w="12700">
            <a:solidFill>
              <a:srgbClr val="FCEFDC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2330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Competence-targeted world-model search generates recovery actions that restore the policy's ability to finish the task, and distilling them lets the VLA recover from unseen failures without search.</a:t>
            </a:r>
            <a:endParaRPr lang="en-US" sz="1700" dirty="0"/>
          </a:p>
        </p:txBody>
      </p:sp>
      <p:sp>
        <p:nvSpPr>
          <p:cNvPr id="5" name="abl0"/>
          <p:cNvSpPr/>
          <p:nvPr/>
        </p:nvSpPr>
        <p:spPr>
          <a:xfrm>
            <a:off x="548640" y="27889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6" name="badge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9900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Goal-progress vs competence critic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4290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does scoring by 'can SmolVLA finish' beat 'is the bowl closer'?</a:t>
            </a:r>
            <a:endParaRPr lang="en-US" sz="1300" dirty="0"/>
          </a:p>
        </p:txBody>
      </p:sp>
      <p:sp>
        <p:nvSpPr>
          <p:cNvPr id="10" name="abl1"/>
          <p:cNvSpPr/>
          <p:nvPr/>
        </p:nvSpPr>
        <p:spPr>
          <a:xfrm>
            <a:off x="6172200" y="27889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1" name="badge"/>
          <p:cNvSpPr/>
          <p:nvPr/>
        </p:nvSpPr>
        <p:spPr>
          <a:xfrm>
            <a:off x="6355080" y="297180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9900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Random vs oracle vs WM selection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34290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same #trajectories: is the gain from the WM, not just more data?</a:t>
            </a:r>
            <a:endParaRPr lang="en-US" sz="1300" dirty="0"/>
          </a:p>
        </p:txBody>
      </p:sp>
      <p:sp>
        <p:nvSpPr>
          <p:cNvPr id="15" name="abl2"/>
          <p:cNvSpPr/>
          <p:nvPr/>
        </p:nvSpPr>
        <p:spPr>
          <a:xfrm>
            <a:off x="548640" y="44805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16" name="badge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Sim-efficiency curve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verified recoveries per simulator rollout: random, oracle CEM, WM</a:t>
            </a:r>
            <a:endParaRPr lang="en-US" sz="1300" dirty="0"/>
          </a:p>
        </p:txBody>
      </p:sp>
      <p:sp>
        <p:nvSpPr>
          <p:cNvPr id="20" name="abl3"/>
          <p:cNvSpPr/>
          <p:nvPr/>
        </p:nvSpPr>
        <p:spPr>
          <a:xfrm>
            <a:off x="6172200" y="448056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  <a:effectLst>
            <a:outerShdw sx="100000" sy="100000" kx="0" ky="0" algn="bl" rotWithShape="0" blurRad="76200" dist="25400" dir="5400000">
              <a:srgbClr val="23303B">
                <a:alpha val="12000"/>
              </a:srgbClr>
            </a:outerShdw>
          </a:effectLst>
        </p:spPr>
      </p:sp>
      <p:sp>
        <p:nvSpPr>
          <p:cNvPr id="21" name="badge"/>
          <p:cNvSpPr/>
          <p:nvPr/>
        </p:nvSpPr>
        <p:spPr>
          <a:xfrm>
            <a:off x="6355080" y="4663440"/>
            <a:ext cx="384048" cy="384048"/>
          </a:xfrm>
          <a:prstGeom prst="ellipse">
            <a:avLst/>
          </a:prstGeom>
          <a:solidFill>
            <a:srgbClr val="3C4A57"/>
          </a:solidFill>
          <a:ln w="12700">
            <a:solidFill>
              <a:srgbClr val="3C4A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3303B"/>
                </a:solidFill>
              </a:rPr>
              <a:t>Iterations π0 → π1 → π2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A57"/>
                </a:solidFill>
              </a:rPr>
              <a:t>does the loop keep improving RSR on held-out failures?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decisions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WM data wins (0.44 vs 0.25). Next: robust multi-seed verification + 3 SFT seeds, then the π1 → π2 loop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C98B"/>
                </a:solidFill>
              </a:rPr>
              <a:t>and scaling to more suites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4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yVLA">
  <a:themeElements>
    <a:clrScheme name="RetryVLA">
      <a:dk1>
        <a:srgbClr val="23303B"/>
      </a:dk1>
      <a:lt1>
        <a:srgbClr val="FFFFFF"/>
      </a:lt1>
      <a:dk2>
        <a:srgbClr val="3C4A57"/>
      </a:dk2>
      <a:lt2>
        <a:srgbClr val="F2F4F6"/>
      </a:lt2>
      <a:accent1>
        <a:srgbClr val="E8962E"/>
      </a:accent1>
      <a:accent2>
        <a:srgbClr val="1F8FE5"/>
      </a:accent2>
      <a:accent3>
        <a:srgbClr val="2A9D8F"/>
      </a:accent3>
      <a:accent4>
        <a:srgbClr val="C8553D"/>
      </a:accent4>
      <a:accent5>
        <a:srgbClr val="6B7785"/>
      </a:accent5>
      <a:accent6>
        <a:srgbClr val="F3C98B"/>
      </a:accent6>
      <a:hlink>
        <a:srgbClr val="1F8FE5"/>
      </a:hlink>
      <a:folHlink>
        <a:srgbClr val="6B7785"/>
      </a:folHlink>
    </a:clrScheme>
    <a:fontScheme name="RetryVL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RetryVLA: world-model-guided recovery learning</dc:title>
  <dc:subject>PptxGenJS Presentation</dc:subject>
  <dc:creator>ltdoanhwork</dc:creator>
  <cp:lastModifiedBy>ltdoanhwork</cp:lastModifiedBy>
  <cp:revision>1</cp:revision>
  <dcterms:created xsi:type="dcterms:W3CDTF">2026-10-16T08:36:16Z</dcterms:created>
  <dcterms:modified xsi:type="dcterms:W3CDTF">2026-10-16T08:36:16Z</dcterms:modified>
</cp:coreProperties>
</file>