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charts/chart1.xml" ContentType="application/vnd.openxmlformats-officedocument.drawingml.chart+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Lst>
  <p:notesMasterIdLst>
    <p:notesMasterId r:id="rId6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Intro" id="{bf0ddd5f-64a4-5ee4-e64f-a464a0907d57}">
          <p14:sldIdLst>
            <p14:sldId id="256"/>
            <p14:sldId id="257"/>
            <p14:sldId id="258"/>
            <p14:sldId id="259"/>
            <p14:sldId id="260"/>
          </p14:sldIdLst>
        </p14:section>
        <p14:section name="Setup" id="{18a7f47e-2851-b4cd-72b6-2731be1ae0e2}">
          <p14:sldIdLst>
            <p14:sldId id="261"/>
            <p14:sldId id="262"/>
            <p14:sldId id="263"/>
          </p14:sldIdLst>
        </p14:section>
        <p14:section name="Statistics" id="{43d6d2c4-7b90-f1d5-7b39-ebeddccc8e56}">
          <p14:sldIdLst>
            <p14:sldId id="264"/>
          </p14:sldIdLst>
        </p14:section>
        <p14:section name="Q1 competence" id="{1e41eddc-2d6b-40d4-fe22-4baac86b9f17}">
          <p14:sldIdLst>
            <p14:sldId id="265"/>
            <p14:sldId id="266"/>
            <p14:sldId id="267"/>
          </p14:sldIdLst>
        </p14:section>
        <p14:section name="Q2 world model" id="{ace7b136-1b35-56ad-57a2-8fb3fde867e6}">
          <p14:sldIdLst>
            <p14:sldId id="268"/>
            <p14:sldId id="269"/>
          </p14:sldIdLst>
        </p14:section>
        <p14:section name="Q3 distillation" id="{0f6099b5-f5ab-b9c2-1bc7-20ca83594953}">
          <p14:sldIdLst>
            <p14:sldId id="270"/>
            <p14:sldId id="271"/>
            <p14:sldId id="272"/>
          </p14:sldIdLst>
        </p14:section>
        <p14:section name="Nominal" id="{621f0ac7-131a-b838-32ed-04171acec5d9}">
          <p14:sldIdLst>
            <p14:sldId id="273"/>
          </p14:sldIdLst>
        </p14:section>
        <p14:section name="Generalization" id="{797768a2-a940-352a-84b6-77693ceb9731}">
          <p14:sldIdLst>
            <p14:sldId id="274"/>
          </p14:sldIdLst>
        </p14:section>
        <p14:section name="Qualitative" id="{2003aed9-ccec-5813-daf6-ade09443b32b}">
          <p14:sldIdLst>
            <p14:sldId id="275"/>
            <p14:sldId id="276"/>
            <p14:sldId id="277"/>
            <p14:sldId id="278"/>
            <p14:sldId id="279"/>
            <p14:sldId id="280"/>
            <p14:sldId id="281"/>
          </p14:sldIdLst>
        </p14:section>
        <p14:section name="Related work" id="{2e46b3da-38a5-6421-f3d8-8f6d0c377b59}">
          <p14:sldIdLst>
            <p14:sldId id="282"/>
            <p14:sldId id="283"/>
            <p14:sldId id="284"/>
          </p14:sldIdLst>
        </p14:section>
        <p14:section name="Assessment and plan" id="{dfe374c5-3149-9f1c-1930-e36c0fb2b67e}">
          <p14:sldIdLst>
            <p14:sldId id="285"/>
            <p14:sldId id="286"/>
            <p14:sldId id="287"/>
            <p14:sldId id="288"/>
            <p14:sldId id="289"/>
          </p14:sldIdLst>
        </p14:section>
        <p14:section name="Appendix" id="{8b18efb2-4293-25aa-194c-a27fd0283242}">
          <p14:sldIdLst>
            <p14:sldId id="290"/>
          </p14:sldIdLst>
        </p14:section>
        <p14:section name="Appx: M0 baseline" id="{14bbdc58-2c1a-3bf1-07c4-074450ccab90}">
          <p14:sldIdLst>
            <p14:sldId id="291"/>
            <p14:sldId id="292"/>
          </p14:sldIdLst>
        </p14:section>
        <p14:section name="Appx: M1 oracle search" id="{4eac9e59-cb28-d5a8-dd7b-2e03454c78d8}">
          <p14:sldIdLst>
            <p14:sldId id="293"/>
            <p14:sldId id="294"/>
            <p14:sldId id="295"/>
            <p14:sldId id="296"/>
            <p14:sldId id="297"/>
            <p14:sldId id="298"/>
          </p14:sldIdLst>
        </p14:section>
        <p14:section name="Appx: world model" id="{de2f9878-ac6d-29fd-3d65-3ffe6cc7688a}">
          <p14:sldIdLst>
            <p14:sldId id="299"/>
            <p14:sldId id="300"/>
            <p14:sldId id="301"/>
            <p14:sldId id="302"/>
            <p14:sldId id="303"/>
            <p14:sldId id="304"/>
            <p14:sldId id="305"/>
            <p14:sldId id="306"/>
            <p14:sldId id="307"/>
            <p14:sldId id="308"/>
            <p14:sldId id="309"/>
            <p14:sldId id="310"/>
            <p14:sldId id="311"/>
          </p14:sldIdLst>
        </p14:section>
        <p14:section name="Appx: distillation" id="{00961d76-7c67-7fed-c75d-949ed06d783e}">
          <p14:sldIdLst>
            <p14:sldId id="312"/>
          </p14:sldIdLst>
        </p14:section>
        <p14:section name="Appx: M5 results" id="{019739a3-8b4a-f266-38d7-6c723199aecc}">
          <p14:sldIdLst>
            <p14:sldId id="313"/>
            <p14:sldId id="314"/>
            <p14:sldId id="315"/>
            <p14:sldId id="316"/>
            <p14:sldId id="31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notesMaster" Target="notesMasters/notesMaster1.xml"/><Relationship Id="rId65" Type="http://schemas.openxmlformats.org/officeDocument/2006/relationships/presProps" Target="presProps.xml"/><Relationship Id="rId66" Type="http://schemas.openxmlformats.org/officeDocument/2006/relationships/viewProps" Target="viewProps.xml"/><Relationship Id="rId67" Type="http://schemas.openxmlformats.org/officeDocument/2006/relationships/theme" Target="theme/theme1.xml"/><Relationship Id="rId68"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WM + critic (16 sims)</c:v>
                </c:pt>
              </c:strCache>
            </c:strRef>
          </c:tx>
          <c:spPr>
            <a:solidFill>
              <a:srgbClr val="E8962E"/>
            </a:solidFill>
            <a:effectLst/>
          </c:spPr>
          <c:invertIfNegative val="0"/>
          <c:dLbls>
            <c:numFmt formatCode="#,##0" sourceLinked="0"/>
            <c:txPr>
              <a:bodyPr/>
              <a:lstStyle/>
              <a:p>
                <a:pPr>
                  <a:defRPr b="0" i="0" strike="noStrike" sz="1200" u="none">
                    <a:solidFill>
                      <a:srgbClr val="23303B"/>
                    </a:solidFill>
                    <a:latin typeface="+mn-lt"/>
                  </a:defRPr>
                </a:pPr>
              </a:p>
            </c:txPr>
            <c:showLegendKey val="0"/>
            <c:showVal val="1"/>
            <c:showCatName val="0"/>
            <c:showSerName val="0"/>
            <c:showPercent val="0"/>
            <c:showBubbleSize val="0"/>
            <c:showLeaderLines val="0"/>
          </c:dLbls>
          <c:cat>
            <c:multiLvlStrRef>
              <c:f>Sheet1!$A$2:$A$3</c:f>
              <c:multiLvlStrCache>
                <c:ptCount val="2"/>
                <c:lvl>
                  <c:pt idx="0">
                    <c:v>instances solved (of 53)</c:v>
                  </c:pt>
                  <c:pt idx="1">
                    <c:v>verified hits (of 848)</c:v>
                  </c:pt>
                </c:lvl>
              </c:multiLvlStrCache>
            </c:multiLvlStrRef>
          </c:cat>
          <c:val>
            <c:numRef>
              <c:f>Sheet1!$B$2:$B$3</c:f>
              <c:numCache>
                <c:formatCode>General</c:formatCode>
                <c:ptCount val="2"/>
                <c:pt idx="0">
                  <c:v>19</c:v>
                </c:pt>
                <c:pt idx="1">
                  <c:v>57</c:v>
                </c:pt>
              </c:numCache>
            </c:numRef>
          </c:val>
        </c:ser>
        <c:ser>
          <c:idx val="1"/>
          <c:order val="1"/>
          <c:tx>
            <c:strRef>
              <c:f>Sheet1!$C$1</c:f>
              <c:strCache>
                <c:ptCount val="1"/>
                <c:pt idx="0">
                  <c:v>random from same pool (16 sims)</c:v>
                </c:pt>
              </c:strCache>
            </c:strRef>
          </c:tx>
          <c:spPr>
            <a:solidFill>
              <a:srgbClr val="AAB4BE"/>
            </a:solidFill>
            <a:effectLst/>
          </c:spPr>
          <c:invertIfNegative val="0"/>
          <c:dLbls>
            <c:numFmt formatCode="#,##0" sourceLinked="0"/>
            <c:txPr>
              <a:bodyPr/>
              <a:lstStyle/>
              <a:p>
                <a:pPr>
                  <a:defRPr b="0" i="0" strike="noStrike" sz="1200" u="none">
                    <a:solidFill>
                      <a:srgbClr val="23303B"/>
                    </a:solidFill>
                    <a:latin typeface="+mn-lt"/>
                  </a:defRPr>
                </a:pPr>
              </a:p>
            </c:txPr>
            <c:showLegendKey val="0"/>
            <c:showVal val="1"/>
            <c:showCatName val="0"/>
            <c:showSerName val="0"/>
            <c:showPercent val="0"/>
            <c:showBubbleSize val="0"/>
            <c:showLeaderLines val="0"/>
          </c:dLbls>
          <c:cat>
            <c:multiLvlStrRef>
              <c:f>Sheet1!$A$2:$A$3</c:f>
              <c:multiLvlStrCache>
                <c:ptCount val="2"/>
                <c:lvl>
                  <c:pt idx="0">
                    <c:v>instances solved (of 53)</c:v>
                  </c:pt>
                  <c:pt idx="1">
                    <c:v>verified hits (of 848)</c:v>
                  </c:pt>
                </c:lvl>
              </c:multiLvlStrCache>
            </c:multiLvlStrRef>
          </c:cat>
          <c:val>
            <c:numRef>
              <c:f>Sheet1!$C$2:$C$3</c:f>
              <c:numCache>
                <c:formatCode>General</c:formatCode>
                <c:ptCount val="2"/>
                <c:pt idx="0">
                  <c:v>9</c:v>
                </c:pt>
                <c:pt idx="1">
                  <c:v>13</c:v>
                </c:pt>
              </c:numCache>
            </c:numRef>
          </c:val>
        </c:ser>
        <c:dLbls>
          <c:numFmt formatCode="#,##0" sourceLinked="0"/>
          <c:txPr>
            <a:bodyPr/>
            <a:lstStyle/>
            <a:p>
              <a:pPr>
                <a:defRPr b="0" i="0" strike="noStrike" sz="1200" u="none">
                  <a:solidFill>
                    <a:srgbClr val="23303B"/>
                  </a:solidFill>
                  <a:latin typeface="+mn-lt"/>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6B7785"/>
                </a:solidFill>
                <a:latin typeface="+mn-lt"/>
              </a:defRPr>
            </a:pPr>
            <a:endParaRPr lang="en-US"/>
          </a:p>
        </c:txPr>
        <c:crossAx val="2094734552"/>
        <c:crosses val="autoZero"/>
        <c:auto val="1"/>
        <c:lblAlgn val="ctr"/>
        <c:noMultiLvlLbl val="1"/>
      </c:catAx>
      <c:valAx>
        <c:axId val="2094734552"/>
        <c:scaling>
          <c:orientation val="minMax"/>
        </c:scaling>
        <c:delete val="1"/>
        <c:axPos val="l"/>
        <c:majorGridlines>
          <c:spPr>
            <a:ln w="6350" cap="flat">
              <a:solidFill>
                <a:srgbClr val="E3E7EB"/>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6B7785"/>
                </a:solidFill>
                <a:latin typeface="+mn-lt"/>
              </a:defRPr>
            </a:pPr>
            <a:endParaRPr lang="en-US"/>
          </a:p>
        </c:txPr>
        <c:crossAx val="2094734554"/>
        <c:crosses val="autoZero"/>
        <c:crossBetween val="between"/>
      </c:valAx>
      <c:spPr>
        <a:noFill/>
        <a:ln>
          <a:noFill/>
        </a:ln>
        <a:effectLst/>
      </c:spPr>
    </c:plotArea>
    <c:legend>
      <c:legendPos val="b"/>
      <c:overlay val="0"/>
      <c:txPr>
        <a:bodyPr/>
        <a:lstStyle/>
        <a:p>
          <a:pPr>
            <a:defRPr sz="1100">
              <a:solidFill>
                <a:srgbClr val="3C4A57"/>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Review meeting 2026-10-26. New framing from experiments/PLAN.md: two modules (policy-aware recovery planner, recovery-preserving distillation), evaluated independently. Numbers from experiments/RESULTS.md and runs/_analysis.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contributions evaluated independently: the planner is VLA-architecture independent, distillation is the VLA upgrade. Novelty = recovery-specific objective + policy-grounded calibration + verification, not the WM 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Python 3.12, lerobot 0.5.1. Every eval uses the same seeds so arms see identical perturbations.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M11 arm B: wm_plan_v2 = same planner with WM v2 + critic v3 trained on broad-action data: +0.025 over wm_plan (n.s.). Its successes are the jerkiest and farthest from SmolVLA's manifold; 83% of its success strategy cells are unseen by library arms. Broad-action WM data does not close the gap.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Split object_v1: 77 scenes, train 51 / test 26 (frozen). WM + critic retrained on Object train data (M2 recipe). Search on 247 pi0 failures, 16 verifications / arm, 123 trajectories per arm (size of the smallest bank, wm_goal), round-robin. Goal bank covers only 56 unique failures (comp 114, random 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Figures cropped from the arXiv PDFs (docs/related_work/figs). Benchmark: LIBERO-Recover (arXiv 2609.05178), RSR metric, 4 levels L1-L4 (not released for our scenes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rgbClr val="2330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611880"/>
            <a:ext cx="10698480" cy="1280160"/>
          </a:xfrm>
          <a:prstGeom prst="rect">
            <a:avLst/>
          </a:prstGeom>
          <a:noFill/>
          <a:ln/>
        </p:spPr>
        <p:txBody>
          <a:bodyPr wrap="square" rtlCol="0"/>
          <a:lstStyle>
            <a:lvl1pPr indent="0" marL="0">
              <a:buNone/>
              <a:defRPr lang="en-US" sz="1800" dirty="0">
                <a:solidFill>
                  <a:srgbClr val="F3C98B"/>
                </a:solidFill>
              </a:defRPr>
            </a:lvl1pPr>
          </a:lstStyle>
          <a:p>
            <a:pPr indent="0" marL="0">
              <a:buNone/>
            </a:pPr>
            <a:endParaRPr lang="en-US" sz="18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23303B"/>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indent="0" marL="0">
              <a:buNone/>
              <a:defRPr lang="en-US" sz="1800" dirty="0">
                <a:solidFill>
                  <a:srgbClr val="F3C98B"/>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rtlCol="0"/>
          <a:lstStyle>
            <a:lvl1pPr indent="0" marL="0">
              <a:buNone/>
              <a:defRPr lang="en-US" sz="3000" b="1" dirty="0">
                <a:solidFill>
                  <a:schemeClr val="tx1"/>
                </a:solidFill>
              </a:defRPr>
            </a:lvl1pPr>
          </a:lstStyle>
          <a:p>
            <a:pPr indent="0" marL="0">
              <a:buNone/>
            </a:pPr>
            <a:endParaRPr lang="en-US" sz="3000" dirty="0"/>
          </a:p>
        </p:txBody>
      </p:sp>
      <p:sp>
        <p:nvSpPr>
          <p:cNvPr id="3" name="Text 0"/>
          <p:cNvSpPr/>
          <p:nvPr/>
        </p:nvSpPr>
        <p:spPr>
          <a:xfrm>
            <a:off x="548640" y="6400800"/>
            <a:ext cx="5486400" cy="274320"/>
          </a:xfrm>
          <a:prstGeom prst="rect">
            <a:avLst/>
          </a:prstGeom>
          <a:noFill/>
          <a:ln/>
        </p:spPr>
        <p:txBody>
          <a:bodyPr wrap="square" lIns="0" tIns="0" rIns="0" bIns="0" rtlCol="0" anchor="ctr"/>
          <a:lstStyle/>
          <a:p>
            <a:pPr indent="0" marL="0">
              <a:buNone/>
            </a:pPr>
            <a:r>
              <a:rPr lang="en-US" sz="1000" dirty="0">
                <a:solidFill>
                  <a:schemeClr val="accent5"/>
                </a:solidFill>
              </a:rPr>
              <a:t>RetryVLA  ·  progress review 2026-10-26</a:t>
            </a:r>
            <a:endParaRPr lang="en-US" sz="10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4.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4.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4.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4.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4.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video" Target="../media/media-21-1.mp4"/><Relationship Id="rId2" Type="http://schemas.microsoft.com/office/2007/relationships/media" Target="../media/media-21-1.mp4"/><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video" Target="../media/media-22-1.mp4"/><Relationship Id="rId2" Type="http://schemas.microsoft.com/office/2007/relationships/media" Target="../media/media-22-1.mp4"/><Relationship Id="rId3" Type="http://schemas.openxmlformats.org/officeDocument/2006/relationships/image" Target="../media/image-22-3.png"/><Relationship Id="rId4" Type="http://schemas.openxmlformats.org/officeDocument/2006/relationships/slideLayout" Target="../slideLayouts/slideLayout4.xm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video" Target="../media/media-23-1.mp4"/><Relationship Id="rId2" Type="http://schemas.microsoft.com/office/2007/relationships/media" Target="../media/media-23-1.mp4"/><Relationship Id="rId3" Type="http://schemas.openxmlformats.org/officeDocument/2006/relationships/image" Target="../media/image-23-3.png"/><Relationship Id="rId4" Type="http://schemas.openxmlformats.org/officeDocument/2006/relationships/slideLayout" Target="../slideLayouts/slideLayout4.xml"/><Relationship Id="rId5"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video" Target="../media/media-24-1.mp4"/><Relationship Id="rId2" Type="http://schemas.microsoft.com/office/2007/relationships/media" Target="../media/media-24-1.mp4"/><Relationship Id="rId3" Type="http://schemas.openxmlformats.org/officeDocument/2006/relationships/image" Target="../media/image-24-3.png"/><Relationship Id="rId4" Type="http://schemas.openxmlformats.org/officeDocument/2006/relationships/slideLayout" Target="../slideLayouts/slideLayout4.xml"/><Relationship Id="rId5"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4.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video" Target="../media/media-26-1.mp4"/><Relationship Id="rId2" Type="http://schemas.microsoft.com/office/2007/relationships/media" Target="../media/media-26-1.mp4"/><Relationship Id="rId3" Type="http://schemas.openxmlformats.org/officeDocument/2006/relationships/image" Target="../media/image-26-3.png"/><Relationship Id="rId4" Type="http://schemas.openxmlformats.org/officeDocument/2006/relationships/slideLayout" Target="../slideLayouts/slideLayout4.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image" Target="../media/image-28-4.png"/><Relationship Id="rId5" Type="http://schemas.openxmlformats.org/officeDocument/2006/relationships/slideLayout" Target="../slideLayouts/slideLayout4.xml"/><Relationship Id="rId6"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slideLayout" Target="../slideLayouts/slideLayout4.xml"/><Relationship Id="rId6"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4.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video" Target="../media/media-37-1.mp4"/><Relationship Id="rId2" Type="http://schemas.microsoft.com/office/2007/relationships/media" Target="../media/media-37-1.mp4"/><Relationship Id="rId3" Type="http://schemas.openxmlformats.org/officeDocument/2006/relationships/image" Target="../media/image-37-3.png"/><Relationship Id="rId4" Type="http://schemas.openxmlformats.org/officeDocument/2006/relationships/video" Target="../media/media-37-4.mp4"/><Relationship Id="rId5" Type="http://schemas.microsoft.com/office/2007/relationships/media" Target="../media/media-37-4.mp4"/><Relationship Id="rId6" Type="http://schemas.openxmlformats.org/officeDocument/2006/relationships/image" Target="../media/image-37-6.png"/><Relationship Id="rId7" Type="http://schemas.openxmlformats.org/officeDocument/2006/relationships/slideLayout" Target="../slideLayouts/slideLayout4.xml"/><Relationship Id="rId8"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4.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video" Target="../media/media-39-1.mp4"/><Relationship Id="rId2" Type="http://schemas.microsoft.com/office/2007/relationships/media" Target="../media/media-39-1.mp4"/><Relationship Id="rId3" Type="http://schemas.openxmlformats.org/officeDocument/2006/relationships/image" Target="../media/image-39-3.png"/><Relationship Id="rId4" Type="http://schemas.openxmlformats.org/officeDocument/2006/relationships/slideLayout" Target="../slideLayouts/slideLayout4.xml"/><Relationship Id="rId5"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image" Target="../media/image-41-2.png"/><Relationship Id="rId3" Type="http://schemas.openxmlformats.org/officeDocument/2006/relationships/image" Target="../media/image-41-3.png"/><Relationship Id="rId4" Type="http://schemas.openxmlformats.org/officeDocument/2006/relationships/slideLayout" Target="../slideLayouts/slideLayout4.xml"/><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video" Target="../media/media-42-1.mp4"/><Relationship Id="rId2" Type="http://schemas.microsoft.com/office/2007/relationships/media" Target="../media/media-42-1.mp4"/><Relationship Id="rId3" Type="http://schemas.openxmlformats.org/officeDocument/2006/relationships/image" Target="../media/image-42-3.png"/><Relationship Id="rId4" Type="http://schemas.openxmlformats.org/officeDocument/2006/relationships/slideLayout" Target="../slideLayouts/slideLayout4.xml"/><Relationship Id="rId5"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4.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image" Target="../media/image-47-2.png"/><Relationship Id="rId3" Type="http://schemas.openxmlformats.org/officeDocument/2006/relationships/slideLayout" Target="../slideLayouts/slideLayout4.xml"/><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video" Target="../media/media-48-1.mp4"/><Relationship Id="rId2" Type="http://schemas.microsoft.com/office/2007/relationships/media" Target="../media/media-48-1.mp4"/><Relationship Id="rId3" Type="http://schemas.openxmlformats.org/officeDocument/2006/relationships/image" Target="../media/image-48-3.png"/><Relationship Id="rId4" Type="http://schemas.openxmlformats.org/officeDocument/2006/relationships/slideLayout" Target="../slideLayouts/slideLayout4.xml"/><Relationship Id="rId5"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4.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4.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video" Target="../media/media-54-1.mp4"/><Relationship Id="rId2" Type="http://schemas.microsoft.com/office/2007/relationships/media" Target="../media/media-54-1.mp4"/><Relationship Id="rId3" Type="http://schemas.openxmlformats.org/officeDocument/2006/relationships/image" Target="../media/image-54-3.png"/><Relationship Id="rId4" Type="http://schemas.openxmlformats.org/officeDocument/2006/relationships/slideLayout" Target="../slideLayouts/slideLayout4.xml"/><Relationship Id="rId5"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video" Target="../media/media-55-1.mp4"/><Relationship Id="rId2" Type="http://schemas.microsoft.com/office/2007/relationships/media" Target="../media/media-55-1.mp4"/><Relationship Id="rId3" Type="http://schemas.openxmlformats.org/officeDocument/2006/relationships/image" Target="../media/image-55-3.png"/><Relationship Id="rId4" Type="http://schemas.openxmlformats.org/officeDocument/2006/relationships/slideLayout" Target="../slideLayouts/slideLayout4.xml"/><Relationship Id="rId5"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slideLayout" Target="../slideLayouts/slideLayout4.xml"/><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image" Target="../media/image-60-1.png"/><Relationship Id="rId2" Type="http://schemas.openxmlformats.org/officeDocument/2006/relationships/slideLayout" Target="../slideLayouts/slideLayout4.xm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slideLayout" Target="../slideLayouts/slideLayout4.xm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slideLayout" Target="../slideLayouts/slideLayout4.xml"/><Relationship Id="rId3" Type="http://schemas.openxmlformats.org/officeDocument/2006/relationships/notesSlide" Target="../notesSlides/notesSlide6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400" b="1" dirty="0">
                <a:solidFill>
                  <a:schemeClr val="bg1"/>
                </a:solidFill>
              </a:rPr>
              <a:t>RetryVLA: Policy-Competence-Guided Recovery Search and Distillation</a:t>
            </a:r>
            <a:endParaRPr lang="en-US" sz="4400" dirty="0"/>
          </a:p>
        </p:txBody>
      </p:sp>
      <p:sp>
        <p:nvSpPr>
          <p:cNvPr id="3" name="Text 0"/>
          <p:cNvSpPr/>
          <p:nvPr>
            <p:ph idx="101" type="body" hasCustomPrompt="1"/>
          </p:nvPr>
        </p:nvSpPr>
        <p:spPr>
          <a:xfrm>
            <a:off x="731520" y="3611880"/>
            <a:ext cx="10698480" cy="1280160"/>
          </a:xfrm>
          <a:prstGeom prst="rect">
            <a:avLst/>
          </a:prstGeom>
          <a:noFill/>
          <a:ln/>
        </p:spPr>
        <p:txBody>
          <a:bodyPr wrap="square" lIns="0" tIns="0" rIns="0" bIns="0" rtlCol="0" anchor="t"/>
          <a:lstStyle/>
          <a:p>
            <a:pPr indent="0" marL="0">
              <a:buNone/>
            </a:pPr>
            <a:r>
              <a:rPr lang="en-US" sz="1800" dirty="0">
                <a:solidFill>
                  <a:srgbClr val="F3C98B"/>
                </a:solidFill>
              </a:rPr>
              <a:t>Progress review · 2026-10-26</a:t>
            </a:r>
            <a:endParaRPr lang="en-US" sz="1800" dirty="0"/>
          </a:p>
          <a:p>
            <a:pPr indent="0" marL="0">
              <a:buNone/>
            </a:pPr>
            <a:r>
              <a:rPr lang="en-US" sz="1800" dirty="0">
                <a:solidFill>
                  <a:srgbClr val="F3C98B"/>
                </a:solidFill>
              </a:rPr>
              <a:t>SmolVLA on LIBERO-Recover: Spatial (dev) and LIBERO-Object (held-out)</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Executive summary</a:t>
            </a:r>
            <a:endParaRPr lang="en-US" sz="3000" dirty="0"/>
          </a:p>
        </p:txBody>
      </p:sp>
      <p:sp>
        <p:nvSpPr>
          <p:cNvPr id="3" name="exec0"/>
          <p:cNvSpPr/>
          <p:nvPr/>
        </p:nvSpPr>
        <p:spPr>
          <a:xfrm>
            <a:off x="548640" y="1188720"/>
            <a:ext cx="11064240" cy="896112"/>
          </a:xfrm>
          <a:prstGeom prst="roundRect">
            <a:avLst>
              <a:gd name="adj" fmla="val 81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Shape 2"/>
          <p:cNvSpPr/>
          <p:nvPr/>
        </p:nvSpPr>
        <p:spPr>
          <a:xfrm>
            <a:off x="777240" y="1490472"/>
            <a:ext cx="292608" cy="292608"/>
          </a:xfrm>
          <a:prstGeom prst="ellipse">
            <a:avLst/>
          </a:prstGeom>
          <a:solidFill>
            <a:srgbClr val="2A9D8F"/>
          </a:solidFill>
          <a:ln w="12700">
            <a:solidFill>
              <a:srgbClr val="2A9D8F"/>
            </a:solidFill>
            <a:prstDash val="solid"/>
          </a:ln>
        </p:spPr>
      </p:sp>
      <p:sp>
        <p:nvSpPr>
          <p:cNvPr id="5" name="Text 3"/>
          <p:cNvSpPr txBox="1"/>
          <p:nvPr/>
        </p:nvSpPr>
        <p:spPr>
          <a:xfrm>
            <a:off x="1234440" y="1298448"/>
            <a:ext cx="1600200" cy="676656"/>
          </a:xfrm>
          <a:prstGeom prst="rect">
            <a:avLst/>
          </a:prstGeom>
          <a:noFill/>
          <a:ln/>
        </p:spPr>
        <p:txBody>
          <a:bodyPr wrap="square" lIns="0" tIns="0" rIns="0" bIns="0" rtlCol="0" anchor="ctr"/>
          <a:lstStyle/>
          <a:p>
            <a:pPr indent="0" marL="0">
              <a:buNone/>
            </a:pPr>
            <a:r>
              <a:rPr lang="en-US" sz="1600" b="1" dirty="0">
                <a:solidFill>
                  <a:srgbClr val="2A9D8F"/>
                </a:solidFill>
              </a:rPr>
              <a:t>Proven</a:t>
            </a:r>
            <a:endParaRPr lang="en-US" sz="1600" dirty="0"/>
          </a:p>
        </p:txBody>
      </p:sp>
      <p:sp>
        <p:nvSpPr>
          <p:cNvPr id="6" name="Text 4"/>
          <p:cNvSpPr txBox="1"/>
          <p:nvPr/>
        </p:nvSpPr>
        <p:spPr>
          <a:xfrm>
            <a:off x="2880360" y="1280160"/>
            <a:ext cx="8549640" cy="731520"/>
          </a:xfrm>
          <a:prstGeom prst="rect">
            <a:avLst/>
          </a:prstGeom>
          <a:noFill/>
          <a:ln/>
        </p:spPr>
        <p:txBody>
          <a:bodyPr wrap="square" lIns="0" tIns="0" rIns="0" bIns="0" rtlCol="0" anchor="ctr"/>
          <a:lstStyle/>
          <a:p>
            <a:pPr indent="0" marL="0">
              <a:buNone/>
            </a:pPr>
            <a:r>
              <a:rPr lang="en-US" sz="1300" dirty="0">
                <a:solidFill>
                  <a:srgbClr val="3C4A57"/>
                </a:solidFill>
              </a:rPr>
              <a:t>Competence is what matters: searching for states from which the frozen policy itself can finish (C^pi) beats latent-goal and progress objectives, in search (32 / 2 failures; Object 66 / 8) and after SFT (0.417 vs 0.187, 3 seeds, +0.230 [+0.161, +0.298]).</a:t>
            </a:r>
            <a:endParaRPr lang="en-US" sz="1300" dirty="0"/>
          </a:p>
        </p:txBody>
      </p:sp>
      <p:sp>
        <p:nvSpPr>
          <p:cNvPr id="7" name="exec1"/>
          <p:cNvSpPr/>
          <p:nvPr/>
        </p:nvSpPr>
        <p:spPr>
          <a:xfrm>
            <a:off x="548640" y="2194560"/>
            <a:ext cx="11064240" cy="896112"/>
          </a:xfrm>
          <a:prstGeom prst="roundRect">
            <a:avLst>
              <a:gd name="adj" fmla="val 8163"/>
            </a:avLst>
          </a:prstGeom>
          <a:solidFill>
            <a:srgbClr val="FFFFFF"/>
          </a:solidFill>
          <a:ln w="12700">
            <a:solidFill>
              <a:srgbClr val="FFFFFF"/>
            </a:solidFill>
            <a:prstDash val="solid"/>
          </a:ln>
          <a:effectLst>
            <a:outerShdw sx="100000" sy="100000" kx="0" ky="0" algn="bl" rotWithShape="0" blurRad="76200" dist="25400" dir="5400000">
              <a:srgbClr val="23303B">
                <a:alpha val="12000"/>
              </a:srgbClr>
            </a:outerShdw>
          </a:effectLst>
        </p:spPr>
      </p:sp>
      <p:sp>
        <p:nvSpPr>
          <p:cNvPr id="8" name="Shape 6"/>
          <p:cNvSpPr/>
          <p:nvPr/>
        </p:nvSpPr>
        <p:spPr>
          <a:xfrm>
            <a:off x="777240" y="2496312"/>
            <a:ext cx="292608" cy="292608"/>
          </a:xfrm>
          <a:prstGeom prst="ellipse">
            <a:avLst/>
          </a:prstGeom>
          <a:solidFill>
            <a:srgbClr val="E8962E"/>
          </a:solidFill>
          <a:ln w="12700">
            <a:solidFill>
              <a:srgbClr val="E8962E"/>
            </a:solidFill>
            <a:prstDash val="solid"/>
          </a:ln>
        </p:spPr>
      </p:sp>
      <p:sp>
        <p:nvSpPr>
          <p:cNvPr id="9" name="Text 7"/>
          <p:cNvSpPr txBox="1"/>
          <p:nvPr/>
        </p:nvSpPr>
        <p:spPr>
          <a:xfrm>
            <a:off x="1234440" y="2304288"/>
            <a:ext cx="1600200" cy="676656"/>
          </a:xfrm>
          <a:prstGeom prst="rect">
            <a:avLst/>
          </a:prstGeom>
          <a:noFill/>
          <a:ln/>
        </p:spPr>
        <p:txBody>
          <a:bodyPr wrap="square" lIns="0" tIns="0" rIns="0" bIns="0" rtlCol="0" anchor="ctr"/>
          <a:lstStyle/>
          <a:p>
            <a:pPr indent="0" marL="0">
              <a:buNone/>
            </a:pPr>
            <a:r>
              <a:rPr lang="en-US" sz="1600" b="1" dirty="0">
                <a:solidFill>
                  <a:srgbClr val="E8962E"/>
                </a:solidFill>
              </a:rPr>
              <a:t>Best numbers</a:t>
            </a:r>
            <a:endParaRPr lang="en-US" sz="1600" dirty="0"/>
          </a:p>
        </p:txBody>
      </p:sp>
      <p:sp>
        <p:nvSpPr>
          <p:cNvPr id="10" name="Text 8"/>
          <p:cNvSpPr txBox="1"/>
          <p:nvPr/>
        </p:nvSpPr>
        <p:spPr>
          <a:xfrm>
            <a:off x="2880360" y="2286000"/>
            <a:ext cx="8549640" cy="731520"/>
          </a:xfrm>
          <a:prstGeom prst="rect">
            <a:avLst/>
          </a:prstGeom>
          <a:noFill/>
          <a:ln/>
        </p:spPr>
        <p:txBody>
          <a:bodyPr wrap="square" lIns="0" tIns="0" rIns="0" bIns="0" rtlCol="0" anchor="ctr"/>
          <a:lstStyle/>
          <a:p>
            <a:pPr indent="0" marL="0">
              <a:buNone/>
            </a:pPr>
            <a:r>
              <a:rPr lang="en-US" sz="1300" dirty="0">
                <a:solidFill>
                  <a:srgbClr val="3C4A57"/>
                </a:solidFill>
              </a:rPr>
              <a:t>RetryVLA pi1: test RSR 0.118 → 0.418 ± 0.021 (3 seeds), nominal 0.785 vs 0.796 for pi1-nominal: inside the 2 pt margin, no extra module at test time.</a:t>
            </a:r>
            <a:endParaRPr lang="en-US" sz="1300" dirty="0"/>
          </a:p>
        </p:txBody>
      </p:sp>
      <p:sp>
        <p:nvSpPr>
          <p:cNvPr id="11" name="exec2"/>
          <p:cNvSpPr/>
          <p:nvPr/>
        </p:nvSpPr>
        <p:spPr>
          <a:xfrm>
            <a:off x="548640" y="3200400"/>
            <a:ext cx="11064240" cy="896112"/>
          </a:xfrm>
          <a:prstGeom prst="roundRect">
            <a:avLst>
              <a:gd name="adj" fmla="val 81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2" name="Shape 10"/>
          <p:cNvSpPr/>
          <p:nvPr/>
        </p:nvSpPr>
        <p:spPr>
          <a:xfrm>
            <a:off x="777240" y="3502152"/>
            <a:ext cx="292608" cy="292608"/>
          </a:xfrm>
          <a:prstGeom prst="ellipse">
            <a:avLst/>
          </a:prstGeom>
          <a:solidFill>
            <a:srgbClr val="2A9D8F"/>
          </a:solidFill>
          <a:ln w="12700">
            <a:solidFill>
              <a:srgbClr val="2A9D8F"/>
            </a:solidFill>
            <a:prstDash val="solid"/>
          </a:ln>
        </p:spPr>
      </p:sp>
      <p:sp>
        <p:nvSpPr>
          <p:cNvPr id="13" name="Text 11"/>
          <p:cNvSpPr txBox="1"/>
          <p:nvPr/>
        </p:nvSpPr>
        <p:spPr>
          <a:xfrm>
            <a:off x="1234440" y="3310128"/>
            <a:ext cx="1600200" cy="676656"/>
          </a:xfrm>
          <a:prstGeom prst="rect">
            <a:avLst/>
          </a:prstGeom>
          <a:noFill/>
          <a:ln/>
        </p:spPr>
        <p:txBody>
          <a:bodyPr wrap="square" lIns="0" tIns="0" rIns="0" bIns="0" rtlCol="0" anchor="ctr"/>
          <a:lstStyle/>
          <a:p>
            <a:pPr indent="0" marL="0">
              <a:buNone/>
            </a:pPr>
            <a:r>
              <a:rPr lang="en-US" sz="1600" b="1" dirty="0">
                <a:solidFill>
                  <a:srgbClr val="2A9D8F"/>
                </a:solidFill>
              </a:rPr>
              <a:t>Proven</a:t>
            </a:r>
            <a:endParaRPr lang="en-US" sz="1600" dirty="0"/>
          </a:p>
        </p:txBody>
      </p:sp>
      <p:sp>
        <p:nvSpPr>
          <p:cNvPr id="14" name="Text 12"/>
          <p:cNvSpPr txBox="1"/>
          <p:nvPr/>
        </p:nvSpPr>
        <p:spPr>
          <a:xfrm>
            <a:off x="2880360" y="3291840"/>
            <a:ext cx="8549640" cy="731520"/>
          </a:xfrm>
          <a:prstGeom prst="rect">
            <a:avLst/>
          </a:prstGeom>
          <a:noFill/>
          <a:ln/>
        </p:spPr>
        <p:txBody>
          <a:bodyPr wrap="square" lIns="0" tIns="0" rIns="0" bIns="0" rtlCol="0" anchor="ctr"/>
          <a:lstStyle/>
          <a:p>
            <a:pPr indent="0" marL="0">
              <a:buNone/>
            </a:pPr>
            <a:r>
              <a:rPr lang="en-US" sz="1300" dirty="0">
                <a:solidFill>
                  <a:srgbClr val="3C4A57"/>
                </a:solidFill>
              </a:rPr>
              <a:t>Distillation is needed: demo-only 0.127, online best-of-8 +0.027 (n.s.), imagination-only (RISE-inspired) 0.068-0.113, residual RL 0.295 but nominal 0.022. Held-out Object: +0.181 over demo-only.</a:t>
            </a:r>
            <a:endParaRPr lang="en-US" sz="1300" dirty="0"/>
          </a:p>
        </p:txBody>
      </p:sp>
      <p:sp>
        <p:nvSpPr>
          <p:cNvPr id="15" name="exec3"/>
          <p:cNvSpPr/>
          <p:nvPr/>
        </p:nvSpPr>
        <p:spPr>
          <a:xfrm>
            <a:off x="548640" y="4206240"/>
            <a:ext cx="11064240" cy="896112"/>
          </a:xfrm>
          <a:prstGeom prst="roundRect">
            <a:avLst>
              <a:gd name="adj" fmla="val 8163"/>
            </a:avLst>
          </a:prstGeom>
          <a:solidFill>
            <a:srgbClr val="FFFFFF"/>
          </a:solidFill>
          <a:ln w="12700">
            <a:solidFill>
              <a:srgbClr val="FFFFFF"/>
            </a:solidFill>
            <a:prstDash val="solid"/>
          </a:ln>
          <a:effectLst>
            <a:outerShdw sx="100000" sy="100000" kx="0" ky="0" algn="bl" rotWithShape="0" blurRad="76200" dist="25400" dir="5400000">
              <a:srgbClr val="23303B">
                <a:alpha val="12000"/>
              </a:srgbClr>
            </a:outerShdw>
          </a:effectLst>
        </p:spPr>
      </p:sp>
      <p:sp>
        <p:nvSpPr>
          <p:cNvPr id="16" name="Shape 14"/>
          <p:cNvSpPr/>
          <p:nvPr/>
        </p:nvSpPr>
        <p:spPr>
          <a:xfrm>
            <a:off x="777240" y="4507992"/>
            <a:ext cx="292608" cy="292608"/>
          </a:xfrm>
          <a:prstGeom prst="ellipse">
            <a:avLst/>
          </a:prstGeom>
          <a:solidFill>
            <a:srgbClr val="C8553D"/>
          </a:solidFill>
          <a:ln w="12700">
            <a:solidFill>
              <a:srgbClr val="C8553D"/>
            </a:solidFill>
            <a:prstDash val="solid"/>
          </a:ln>
        </p:spPr>
      </p:sp>
      <p:sp>
        <p:nvSpPr>
          <p:cNvPr id="17" name="Text 15"/>
          <p:cNvSpPr txBox="1"/>
          <p:nvPr/>
        </p:nvSpPr>
        <p:spPr>
          <a:xfrm>
            <a:off x="1234440" y="4315968"/>
            <a:ext cx="1600200" cy="676656"/>
          </a:xfrm>
          <a:prstGeom prst="rect">
            <a:avLst/>
          </a:prstGeom>
          <a:noFill/>
          <a:ln/>
        </p:spPr>
        <p:txBody>
          <a:bodyPr wrap="square" lIns="0" tIns="0" rIns="0" bIns="0" rtlCol="0" anchor="ctr"/>
          <a:lstStyle/>
          <a:p>
            <a:pPr indent="0" marL="0">
              <a:buNone/>
            </a:pPr>
            <a:r>
              <a:rPr lang="en-US" sz="1600" b="1" dirty="0">
                <a:solidFill>
                  <a:srgbClr val="C8553D"/>
                </a:solidFill>
              </a:rPr>
              <a:t>Did not work</a:t>
            </a:r>
            <a:endParaRPr lang="en-US" sz="1600" dirty="0"/>
          </a:p>
        </p:txBody>
      </p:sp>
      <p:sp>
        <p:nvSpPr>
          <p:cNvPr id="18" name="Text 16"/>
          <p:cNvSpPr txBox="1"/>
          <p:nvPr/>
        </p:nvSpPr>
        <p:spPr>
          <a:xfrm>
            <a:off x="2880360" y="4297680"/>
            <a:ext cx="8549640" cy="731520"/>
          </a:xfrm>
          <a:prstGeom prst="rect">
            <a:avLst/>
          </a:prstGeom>
          <a:noFill/>
          <a:ln/>
        </p:spPr>
        <p:txBody>
          <a:bodyPr wrap="square" lIns="0" tIns="0" rIns="0" bIns="0" rtlCol="0" anchor="ctr"/>
          <a:lstStyle/>
          <a:p>
            <a:pPr indent="0" marL="0">
              <a:buNone/>
            </a:pPr>
            <a:r>
              <a:rPr lang="en-US" sz="1300" dirty="0">
                <a:solidFill>
                  <a:srgbClr val="3C4A57"/>
                </a:solidFill>
              </a:rPr>
              <a:t>The WM is mostly a filter over a proposal library: planning without it solves 0.398 vs 0.458 (M11). On Object, WM data is not better than random-search data at equal count (0.354 vs 0.362).</a:t>
            </a:r>
            <a:endParaRPr lang="en-US" sz="1300" dirty="0"/>
          </a:p>
        </p:txBody>
      </p:sp>
      <p:sp>
        <p:nvSpPr>
          <p:cNvPr id="19" name="exec4"/>
          <p:cNvSpPr/>
          <p:nvPr/>
        </p:nvSpPr>
        <p:spPr>
          <a:xfrm>
            <a:off x="548640" y="5212080"/>
            <a:ext cx="11064240" cy="896112"/>
          </a:xfrm>
          <a:prstGeom prst="roundRect">
            <a:avLst>
              <a:gd name="adj" fmla="val 81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20" name="Shape 18"/>
          <p:cNvSpPr/>
          <p:nvPr/>
        </p:nvSpPr>
        <p:spPr>
          <a:xfrm>
            <a:off x="777240" y="5513832"/>
            <a:ext cx="292608" cy="292608"/>
          </a:xfrm>
          <a:prstGeom prst="ellipse">
            <a:avLst/>
          </a:prstGeom>
          <a:solidFill>
            <a:srgbClr val="1F8FE5"/>
          </a:solidFill>
          <a:ln w="12700">
            <a:solidFill>
              <a:srgbClr val="1F8FE5"/>
            </a:solidFill>
            <a:prstDash val="solid"/>
          </a:ln>
        </p:spPr>
      </p:sp>
      <p:sp>
        <p:nvSpPr>
          <p:cNvPr id="21" name="Text 19"/>
          <p:cNvSpPr txBox="1"/>
          <p:nvPr/>
        </p:nvSpPr>
        <p:spPr>
          <a:xfrm>
            <a:off x="1234440" y="5321808"/>
            <a:ext cx="1600200" cy="676656"/>
          </a:xfrm>
          <a:prstGeom prst="rect">
            <a:avLst/>
          </a:prstGeom>
          <a:noFill/>
          <a:ln/>
        </p:spPr>
        <p:txBody>
          <a:bodyPr wrap="square" lIns="0" tIns="0" rIns="0" bIns="0" rtlCol="0" anchor="ctr"/>
          <a:lstStyle/>
          <a:p>
            <a:pPr indent="0" marL="0">
              <a:buNone/>
            </a:pPr>
            <a:r>
              <a:rPr lang="en-US" sz="1600" b="1" dirty="0">
                <a:solidFill>
                  <a:srgbClr val="1F8FE5"/>
                </a:solidFill>
              </a:rPr>
              <a:t>Next</a:t>
            </a:r>
            <a:endParaRPr lang="en-US" sz="1600" dirty="0"/>
          </a:p>
        </p:txBody>
      </p:sp>
      <p:sp>
        <p:nvSpPr>
          <p:cNvPr id="22" name="Text 20"/>
          <p:cNvSpPr txBox="1"/>
          <p:nvPr/>
        </p:nvSpPr>
        <p:spPr>
          <a:xfrm>
            <a:off x="2880360" y="5303520"/>
            <a:ext cx="8549640" cy="731520"/>
          </a:xfrm>
          <a:prstGeom prst="rect">
            <a:avLst/>
          </a:prstGeom>
          <a:noFill/>
          <a:ln/>
        </p:spPr>
        <p:txBody>
          <a:bodyPr wrap="square" lIns="0" tIns="0" rIns="0" bIns="0" rtlCol="0" anchor="ctr"/>
          <a:lstStyle/>
          <a:p>
            <a:pPr indent="0" marL="0">
              <a:buNone/>
            </a:pPr>
            <a:r>
              <a:rPr lang="en-US" sz="1300" dirty="0">
                <a:solidFill>
                  <a:srgbClr val="3C4A57"/>
                </a:solidFill>
              </a:rPr>
              <a:t>C^pi v3 from the Cpi-pool labels, more seeds (baselines, Object eps-test), matched-sim-budget distillation (P4), cost accounting (P5), LIBERO-Goal / LIBERO-10. Real-world adaptation: not decided.</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Agenda</a:t>
            </a:r>
            <a:endParaRPr lang="en-US" sz="3000" dirty="0"/>
          </a:p>
        </p:txBody>
      </p:sp>
      <p:sp>
        <p:nvSpPr>
          <p:cNvPr id="3" name="ag0"/>
          <p:cNvSpPr/>
          <p:nvPr/>
        </p:nvSpPr>
        <p:spPr>
          <a:xfrm>
            <a:off x="548640" y="1188720"/>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badge"/>
          <p:cNvSpPr/>
          <p:nvPr/>
        </p:nvSpPr>
        <p:spPr>
          <a:xfrm>
            <a:off x="713232" y="1335024"/>
            <a:ext cx="384048" cy="384048"/>
          </a:xfrm>
          <a:prstGeom prst="ellipse">
            <a:avLst/>
          </a:prstGeom>
          <a:solidFill>
            <a:srgbClr val="3C4A57"/>
          </a:solidFill>
          <a:ln w="12700">
            <a:solidFill>
              <a:srgbClr val="3C4A57"/>
            </a:solidFill>
            <a:prstDash val="solid"/>
          </a:ln>
        </p:spPr>
      </p:sp>
      <p:sp>
        <p:nvSpPr>
          <p:cNvPr id="5" name="Text 3"/>
          <p:cNvSpPr txBox="1"/>
          <p:nvPr/>
        </p:nvSpPr>
        <p:spPr>
          <a:xfrm>
            <a:off x="713232" y="13350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261872" y="1280160"/>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Problem and framing</a:t>
            </a:r>
            <a:endParaRPr lang="en-US" sz="1500" dirty="0"/>
          </a:p>
        </p:txBody>
      </p:sp>
      <p:sp>
        <p:nvSpPr>
          <p:cNvPr id="7" name="Text 5"/>
          <p:cNvSpPr txBox="1"/>
          <p:nvPr/>
        </p:nvSpPr>
        <p:spPr>
          <a:xfrm>
            <a:off x="3611880" y="1280160"/>
            <a:ext cx="2286000" cy="493776"/>
          </a:xfrm>
          <a:prstGeom prst="rect">
            <a:avLst/>
          </a:prstGeom>
          <a:noFill/>
          <a:ln/>
        </p:spPr>
        <p:txBody>
          <a:bodyPr wrap="square" lIns="0" tIns="0" rIns="0" bIns="0" rtlCol="0" anchor="ctr"/>
          <a:lstStyle/>
          <a:p>
            <a:pPr indent="0" marL="0">
              <a:buNone/>
            </a:pPr>
            <a:r>
              <a:rPr lang="en-US" sz="1200" dirty="0">
                <a:solidFill>
                  <a:srgbClr val="3C4A57"/>
                </a:solidFill>
              </a:rPr>
              <a:t>two modules, pre-registered nominal margin</a:t>
            </a:r>
            <a:endParaRPr lang="en-US" sz="1200" dirty="0"/>
          </a:p>
        </p:txBody>
      </p:sp>
      <p:sp>
        <p:nvSpPr>
          <p:cNvPr id="8" name="ag1"/>
          <p:cNvSpPr/>
          <p:nvPr/>
        </p:nvSpPr>
        <p:spPr>
          <a:xfrm>
            <a:off x="548640" y="1975104"/>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9" name="badge"/>
          <p:cNvSpPr/>
          <p:nvPr/>
        </p:nvSpPr>
        <p:spPr>
          <a:xfrm>
            <a:off x="713232" y="2121408"/>
            <a:ext cx="384048" cy="384048"/>
          </a:xfrm>
          <a:prstGeom prst="ellipse">
            <a:avLst/>
          </a:prstGeom>
          <a:solidFill>
            <a:srgbClr val="3C4A57"/>
          </a:solidFill>
          <a:ln w="12700">
            <a:solidFill>
              <a:srgbClr val="3C4A57"/>
            </a:solidFill>
            <a:prstDash val="solid"/>
          </a:ln>
        </p:spPr>
      </p:sp>
      <p:sp>
        <p:nvSpPr>
          <p:cNvPr id="10" name="Text 8"/>
          <p:cNvSpPr txBox="1"/>
          <p:nvPr/>
        </p:nvSpPr>
        <p:spPr>
          <a:xfrm>
            <a:off x="713232" y="2121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1261872" y="2066544"/>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Timeline M0-M11</a:t>
            </a:r>
            <a:endParaRPr lang="en-US" sz="1500" dirty="0"/>
          </a:p>
        </p:txBody>
      </p:sp>
      <p:sp>
        <p:nvSpPr>
          <p:cNvPr id="12" name="Text 10"/>
          <p:cNvSpPr txBox="1"/>
          <p:nvPr/>
        </p:nvSpPr>
        <p:spPr>
          <a:xfrm>
            <a:off x="3611880" y="2066544"/>
            <a:ext cx="2286000" cy="493776"/>
          </a:xfrm>
          <a:prstGeom prst="rect">
            <a:avLst/>
          </a:prstGeom>
          <a:noFill/>
          <a:ln/>
        </p:spPr>
        <p:txBody>
          <a:bodyPr wrap="square" lIns="0" tIns="0" rIns="0" bIns="0" rtlCol="0" anchor="ctr"/>
          <a:lstStyle/>
          <a:p>
            <a:pPr indent="0" marL="0">
              <a:buNone/>
            </a:pPr>
            <a:r>
              <a:rPr lang="en-US" sz="1200" dirty="0">
                <a:solidFill>
                  <a:srgbClr val="3C4A57"/>
                </a:solidFill>
              </a:rPr>
              <a:t>what each milestone answered</a:t>
            </a:r>
            <a:endParaRPr lang="en-US" sz="1200" dirty="0"/>
          </a:p>
        </p:txBody>
      </p:sp>
      <p:sp>
        <p:nvSpPr>
          <p:cNvPr id="13" name="ag2"/>
          <p:cNvSpPr/>
          <p:nvPr/>
        </p:nvSpPr>
        <p:spPr>
          <a:xfrm>
            <a:off x="548640" y="2761488"/>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4" name="badge"/>
          <p:cNvSpPr/>
          <p:nvPr/>
        </p:nvSpPr>
        <p:spPr>
          <a:xfrm>
            <a:off x="713232" y="2907792"/>
            <a:ext cx="384048" cy="384048"/>
          </a:xfrm>
          <a:prstGeom prst="ellipse">
            <a:avLst/>
          </a:prstGeom>
          <a:solidFill>
            <a:srgbClr val="E8962E"/>
          </a:solidFill>
          <a:ln w="12700">
            <a:solidFill>
              <a:srgbClr val="E8962E"/>
            </a:solidFill>
            <a:prstDash val="solid"/>
          </a:ln>
        </p:spPr>
      </p:sp>
      <p:sp>
        <p:nvSpPr>
          <p:cNvPr id="15" name="Text 13"/>
          <p:cNvSpPr txBox="1"/>
          <p:nvPr/>
        </p:nvSpPr>
        <p:spPr>
          <a:xfrm>
            <a:off x="713232" y="29077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1261872" y="2852928"/>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Statistics done right</a:t>
            </a:r>
            <a:endParaRPr lang="en-US" sz="1500" dirty="0"/>
          </a:p>
        </p:txBody>
      </p:sp>
      <p:sp>
        <p:nvSpPr>
          <p:cNvPr id="17" name="Text 15"/>
          <p:cNvSpPr txBox="1"/>
          <p:nvPr/>
        </p:nvSpPr>
        <p:spPr>
          <a:xfrm>
            <a:off x="3611880" y="2852928"/>
            <a:ext cx="2286000" cy="493776"/>
          </a:xfrm>
          <a:prstGeom prst="rect">
            <a:avLst/>
          </a:prstGeom>
          <a:noFill/>
          <a:ln/>
        </p:spPr>
        <p:txBody>
          <a:bodyPr wrap="square" lIns="0" tIns="0" rIns="0" bIns="0" rtlCol="0" anchor="ctr"/>
          <a:lstStyle/>
          <a:p>
            <a:pPr indent="0" marL="0">
              <a:buNone/>
            </a:pPr>
            <a:r>
              <a:rPr lang="en-US" sz="1200" dirty="0">
                <a:solidFill>
                  <a:srgbClr val="3C4A57"/>
                </a:solidFill>
              </a:rPr>
              <a:t>cluster bootstrap, 3 seeds</a:t>
            </a:r>
            <a:endParaRPr lang="en-US" sz="1200" dirty="0"/>
          </a:p>
        </p:txBody>
      </p:sp>
      <p:sp>
        <p:nvSpPr>
          <p:cNvPr id="18" name="ag3"/>
          <p:cNvSpPr/>
          <p:nvPr/>
        </p:nvSpPr>
        <p:spPr>
          <a:xfrm>
            <a:off x="548640" y="3547872"/>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9" name="badge"/>
          <p:cNvSpPr/>
          <p:nvPr/>
        </p:nvSpPr>
        <p:spPr>
          <a:xfrm>
            <a:off x="713232" y="3694176"/>
            <a:ext cx="384048" cy="384048"/>
          </a:xfrm>
          <a:prstGeom prst="ellipse">
            <a:avLst/>
          </a:prstGeom>
          <a:solidFill>
            <a:srgbClr val="E8962E"/>
          </a:solidFill>
          <a:ln w="12700">
            <a:solidFill>
              <a:srgbClr val="E8962E"/>
            </a:solidFill>
            <a:prstDash val="solid"/>
          </a:ln>
        </p:spPr>
      </p:sp>
      <p:sp>
        <p:nvSpPr>
          <p:cNvPr id="20" name="Text 18"/>
          <p:cNvSpPr txBox="1"/>
          <p:nvPr/>
        </p:nvSpPr>
        <p:spPr>
          <a:xfrm>
            <a:off x="713232"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1" name="Text 19"/>
          <p:cNvSpPr txBox="1"/>
          <p:nvPr/>
        </p:nvSpPr>
        <p:spPr>
          <a:xfrm>
            <a:off x="1261872" y="3639312"/>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Q1: why competence?</a:t>
            </a:r>
            <a:endParaRPr lang="en-US" sz="1500" dirty="0"/>
          </a:p>
        </p:txBody>
      </p:sp>
      <p:sp>
        <p:nvSpPr>
          <p:cNvPr id="22" name="Text 20"/>
          <p:cNvSpPr txBox="1"/>
          <p:nvPr/>
        </p:nvSpPr>
        <p:spPr>
          <a:xfrm>
            <a:off x="3611880" y="3639312"/>
            <a:ext cx="2286000" cy="493776"/>
          </a:xfrm>
          <a:prstGeom prst="rect">
            <a:avLst/>
          </a:prstGeom>
          <a:noFill/>
          <a:ln/>
        </p:spPr>
        <p:txBody>
          <a:bodyPr wrap="square" lIns="0" tIns="0" rIns="0" bIns="0" rtlCol="0" anchor="ctr"/>
          <a:lstStyle/>
          <a:p>
            <a:pPr indent="0" marL="0">
              <a:buNone/>
            </a:pPr>
            <a:r>
              <a:rPr lang="en-US" sz="1200" dirty="0">
                <a:solidFill>
                  <a:srgbClr val="3C4A57"/>
                </a:solidFill>
              </a:rPr>
              <a:t>search + SFT, critic variants</a:t>
            </a:r>
            <a:endParaRPr lang="en-US" sz="1200" dirty="0"/>
          </a:p>
        </p:txBody>
      </p:sp>
      <p:sp>
        <p:nvSpPr>
          <p:cNvPr id="23" name="ag4"/>
          <p:cNvSpPr/>
          <p:nvPr/>
        </p:nvSpPr>
        <p:spPr>
          <a:xfrm>
            <a:off x="548640" y="4334256"/>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24" name="badge"/>
          <p:cNvSpPr/>
          <p:nvPr/>
        </p:nvSpPr>
        <p:spPr>
          <a:xfrm>
            <a:off x="713232" y="4480560"/>
            <a:ext cx="384048" cy="384048"/>
          </a:xfrm>
          <a:prstGeom prst="ellipse">
            <a:avLst/>
          </a:prstGeom>
          <a:solidFill>
            <a:srgbClr val="E8962E"/>
          </a:solidFill>
          <a:ln w="12700">
            <a:solidFill>
              <a:srgbClr val="E8962E"/>
            </a:solidFill>
            <a:prstDash val="solid"/>
          </a:ln>
        </p:spPr>
      </p:sp>
      <p:sp>
        <p:nvSpPr>
          <p:cNvPr id="25" name="Text 23"/>
          <p:cNvSpPr txBox="1"/>
          <p:nvPr/>
        </p:nvSpPr>
        <p:spPr>
          <a:xfrm>
            <a:off x="713232"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6" name="Text 24"/>
          <p:cNvSpPr txBox="1"/>
          <p:nvPr/>
        </p:nvSpPr>
        <p:spPr>
          <a:xfrm>
            <a:off x="1261872" y="4425696"/>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Q2: why a world model?</a:t>
            </a:r>
            <a:endParaRPr lang="en-US" sz="1500" dirty="0"/>
          </a:p>
        </p:txBody>
      </p:sp>
      <p:sp>
        <p:nvSpPr>
          <p:cNvPr id="27" name="Text 25"/>
          <p:cNvSpPr txBox="1"/>
          <p:nvPr/>
        </p:nvSpPr>
        <p:spPr>
          <a:xfrm>
            <a:off x="3611880" y="4425696"/>
            <a:ext cx="2286000" cy="493776"/>
          </a:xfrm>
          <a:prstGeom prst="rect">
            <a:avLst/>
          </a:prstGeom>
          <a:noFill/>
          <a:ln/>
        </p:spPr>
        <p:txBody>
          <a:bodyPr wrap="square" lIns="0" tIns="0" rIns="0" bIns="0" rtlCol="0" anchor="ctr"/>
          <a:lstStyle/>
          <a:p>
            <a:pPr indent="0" marL="0">
              <a:buNone/>
            </a:pPr>
            <a:r>
              <a:rPr lang="en-US" sz="1200" dirty="0">
                <a:solidFill>
                  <a:srgbClr val="3C4A57"/>
                </a:solidFill>
              </a:rPr>
              <a:t>cost vs real dynamics, WM as planner</a:t>
            </a:r>
            <a:endParaRPr lang="en-US" sz="1200" dirty="0"/>
          </a:p>
        </p:txBody>
      </p:sp>
      <p:sp>
        <p:nvSpPr>
          <p:cNvPr id="28" name="ag5"/>
          <p:cNvSpPr/>
          <p:nvPr/>
        </p:nvSpPr>
        <p:spPr>
          <a:xfrm>
            <a:off x="548640" y="5120640"/>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29" name="badge"/>
          <p:cNvSpPr/>
          <p:nvPr/>
        </p:nvSpPr>
        <p:spPr>
          <a:xfrm>
            <a:off x="713232" y="5266944"/>
            <a:ext cx="384048" cy="384048"/>
          </a:xfrm>
          <a:prstGeom prst="ellipse">
            <a:avLst/>
          </a:prstGeom>
          <a:solidFill>
            <a:srgbClr val="E8962E"/>
          </a:solidFill>
          <a:ln w="12700">
            <a:solidFill>
              <a:srgbClr val="E8962E"/>
            </a:solidFill>
            <a:prstDash val="solid"/>
          </a:ln>
        </p:spPr>
      </p:sp>
      <p:sp>
        <p:nvSpPr>
          <p:cNvPr id="30" name="Text 28"/>
          <p:cNvSpPr txBox="1"/>
          <p:nvPr/>
        </p:nvSpPr>
        <p:spPr>
          <a:xfrm>
            <a:off x="713232" y="5266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1" name="Text 29"/>
          <p:cNvSpPr txBox="1"/>
          <p:nvPr/>
        </p:nvSpPr>
        <p:spPr>
          <a:xfrm>
            <a:off x="1261872" y="5212080"/>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Q3: why distill?</a:t>
            </a:r>
            <a:endParaRPr lang="en-US" sz="1500" dirty="0"/>
          </a:p>
        </p:txBody>
      </p:sp>
      <p:sp>
        <p:nvSpPr>
          <p:cNvPr id="32" name="Text 30"/>
          <p:cNvSpPr txBox="1"/>
          <p:nvPr/>
        </p:nvSpPr>
        <p:spPr>
          <a:xfrm>
            <a:off x="3611880" y="5212080"/>
            <a:ext cx="2286000" cy="493776"/>
          </a:xfrm>
          <a:prstGeom prst="rect">
            <a:avLst/>
          </a:prstGeom>
          <a:noFill/>
          <a:ln/>
        </p:spPr>
        <p:txBody>
          <a:bodyPr wrap="square" lIns="0" tIns="0" rIns="0" bIns="0" rtlCol="0" anchor="ctr"/>
          <a:lstStyle/>
          <a:p>
            <a:pPr indent="0" marL="0">
              <a:buNone/>
            </a:pPr>
            <a:r>
              <a:rPr lang="en-US" sz="1200" dirty="0">
                <a:solidFill>
                  <a:srgbClr val="3C4A57"/>
                </a:solidFill>
              </a:rPr>
              <a:t>RISE-inspired, residual RL, best-of-N, demo-only</a:t>
            </a:r>
            <a:endParaRPr lang="en-US" sz="1200" dirty="0"/>
          </a:p>
        </p:txBody>
      </p:sp>
      <p:sp>
        <p:nvSpPr>
          <p:cNvPr id="33" name="ag6"/>
          <p:cNvSpPr/>
          <p:nvPr/>
        </p:nvSpPr>
        <p:spPr>
          <a:xfrm>
            <a:off x="6172200" y="1188720"/>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34" name="badge"/>
          <p:cNvSpPr/>
          <p:nvPr/>
        </p:nvSpPr>
        <p:spPr>
          <a:xfrm>
            <a:off x="6336792" y="1335024"/>
            <a:ext cx="384048" cy="384048"/>
          </a:xfrm>
          <a:prstGeom prst="ellipse">
            <a:avLst/>
          </a:prstGeom>
          <a:solidFill>
            <a:srgbClr val="E8962E"/>
          </a:solidFill>
          <a:ln w="12700">
            <a:solidFill>
              <a:srgbClr val="E8962E"/>
            </a:solidFill>
            <a:prstDash val="solid"/>
          </a:ln>
        </p:spPr>
      </p:sp>
      <p:sp>
        <p:nvSpPr>
          <p:cNvPr id="35" name="Text 33"/>
          <p:cNvSpPr txBox="1"/>
          <p:nvPr/>
        </p:nvSpPr>
        <p:spPr>
          <a:xfrm>
            <a:off x="6336792" y="133502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7</a:t>
            </a:r>
            <a:endParaRPr lang="en-US" sz="1400" dirty="0"/>
          </a:p>
        </p:txBody>
      </p:sp>
      <p:sp>
        <p:nvSpPr>
          <p:cNvPr id="36" name="Text 34"/>
          <p:cNvSpPr txBox="1"/>
          <p:nvPr/>
        </p:nvSpPr>
        <p:spPr>
          <a:xfrm>
            <a:off x="6885432" y="1280160"/>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Nominal preservation</a:t>
            </a:r>
            <a:endParaRPr lang="en-US" sz="1500" dirty="0"/>
          </a:p>
        </p:txBody>
      </p:sp>
      <p:sp>
        <p:nvSpPr>
          <p:cNvPr id="37" name="Text 35"/>
          <p:cNvSpPr txBox="1"/>
          <p:nvPr/>
        </p:nvSpPr>
        <p:spPr>
          <a:xfrm>
            <a:off x="9235440" y="1280160"/>
            <a:ext cx="2286000" cy="493776"/>
          </a:xfrm>
          <a:prstGeom prst="rect">
            <a:avLst/>
          </a:prstGeom>
          <a:noFill/>
          <a:ln/>
        </p:spPr>
        <p:txBody>
          <a:bodyPr wrap="square" lIns="0" tIns="0" rIns="0" bIns="0" rtlCol="0" anchor="ctr"/>
          <a:lstStyle/>
          <a:p>
            <a:pPr indent="0" marL="0">
              <a:buNone/>
            </a:pPr>
            <a:r>
              <a:rPr lang="en-US" sz="1200" dirty="0">
                <a:solidFill>
                  <a:srgbClr val="3C4A57"/>
                </a:solidFill>
              </a:rPr>
              <a:t>recovery-ratio Pareto, L_preserve</a:t>
            </a:r>
            <a:endParaRPr lang="en-US" sz="1200" dirty="0"/>
          </a:p>
        </p:txBody>
      </p:sp>
      <p:sp>
        <p:nvSpPr>
          <p:cNvPr id="38" name="ag7"/>
          <p:cNvSpPr/>
          <p:nvPr/>
        </p:nvSpPr>
        <p:spPr>
          <a:xfrm>
            <a:off x="6172200" y="1975104"/>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39" name="badge"/>
          <p:cNvSpPr/>
          <p:nvPr/>
        </p:nvSpPr>
        <p:spPr>
          <a:xfrm>
            <a:off x="6336792" y="2121408"/>
            <a:ext cx="384048" cy="384048"/>
          </a:xfrm>
          <a:prstGeom prst="ellipse">
            <a:avLst/>
          </a:prstGeom>
          <a:solidFill>
            <a:srgbClr val="E8962E"/>
          </a:solidFill>
          <a:ln w="12700">
            <a:solidFill>
              <a:srgbClr val="E8962E"/>
            </a:solidFill>
            <a:prstDash val="solid"/>
          </a:ln>
        </p:spPr>
      </p:sp>
      <p:sp>
        <p:nvSpPr>
          <p:cNvPr id="40" name="Text 38"/>
          <p:cNvSpPr txBox="1"/>
          <p:nvPr/>
        </p:nvSpPr>
        <p:spPr>
          <a:xfrm>
            <a:off x="6336792" y="212140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8</a:t>
            </a:r>
            <a:endParaRPr lang="en-US" sz="1400" dirty="0"/>
          </a:p>
        </p:txBody>
      </p:sp>
      <p:sp>
        <p:nvSpPr>
          <p:cNvPr id="41" name="Text 39"/>
          <p:cNvSpPr txBox="1"/>
          <p:nvPr/>
        </p:nvSpPr>
        <p:spPr>
          <a:xfrm>
            <a:off x="6885432" y="2066544"/>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Generalization</a:t>
            </a:r>
            <a:endParaRPr lang="en-US" sz="1500" dirty="0"/>
          </a:p>
        </p:txBody>
      </p:sp>
      <p:sp>
        <p:nvSpPr>
          <p:cNvPr id="42" name="Text 40"/>
          <p:cNvSpPr txBox="1"/>
          <p:nvPr/>
        </p:nvSpPr>
        <p:spPr>
          <a:xfrm>
            <a:off x="9235440" y="2066544"/>
            <a:ext cx="2286000" cy="493776"/>
          </a:xfrm>
          <a:prstGeom prst="rect">
            <a:avLst/>
          </a:prstGeom>
          <a:noFill/>
          <a:ln/>
        </p:spPr>
        <p:txBody>
          <a:bodyPr wrap="square" lIns="0" tIns="0" rIns="0" bIns="0" rtlCol="0" anchor="ctr"/>
          <a:lstStyle/>
          <a:p>
            <a:pPr indent="0" marL="0">
              <a:buNone/>
            </a:pPr>
            <a:r>
              <a:rPr lang="en-US" sz="1200" dirty="0">
                <a:solidFill>
                  <a:srgbClr val="3C4A57"/>
                </a:solidFill>
              </a:rPr>
              <a:t>LIBERO-Object, frozen recipe</a:t>
            </a:r>
            <a:endParaRPr lang="en-US" sz="1200" dirty="0"/>
          </a:p>
        </p:txBody>
      </p:sp>
      <p:sp>
        <p:nvSpPr>
          <p:cNvPr id="43" name="ag8"/>
          <p:cNvSpPr/>
          <p:nvPr/>
        </p:nvSpPr>
        <p:spPr>
          <a:xfrm>
            <a:off x="6172200" y="2761488"/>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4" name="badge"/>
          <p:cNvSpPr/>
          <p:nvPr/>
        </p:nvSpPr>
        <p:spPr>
          <a:xfrm>
            <a:off x="6336792" y="2907792"/>
            <a:ext cx="384048" cy="384048"/>
          </a:xfrm>
          <a:prstGeom prst="ellipse">
            <a:avLst/>
          </a:prstGeom>
          <a:solidFill>
            <a:srgbClr val="3C4A57"/>
          </a:solidFill>
          <a:ln w="12700">
            <a:solidFill>
              <a:srgbClr val="3C4A57"/>
            </a:solidFill>
            <a:prstDash val="solid"/>
          </a:ln>
        </p:spPr>
      </p:sp>
      <p:sp>
        <p:nvSpPr>
          <p:cNvPr id="45" name="Text 43"/>
          <p:cNvSpPr txBox="1"/>
          <p:nvPr/>
        </p:nvSpPr>
        <p:spPr>
          <a:xfrm>
            <a:off x="6336792" y="290779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9</a:t>
            </a:r>
            <a:endParaRPr lang="en-US" sz="1400" dirty="0"/>
          </a:p>
        </p:txBody>
      </p:sp>
      <p:sp>
        <p:nvSpPr>
          <p:cNvPr id="46" name="Text 44"/>
          <p:cNvSpPr txBox="1"/>
          <p:nvPr/>
        </p:nvSpPr>
        <p:spPr>
          <a:xfrm>
            <a:off x="6885432" y="2852928"/>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Qualitative</a:t>
            </a:r>
            <a:endParaRPr lang="en-US" sz="1500" dirty="0"/>
          </a:p>
        </p:txBody>
      </p:sp>
      <p:sp>
        <p:nvSpPr>
          <p:cNvPr id="47" name="Text 45"/>
          <p:cNvSpPr txBox="1"/>
          <p:nvPr/>
        </p:nvSpPr>
        <p:spPr>
          <a:xfrm>
            <a:off x="9235440" y="2852928"/>
            <a:ext cx="2286000" cy="493776"/>
          </a:xfrm>
          <a:prstGeom prst="rect">
            <a:avLst/>
          </a:prstGeom>
          <a:noFill/>
          <a:ln/>
        </p:spPr>
        <p:txBody>
          <a:bodyPr wrap="square" lIns="0" tIns="0" rIns="0" bIns="0" rtlCol="0" anchor="ctr"/>
          <a:lstStyle/>
          <a:p>
            <a:pPr indent="0" marL="0">
              <a:buNone/>
            </a:pPr>
            <a:r>
              <a:rPr lang="en-US" sz="1200" dirty="0">
                <a:solidFill>
                  <a:srgbClr val="3C4A57"/>
                </a:solidFill>
              </a:rPr>
              <a:t>clickable videos: A / B / C explainers, end-to-end</a:t>
            </a:r>
            <a:endParaRPr lang="en-US" sz="1200" dirty="0"/>
          </a:p>
        </p:txBody>
      </p:sp>
      <p:sp>
        <p:nvSpPr>
          <p:cNvPr id="48" name="ag9"/>
          <p:cNvSpPr/>
          <p:nvPr/>
        </p:nvSpPr>
        <p:spPr>
          <a:xfrm>
            <a:off x="6172200" y="3547872"/>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9" name="badge"/>
          <p:cNvSpPr/>
          <p:nvPr/>
        </p:nvSpPr>
        <p:spPr>
          <a:xfrm>
            <a:off x="6336792" y="3694176"/>
            <a:ext cx="384048" cy="384048"/>
          </a:xfrm>
          <a:prstGeom prst="ellipse">
            <a:avLst/>
          </a:prstGeom>
          <a:solidFill>
            <a:srgbClr val="3C4A57"/>
          </a:solidFill>
          <a:ln w="12700">
            <a:solidFill>
              <a:srgbClr val="3C4A57"/>
            </a:solidFill>
            <a:prstDash val="solid"/>
          </a:ln>
        </p:spPr>
      </p:sp>
      <p:sp>
        <p:nvSpPr>
          <p:cNvPr id="50" name="Text 48"/>
          <p:cNvSpPr txBox="1"/>
          <p:nvPr/>
        </p:nvSpPr>
        <p:spPr>
          <a:xfrm>
            <a:off x="6336792" y="3694176"/>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10</a:t>
            </a:r>
            <a:endParaRPr lang="en-US" sz="1400" dirty="0"/>
          </a:p>
        </p:txBody>
      </p:sp>
      <p:sp>
        <p:nvSpPr>
          <p:cNvPr id="51" name="Text 49"/>
          <p:cNvSpPr txBox="1"/>
          <p:nvPr/>
        </p:nvSpPr>
        <p:spPr>
          <a:xfrm>
            <a:off x="6885432" y="3639312"/>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Related work</a:t>
            </a:r>
            <a:endParaRPr lang="en-US" sz="1500" dirty="0"/>
          </a:p>
        </p:txBody>
      </p:sp>
      <p:sp>
        <p:nvSpPr>
          <p:cNvPr id="52" name="Text 50"/>
          <p:cNvSpPr txBox="1"/>
          <p:nvPr/>
        </p:nvSpPr>
        <p:spPr>
          <a:xfrm>
            <a:off x="9235440" y="3639312"/>
            <a:ext cx="2286000" cy="493776"/>
          </a:xfrm>
          <a:prstGeom prst="rect">
            <a:avLst/>
          </a:prstGeom>
          <a:noFill/>
          <a:ln/>
        </p:spPr>
        <p:txBody>
          <a:bodyPr wrap="square" lIns="0" tIns="0" rIns="0" bIns="0" rtlCol="0" anchor="ctr"/>
          <a:lstStyle/>
          <a:p>
            <a:pPr indent="0" marL="0">
              <a:buNone/>
            </a:pPr>
            <a:r>
              <a:rPr lang="en-US" sz="1200" dirty="0">
                <a:solidFill>
                  <a:srgbClr val="3C4A57"/>
                </a:solidFill>
              </a:rPr>
              <a:t>comparison table + method figures</a:t>
            </a:r>
            <a:endParaRPr lang="en-US" sz="1200" dirty="0"/>
          </a:p>
        </p:txBody>
      </p:sp>
      <p:sp>
        <p:nvSpPr>
          <p:cNvPr id="53" name="ag10"/>
          <p:cNvSpPr/>
          <p:nvPr/>
        </p:nvSpPr>
        <p:spPr>
          <a:xfrm>
            <a:off x="6172200" y="4334256"/>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4" name="badge"/>
          <p:cNvSpPr/>
          <p:nvPr/>
        </p:nvSpPr>
        <p:spPr>
          <a:xfrm>
            <a:off x="6336792" y="4480560"/>
            <a:ext cx="384048" cy="384048"/>
          </a:xfrm>
          <a:prstGeom prst="ellipse">
            <a:avLst/>
          </a:prstGeom>
          <a:solidFill>
            <a:srgbClr val="3C4A57"/>
          </a:solidFill>
          <a:ln w="12700">
            <a:solidFill>
              <a:srgbClr val="3C4A57"/>
            </a:solidFill>
            <a:prstDash val="solid"/>
          </a:ln>
        </p:spPr>
      </p:sp>
      <p:sp>
        <p:nvSpPr>
          <p:cNvPr id="55" name="Text 53"/>
          <p:cNvSpPr txBox="1"/>
          <p:nvPr/>
        </p:nvSpPr>
        <p:spPr>
          <a:xfrm>
            <a:off x="6336792" y="448056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11</a:t>
            </a:r>
            <a:endParaRPr lang="en-US" sz="1400" dirty="0"/>
          </a:p>
        </p:txBody>
      </p:sp>
      <p:sp>
        <p:nvSpPr>
          <p:cNvPr id="56" name="Text 54"/>
          <p:cNvSpPr txBox="1"/>
          <p:nvPr/>
        </p:nvSpPr>
        <p:spPr>
          <a:xfrm>
            <a:off x="6885432" y="4425696"/>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Limitations</a:t>
            </a:r>
            <a:endParaRPr lang="en-US" sz="1500" dirty="0"/>
          </a:p>
        </p:txBody>
      </p:sp>
      <p:sp>
        <p:nvSpPr>
          <p:cNvPr id="57" name="Text 55"/>
          <p:cNvSpPr txBox="1"/>
          <p:nvPr/>
        </p:nvSpPr>
        <p:spPr>
          <a:xfrm>
            <a:off x="9235440" y="4425696"/>
            <a:ext cx="2286000" cy="493776"/>
          </a:xfrm>
          <a:prstGeom prst="rect">
            <a:avLst/>
          </a:prstGeom>
          <a:noFill/>
          <a:ln/>
        </p:spPr>
        <p:txBody>
          <a:bodyPr wrap="square" lIns="0" tIns="0" rIns="0" bIns="0" rtlCol="0" anchor="ctr"/>
          <a:lstStyle/>
          <a:p>
            <a:pPr indent="0" marL="0">
              <a:buNone/>
            </a:pPr>
            <a:r>
              <a:rPr lang="en-US" sz="1200" dirty="0">
                <a:solidFill>
                  <a:srgbClr val="3C4A57"/>
                </a:solidFill>
              </a:rPr>
              <a:t>honest negatives</a:t>
            </a:r>
            <a:endParaRPr lang="en-US" sz="1200" dirty="0"/>
          </a:p>
        </p:txBody>
      </p:sp>
      <p:sp>
        <p:nvSpPr>
          <p:cNvPr id="58" name="ag11"/>
          <p:cNvSpPr/>
          <p:nvPr/>
        </p:nvSpPr>
        <p:spPr>
          <a:xfrm>
            <a:off x="6172200" y="5120640"/>
            <a:ext cx="5440680" cy="676656"/>
          </a:xfrm>
          <a:prstGeom prst="roundRect">
            <a:avLst>
              <a:gd name="adj" fmla="val 108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9" name="badge"/>
          <p:cNvSpPr/>
          <p:nvPr/>
        </p:nvSpPr>
        <p:spPr>
          <a:xfrm>
            <a:off x="6336792" y="5266944"/>
            <a:ext cx="384048" cy="384048"/>
          </a:xfrm>
          <a:prstGeom prst="ellipse">
            <a:avLst/>
          </a:prstGeom>
          <a:solidFill>
            <a:srgbClr val="3C4A57"/>
          </a:solidFill>
          <a:ln w="12700">
            <a:solidFill>
              <a:srgbClr val="3C4A57"/>
            </a:solidFill>
            <a:prstDash val="solid"/>
          </a:ln>
        </p:spPr>
      </p:sp>
      <p:sp>
        <p:nvSpPr>
          <p:cNvPr id="60" name="Text 58"/>
          <p:cNvSpPr txBox="1"/>
          <p:nvPr/>
        </p:nvSpPr>
        <p:spPr>
          <a:xfrm>
            <a:off x="6336792" y="5266944"/>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12</a:t>
            </a:r>
            <a:endParaRPr lang="en-US" sz="1400" dirty="0"/>
          </a:p>
        </p:txBody>
      </p:sp>
      <p:sp>
        <p:nvSpPr>
          <p:cNvPr id="61" name="Text 59"/>
          <p:cNvSpPr txBox="1"/>
          <p:nvPr/>
        </p:nvSpPr>
        <p:spPr>
          <a:xfrm>
            <a:off x="6885432" y="5212080"/>
            <a:ext cx="2377440" cy="493776"/>
          </a:xfrm>
          <a:prstGeom prst="rect">
            <a:avLst/>
          </a:prstGeom>
          <a:noFill/>
          <a:ln/>
        </p:spPr>
        <p:txBody>
          <a:bodyPr wrap="square" lIns="0" tIns="0" rIns="0" bIns="0" rtlCol="0" anchor="ctr"/>
          <a:lstStyle/>
          <a:p>
            <a:pPr indent="0" marL="0">
              <a:buNone/>
            </a:pPr>
            <a:r>
              <a:rPr lang="en-US" sz="1500" b="1" dirty="0">
                <a:solidFill>
                  <a:srgbClr val="23303B"/>
                </a:solidFill>
              </a:rPr>
              <a:t>Plan and decisions</a:t>
            </a:r>
            <a:endParaRPr lang="en-US" sz="1500" dirty="0"/>
          </a:p>
        </p:txBody>
      </p:sp>
      <p:sp>
        <p:nvSpPr>
          <p:cNvPr id="62" name="Text 60"/>
          <p:cNvSpPr txBox="1"/>
          <p:nvPr/>
        </p:nvSpPr>
        <p:spPr>
          <a:xfrm>
            <a:off x="9235440" y="5212080"/>
            <a:ext cx="2286000" cy="493776"/>
          </a:xfrm>
          <a:prstGeom prst="rect">
            <a:avLst/>
          </a:prstGeom>
          <a:noFill/>
          <a:ln/>
        </p:spPr>
        <p:txBody>
          <a:bodyPr wrap="square" lIns="0" tIns="0" rIns="0" bIns="0" rtlCol="0" anchor="ctr"/>
          <a:lstStyle/>
          <a:p>
            <a:pPr indent="0" marL="0">
              <a:buNone/>
            </a:pPr>
            <a:r>
              <a:rPr lang="en-US" sz="1200" dirty="0">
                <a:solidFill>
                  <a:srgbClr val="3C4A57"/>
                </a:solidFill>
              </a:rPr>
              <a:t>P-list, scale plan, open questions</a:t>
            </a:r>
            <a:endParaRPr lang="en-US" sz="1200" dirty="0"/>
          </a:p>
        </p:txBody>
      </p:sp>
      <p:sp>
        <p:nvSpPr>
          <p:cNvPr id="63" name="Text 61"/>
          <p:cNvSpPr txBox="1"/>
          <p:nvPr/>
        </p:nvSpPr>
        <p:spPr>
          <a:xfrm>
            <a:off x="548640" y="5989320"/>
            <a:ext cx="11064240" cy="320040"/>
          </a:xfrm>
          <a:prstGeom prst="rect">
            <a:avLst/>
          </a:prstGeom>
          <a:noFill/>
          <a:ln/>
        </p:spPr>
        <p:txBody>
          <a:bodyPr wrap="square" lIns="0" tIns="0" rIns="0" bIns="0" rtlCol="0" anchor="t"/>
          <a:lstStyle/>
          <a:p>
            <a:pPr indent="0" marL="0">
              <a:buNone/>
            </a:pPr>
            <a:r>
              <a:rPr lang="en-US" sz="1300" i="1" dirty="0">
                <a:solidFill>
                  <a:srgbClr val="6B7785"/>
                </a:solidFill>
              </a:rPr>
              <a:t>Appendix: the full M0-M5 slides (oracle search, world model, critic, M5 search arms and SFT) are kept after the plan.</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Problem and framing</a:t>
            </a:r>
            <a:endParaRPr lang="en-US" sz="3000" dirty="0"/>
          </a:p>
        </p:txBody>
      </p:sp>
      <p:sp>
        <p:nvSpPr>
          <p:cNvPr id="3" name="q"/>
          <p:cNvSpPr/>
          <p:nvPr/>
        </p:nvSpPr>
        <p:spPr>
          <a:xfrm>
            <a:off x="548640" y="1143000"/>
            <a:ext cx="11064240" cy="960120"/>
          </a:xfrm>
          <a:prstGeom prst="roundRect">
            <a:avLst>
              <a:gd name="adj" fmla="val 7619"/>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4" name="Text 2"/>
          <p:cNvSpPr txBox="1"/>
          <p:nvPr/>
        </p:nvSpPr>
        <p:spPr>
          <a:xfrm>
            <a:off x="777240" y="1234440"/>
            <a:ext cx="10607040" cy="777240"/>
          </a:xfrm>
          <a:prstGeom prst="rect">
            <a:avLst/>
          </a:prstGeom>
          <a:noFill/>
          <a:ln/>
        </p:spPr>
        <p:txBody>
          <a:bodyPr wrap="square" lIns="0" tIns="0" rIns="0" bIns="0" rtlCol="0" anchor="ctr"/>
          <a:lstStyle/>
          <a:p>
            <a:pPr indent="0" marL="0">
              <a:buNone/>
            </a:pPr>
            <a:r>
              <a:rPr lang="en-US" sz="1500" i="1" dirty="0">
                <a:solidFill>
                  <a:srgbClr val="23303B"/>
                </a:solidFill>
              </a:rPr>
              <a:t>Given a pretrained VLA and a compatible world model, can we search for recovery actions that return the robot to states from which the ORIGINAL policy resumes successfully, and distill them into the policy without sacrificing nominal performance?</a:t>
            </a:r>
            <a:endParaRPr lang="en-US" sz="1500" dirty="0"/>
          </a:p>
        </p:txBody>
      </p:sp>
      <p:pic>
        <p:nvPicPr>
          <p:cNvPr id="5" name="pipeline_overview.png" descr="RetryVLA pipeline overview">    </p:cNvPr>
          <p:cNvPicPr>
            <a:picLocks noChangeAspect="1"/>
          </p:cNvPicPr>
          <p:nvPr/>
        </p:nvPicPr>
        <p:blipFill>
          <a:blip r:embed="rId1"/>
          <a:stretch>
            <a:fillRect/>
          </a:stretch>
        </p:blipFill>
        <p:spPr>
          <a:xfrm>
            <a:off x="548640" y="2291450"/>
            <a:ext cx="6766560" cy="3692421"/>
          </a:xfrm>
          <a:prstGeom prst="rect">
            <a:avLst/>
          </a:prstGeom>
        </p:spPr>
      </p:pic>
      <p:sp>
        <p:nvSpPr>
          <p:cNvPr id="6" name="Text 3"/>
          <p:cNvSpPr txBox="1"/>
          <p:nvPr/>
        </p:nvSpPr>
        <p:spPr>
          <a:xfrm>
            <a:off x="548640" y="6035040"/>
            <a:ext cx="6766560" cy="274320"/>
          </a:xfrm>
          <a:prstGeom prst="rect">
            <a:avLst/>
          </a:prstGeom>
          <a:noFill/>
          <a:ln/>
        </p:spPr>
        <p:txBody>
          <a:bodyPr wrap="square" lIns="0" tIns="0" rIns="0" bIns="0" rtlCol="0" anchor="t"/>
          <a:lstStyle/>
          <a:p>
            <a:pPr indent="0" marL="0">
              <a:buNone/>
            </a:pPr>
            <a:r>
              <a:rPr lang="en-US" sz="1100" i="1" dirty="0">
                <a:solidFill>
                  <a:srgbClr val="6B7785"/>
                </a:solidFill>
              </a:rPr>
              <a:t>Pipeline as built in M1-M5 (numbers in the figure are the M1-era ones; current pi1: RSR 0.418 ± 0.021)</a:t>
            </a:r>
            <a:endParaRPr lang="en-US" sz="1100" dirty="0"/>
          </a:p>
        </p:txBody>
      </p:sp>
      <p:sp>
        <p:nvSpPr>
          <p:cNvPr id="7" name="mod0"/>
          <p:cNvSpPr/>
          <p:nvPr/>
        </p:nvSpPr>
        <p:spPr>
          <a:xfrm>
            <a:off x="7589520" y="2286000"/>
            <a:ext cx="4023360" cy="1783080"/>
          </a:xfrm>
          <a:prstGeom prst="roundRect">
            <a:avLst>
              <a:gd name="adj" fmla="val 4103"/>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8" name="Text 5"/>
          <p:cNvSpPr txBox="1"/>
          <p:nvPr/>
        </p:nvSpPr>
        <p:spPr>
          <a:xfrm>
            <a:off x="7772400" y="2395728"/>
            <a:ext cx="3657600" cy="365760"/>
          </a:xfrm>
          <a:prstGeom prst="rect">
            <a:avLst/>
          </a:prstGeom>
          <a:noFill/>
          <a:ln/>
        </p:spPr>
        <p:txBody>
          <a:bodyPr wrap="square" lIns="0" tIns="0" rIns="0" bIns="0" rtlCol="0" anchor="t"/>
          <a:lstStyle/>
          <a:p>
            <a:pPr indent="0" marL="0">
              <a:buNone/>
            </a:pPr>
            <a:r>
              <a:rPr lang="en-US" sz="1500" b="1" dirty="0">
                <a:solidFill>
                  <a:srgbClr val="E8962E"/>
                </a:solidFill>
              </a:rPr>
              <a:t>M-A  Policy-aware recovery planner</a:t>
            </a:r>
            <a:endParaRPr lang="en-US" sz="1500" dirty="0"/>
          </a:p>
        </p:txBody>
      </p:sp>
      <p:sp>
        <p:nvSpPr>
          <p:cNvPr id="9" name="Text 6"/>
          <p:cNvSpPr txBox="1"/>
          <p:nvPr/>
        </p:nvSpPr>
        <p:spPr>
          <a:xfrm>
            <a:off x="7772400" y="2816352"/>
            <a:ext cx="3703320" cy="1188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frozen pi + WM + failure state → 50-step bridge</a:t>
            </a:r>
            <a:endParaRPr lang="en-US" sz="1200" dirty="0"/>
          </a:p>
          <a:p>
            <a:pPr marL="342900" indent="-342900">
              <a:spcAft>
                <a:spcPts val="600"/>
              </a:spcAft>
              <a:buSzPct val="100000"/>
              <a:buChar char="•"/>
            </a:pPr>
            <a:r>
              <a:rPr lang="en-US" sz="1200" dirty="0">
                <a:solidFill>
                  <a:srgbClr val="3C4A57"/>
                </a:solidFill>
              </a:rPr>
              <a:t>maximize C^pi(ŝ_H) − λ·cost − β·uncertainty</a:t>
            </a:r>
            <a:endParaRPr lang="en-US" sz="1200" dirty="0"/>
          </a:p>
          <a:p>
            <a:pPr marL="342900" indent="-342900">
              <a:spcAft>
                <a:spcPts val="600"/>
              </a:spcAft>
              <a:buSzPct val="100000"/>
              <a:buChar char="•"/>
            </a:pPr>
            <a:r>
              <a:rPr lang="en-US" sz="1200" dirty="0">
                <a:solidFill>
                  <a:srgbClr val="3C4A57"/>
                </a:solidFill>
              </a:rPr>
              <a:t>C^pi trained only on real continuations of pi; verify every bridge in sim</a:t>
            </a:r>
            <a:endParaRPr lang="en-US" sz="1200" dirty="0"/>
          </a:p>
        </p:txBody>
      </p:sp>
      <p:sp>
        <p:nvSpPr>
          <p:cNvPr id="10" name="mod1"/>
          <p:cNvSpPr/>
          <p:nvPr/>
        </p:nvSpPr>
        <p:spPr>
          <a:xfrm>
            <a:off x="7589520" y="4206240"/>
            <a:ext cx="4023360" cy="1783080"/>
          </a:xfrm>
          <a:prstGeom prst="roundRect">
            <a:avLst>
              <a:gd name="adj" fmla="val 4103"/>
            </a:avLst>
          </a:prstGeom>
          <a:solidFill>
            <a:srgbClr val="E0F2EF"/>
          </a:solidFill>
          <a:ln w="12700">
            <a:solidFill>
              <a:srgbClr val="E0F2EF"/>
            </a:solidFill>
            <a:prstDash val="solid"/>
          </a:ln>
          <a:effectLst>
            <a:outerShdw sx="100000" sy="100000" kx="0" ky="0" algn="bl" rotWithShape="0" blurRad="76200" dist="25400" dir="5400000">
              <a:srgbClr val="23303B">
                <a:alpha val="12000"/>
              </a:srgbClr>
            </a:outerShdw>
          </a:effectLst>
        </p:spPr>
      </p:sp>
      <p:sp>
        <p:nvSpPr>
          <p:cNvPr id="11" name="Text 8"/>
          <p:cNvSpPr txBox="1"/>
          <p:nvPr/>
        </p:nvSpPr>
        <p:spPr>
          <a:xfrm>
            <a:off x="7772400" y="4315968"/>
            <a:ext cx="3657600" cy="365760"/>
          </a:xfrm>
          <a:prstGeom prst="rect">
            <a:avLst/>
          </a:prstGeom>
          <a:noFill/>
          <a:ln/>
        </p:spPr>
        <p:txBody>
          <a:bodyPr wrap="square" lIns="0" tIns="0" rIns="0" bIns="0" rtlCol="0" anchor="t"/>
          <a:lstStyle/>
          <a:p>
            <a:pPr indent="0" marL="0">
              <a:buNone/>
            </a:pPr>
            <a:r>
              <a:rPr lang="en-US" sz="1500" b="1" dirty="0">
                <a:solidFill>
                  <a:srgbClr val="2A9D8F"/>
                </a:solidFill>
              </a:rPr>
              <a:t>M-B  Recovery-preserving distillation</a:t>
            </a:r>
            <a:endParaRPr lang="en-US" sz="1500" dirty="0"/>
          </a:p>
        </p:txBody>
      </p:sp>
      <p:sp>
        <p:nvSpPr>
          <p:cNvPr id="12" name="Text 9"/>
          <p:cNvSpPr txBox="1"/>
          <p:nvPr/>
        </p:nvSpPr>
        <p:spPr>
          <a:xfrm>
            <a:off x="7772400" y="4736592"/>
            <a:ext cx="3703320" cy="11887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verified bridges + nominal replay → pi'</a:t>
            </a:r>
            <a:endParaRPr lang="en-US" sz="1200" dirty="0"/>
          </a:p>
          <a:p>
            <a:pPr marL="342900" indent="-342900">
              <a:spcAft>
                <a:spcPts val="600"/>
              </a:spcAft>
              <a:buSzPct val="100000"/>
              <a:buChar char="•"/>
            </a:pPr>
            <a:r>
              <a:rPr lang="en-US" sz="1200" dirty="0">
                <a:solidFill>
                  <a:srgbClr val="3C4A57"/>
                </a:solidFill>
              </a:rPr>
              <a:t>goal: RSR up, NSR(pi') ≥ NSR(pi) − 2 pt</a:t>
            </a:r>
            <a:endParaRPr lang="en-US" sz="1200" dirty="0"/>
          </a:p>
          <a:p>
            <a:pPr marL="342900" indent="-342900">
              <a:spcAft>
                <a:spcPts val="600"/>
              </a:spcAft>
              <a:buSzPct val="100000"/>
              <a:buChar char="•"/>
            </a:pPr>
            <a:r>
              <a:rPr lang="en-US" sz="1200" dirty="0">
                <a:solidFill>
                  <a:srgbClr val="3C4A57"/>
                </a:solidFill>
              </a:rPr>
              <a:t>pre-registered, tested over ≥ 3 seeds</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Timeline: what each milestone answered</a:t>
            </a:r>
            <a:endParaRPr lang="en-US" sz="30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1371600"/>
                <a:gridCol w="3383280"/>
                <a:gridCol w="3108960"/>
                <a:gridCol w="3200400"/>
              </a:tblGrid>
              <a:tr h="374904">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milestone</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question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answer</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key number</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can pi0 recover?</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almost never</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RSR 0.118, nominal 0.656</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M1</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distill oracle-search recoveries?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yes, ~2× RSR</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0.286 (CEM) / 0.279 (random)</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M2-M3</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latent WM + critic; better than random?</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yes, on 53 hard failures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solved 0.36 vs 0.17</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M5 / M5b-c</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WM data vs random data; search arms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WM diverse wins; round-robin = pi1</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solved 0.547 vs 0.363; pi1 0.439 (s0)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M6</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loop pi1 → pi2</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no gain beyond more training</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0.463 vs control 0.480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M7 / M8</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weak tasks (stove, cookie box)</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no transfer / data skew</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M8 0.457 vs 0.504</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M9</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why competence, WM, distill; 3 seeds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competence ≫ goal; WM ≈ real prefix</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pi1 0.418 ± 0.021; 0.417 vs 0.187</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M10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LIBERO-Object, frozen recipe</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distill + competence replicate</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comp 0.354 vs demo-only 0.173</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M11</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WM plans without the library?</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not yet</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0.398 vs 0.458 solved</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B2-B4 (P2)</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policy-grounding or any value?</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policy-grounding (pi0 labels)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progress 0.213 vs C^pi 0.480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B3.2 / B3.3</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imagination-only; residual RL</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below pi0; kills nominal</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0.068-0.113; 0.295 / nom 0.022</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74904">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P3</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recovery-nominal Pareto</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r 0.5 best inside eps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r 0.7: 0.436 but nominal 0.766</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Setting: benchmark, policy, compute</a:t>
            </a:r>
            <a:endParaRPr lang="en-US" sz="3000" dirty="0"/>
          </a:p>
        </p:txBody>
      </p:sp>
      <p:sp>
        <p:nvSpPr>
          <p:cNvPr id="3" name="col0"/>
          <p:cNvSpPr/>
          <p:nvPr/>
        </p:nvSpPr>
        <p:spPr>
          <a:xfrm>
            <a:off x="548640" y="1280160"/>
            <a:ext cx="3520440" cy="4480560"/>
          </a:xfrm>
          <a:prstGeom prst="roundRect">
            <a:avLst>
              <a:gd name="adj" fmla="val 2078"/>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Shape 2"/>
          <p:cNvSpPr/>
          <p:nvPr/>
        </p:nvSpPr>
        <p:spPr>
          <a:xfrm>
            <a:off x="777240" y="1508760"/>
            <a:ext cx="292608" cy="292608"/>
          </a:xfrm>
          <a:prstGeom prst="ellipse">
            <a:avLst/>
          </a:prstGeom>
          <a:solidFill>
            <a:srgbClr val="1F8FE5"/>
          </a:solidFill>
          <a:ln w="12700">
            <a:solidFill>
              <a:srgbClr val="1F8FE5"/>
            </a:solidFill>
            <a:prstDash val="solid"/>
          </a:ln>
        </p:spPr>
      </p:sp>
      <p:sp>
        <p:nvSpPr>
          <p:cNvPr id="5" name="Text 3"/>
          <p:cNvSpPr txBox="1"/>
          <p:nvPr/>
        </p:nvSpPr>
        <p:spPr>
          <a:xfrm>
            <a:off x="1188720" y="1481328"/>
            <a:ext cx="2743200" cy="365760"/>
          </a:xfrm>
          <a:prstGeom prst="rect">
            <a:avLst/>
          </a:prstGeom>
          <a:noFill/>
          <a:ln/>
        </p:spPr>
        <p:txBody>
          <a:bodyPr wrap="square" lIns="0" tIns="0" rIns="0" bIns="0" rtlCol="0" anchor="t"/>
          <a:lstStyle/>
          <a:p>
            <a:pPr indent="0" marL="0">
              <a:buNone/>
            </a:pPr>
            <a:r>
              <a:rPr lang="en-US" sz="2000" b="1" dirty="0">
                <a:solidFill>
                  <a:srgbClr val="23303B"/>
                </a:solidFill>
              </a:rPr>
              <a:t>Benchmark</a:t>
            </a:r>
            <a:endParaRPr lang="en-US" sz="2000" dirty="0"/>
          </a:p>
        </p:txBody>
      </p:sp>
      <p:sp>
        <p:nvSpPr>
          <p:cNvPr id="6" name="Text 4"/>
          <p:cNvSpPr txBox="1"/>
          <p:nvPr/>
        </p:nvSpPr>
        <p:spPr>
          <a:xfrm>
            <a:off x="822960" y="2057400"/>
            <a:ext cx="3063240" cy="3566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LIBERO-Recover, Spatial suite</a:t>
            </a:r>
            <a:endParaRPr lang="en-US" sz="1400" dirty="0"/>
          </a:p>
          <a:p>
            <a:pPr marL="342900" indent="-342900">
              <a:spcAft>
                <a:spcPts val="600"/>
              </a:spcAft>
              <a:buSzPct val="100000"/>
              <a:buChar char="•"/>
            </a:pPr>
            <a:r>
              <a:rPr lang="en-US" sz="1400" dirty="0">
                <a:solidFill>
                  <a:srgbClr val="3C4A57"/>
                </a:solidFill>
              </a:rPr>
              <a:t>168 failure scenes, 84 failed episodes, 9 tasks</a:t>
            </a:r>
            <a:endParaRPr lang="en-US" sz="1400" dirty="0"/>
          </a:p>
          <a:p>
            <a:pPr marL="342900" indent="-342900">
              <a:spcAft>
                <a:spcPts val="600"/>
              </a:spcAft>
              <a:buSzPct val="100000"/>
              <a:buChar char="•"/>
            </a:pPr>
            <a:r>
              <a:rPr lang="en-US" sz="1400" dirty="0">
                <a:solidFill>
                  <a:srgbClr val="3C4A57"/>
                </a:solidFill>
              </a:rPr>
              <a:t>official protocol: 5 closed-gripper + 5 open-gripper trials, ±2 cm object noise, 520 steps</a:t>
            </a:r>
            <a:endParaRPr lang="en-US" sz="1400" dirty="0"/>
          </a:p>
          <a:p>
            <a:pPr marL="342900" indent="-342900">
              <a:spcAft>
                <a:spcPts val="600"/>
              </a:spcAft>
              <a:buSzPct val="100000"/>
              <a:buChar char="•"/>
            </a:pPr>
            <a:r>
              <a:rPr lang="en-US" sz="1400" dirty="0">
                <a:solidFill>
                  <a:srgbClr val="3C4A57"/>
                </a:solidFill>
              </a:rPr>
              <a:t>metric: Recovery Success Rate (RSR); nominal SR on LIBERO-Spatial 10 × 50</a:t>
            </a:r>
            <a:endParaRPr lang="en-US" sz="1400" dirty="0"/>
          </a:p>
          <a:p>
            <a:pPr marL="342900" indent="-342900">
              <a:spcAft>
                <a:spcPts val="600"/>
              </a:spcAft>
              <a:buSzPct val="100000"/>
              <a:buChar char="•"/>
            </a:pPr>
            <a:r>
              <a:rPr lang="en-US" sz="1400" dirty="0">
                <a:solidFill>
                  <a:srgbClr val="3C4A57"/>
                </a:solidFill>
              </a:rPr>
              <a:t>held-out: LIBERO-Object, 26 test scenes, recipe frozen</a:t>
            </a:r>
            <a:endParaRPr lang="en-US" sz="1400" dirty="0"/>
          </a:p>
        </p:txBody>
      </p:sp>
      <p:sp>
        <p:nvSpPr>
          <p:cNvPr id="7" name="col1"/>
          <p:cNvSpPr/>
          <p:nvPr/>
        </p:nvSpPr>
        <p:spPr>
          <a:xfrm>
            <a:off x="4297680" y="1280160"/>
            <a:ext cx="3520440" cy="4480560"/>
          </a:xfrm>
          <a:prstGeom prst="roundRect">
            <a:avLst>
              <a:gd name="adj" fmla="val 2078"/>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8" name="Shape 6"/>
          <p:cNvSpPr/>
          <p:nvPr/>
        </p:nvSpPr>
        <p:spPr>
          <a:xfrm>
            <a:off x="4526280" y="1508760"/>
            <a:ext cx="292608" cy="292608"/>
          </a:xfrm>
          <a:prstGeom prst="ellipse">
            <a:avLst/>
          </a:prstGeom>
          <a:solidFill>
            <a:srgbClr val="E8962E"/>
          </a:solidFill>
          <a:ln w="12700">
            <a:solidFill>
              <a:srgbClr val="E8962E"/>
            </a:solidFill>
            <a:prstDash val="solid"/>
          </a:ln>
        </p:spPr>
      </p:sp>
      <p:sp>
        <p:nvSpPr>
          <p:cNvPr id="9" name="Text 7"/>
          <p:cNvSpPr txBox="1"/>
          <p:nvPr/>
        </p:nvSpPr>
        <p:spPr>
          <a:xfrm>
            <a:off x="4937760" y="1481328"/>
            <a:ext cx="2743200" cy="365760"/>
          </a:xfrm>
          <a:prstGeom prst="rect">
            <a:avLst/>
          </a:prstGeom>
          <a:noFill/>
          <a:ln/>
        </p:spPr>
        <p:txBody>
          <a:bodyPr wrap="square" lIns="0" tIns="0" rIns="0" bIns="0" rtlCol="0" anchor="t"/>
          <a:lstStyle/>
          <a:p>
            <a:pPr indent="0" marL="0">
              <a:buNone/>
            </a:pPr>
            <a:r>
              <a:rPr lang="en-US" sz="2000" b="1" dirty="0">
                <a:solidFill>
                  <a:srgbClr val="23303B"/>
                </a:solidFill>
              </a:rPr>
              <a:t>Policy</a:t>
            </a:r>
            <a:endParaRPr lang="en-US" sz="2000" dirty="0"/>
          </a:p>
        </p:txBody>
      </p:sp>
      <p:sp>
        <p:nvSpPr>
          <p:cNvPr id="10" name="Text 8"/>
          <p:cNvSpPr txBox="1"/>
          <p:nvPr/>
        </p:nvSpPr>
        <p:spPr>
          <a:xfrm>
            <a:off x="4572000" y="2057400"/>
            <a:ext cx="3063240" cy="3566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SmolVLA, checkpoint HuggingFaceVLA/smolvla_libero (450M)</a:t>
            </a:r>
            <a:endParaRPr lang="en-US" sz="1400" dirty="0"/>
          </a:p>
          <a:p>
            <a:pPr marL="342900" indent="-342900">
              <a:spcAft>
                <a:spcPts val="600"/>
              </a:spcAft>
              <a:buSzPct val="100000"/>
              <a:buChar char="•"/>
            </a:pPr>
            <a:r>
              <a:rPr lang="en-US" sz="1400" dirty="0">
                <a:solidFill>
                  <a:srgbClr val="3C4A57"/>
                </a:solidFill>
              </a:rPr>
              <a:t>chunk 50 actions, replan every 10</a:t>
            </a:r>
            <a:endParaRPr lang="en-US" sz="1400" dirty="0"/>
          </a:p>
          <a:p>
            <a:pPr marL="342900" indent="-342900">
              <a:spcAft>
                <a:spcPts val="600"/>
              </a:spcAft>
              <a:buSzPct val="100000"/>
              <a:buChar char="•"/>
            </a:pPr>
            <a:r>
              <a:rPr lang="en-US" sz="1400" dirty="0">
                <a:solidFill>
                  <a:srgbClr val="3C4A57"/>
                </a:solidFill>
              </a:rPr>
              <a:t>7-D OSC delta actions, gripper ±1</a:t>
            </a:r>
            <a:endParaRPr lang="en-US" sz="1400" dirty="0"/>
          </a:p>
          <a:p>
            <a:pPr marL="342900" indent="-342900">
              <a:spcAft>
                <a:spcPts val="600"/>
              </a:spcAft>
              <a:buSzPct val="100000"/>
              <a:buChar char="•"/>
            </a:pPr>
            <a:r>
              <a:rPr lang="en-US" sz="1400" dirty="0">
                <a:solidFill>
                  <a:srgbClr val="3C4A57"/>
                </a:solidFill>
              </a:rPr>
              <a:t>pi0 = checkpoint as-is; pi1 = after recovery fine-tuning</a:t>
            </a:r>
            <a:endParaRPr lang="en-US" sz="1400" dirty="0"/>
          </a:p>
        </p:txBody>
      </p:sp>
      <p:sp>
        <p:nvSpPr>
          <p:cNvPr id="11" name="col2"/>
          <p:cNvSpPr/>
          <p:nvPr/>
        </p:nvSpPr>
        <p:spPr>
          <a:xfrm>
            <a:off x="8046720" y="1280160"/>
            <a:ext cx="3520440" cy="4480560"/>
          </a:xfrm>
          <a:prstGeom prst="roundRect">
            <a:avLst>
              <a:gd name="adj" fmla="val 2078"/>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2" name="Shape 10"/>
          <p:cNvSpPr/>
          <p:nvPr/>
        </p:nvSpPr>
        <p:spPr>
          <a:xfrm>
            <a:off x="8275320" y="1508760"/>
            <a:ext cx="292608" cy="292608"/>
          </a:xfrm>
          <a:prstGeom prst="ellipse">
            <a:avLst/>
          </a:prstGeom>
          <a:solidFill>
            <a:srgbClr val="2A9D8F"/>
          </a:solidFill>
          <a:ln w="12700">
            <a:solidFill>
              <a:srgbClr val="2A9D8F"/>
            </a:solidFill>
            <a:prstDash val="solid"/>
          </a:ln>
        </p:spPr>
      </p:sp>
      <p:sp>
        <p:nvSpPr>
          <p:cNvPr id="13" name="Text 11"/>
          <p:cNvSpPr txBox="1"/>
          <p:nvPr/>
        </p:nvSpPr>
        <p:spPr>
          <a:xfrm>
            <a:off x="8686800" y="1481328"/>
            <a:ext cx="2743200" cy="365760"/>
          </a:xfrm>
          <a:prstGeom prst="rect">
            <a:avLst/>
          </a:prstGeom>
          <a:noFill/>
          <a:ln/>
        </p:spPr>
        <p:txBody>
          <a:bodyPr wrap="square" lIns="0" tIns="0" rIns="0" bIns="0" rtlCol="0" anchor="t"/>
          <a:lstStyle/>
          <a:p>
            <a:pPr indent="0" marL="0">
              <a:buNone/>
            </a:pPr>
            <a:r>
              <a:rPr lang="en-US" sz="2000" b="1" dirty="0">
                <a:solidFill>
                  <a:srgbClr val="23303B"/>
                </a:solidFill>
              </a:rPr>
              <a:t>Compute</a:t>
            </a:r>
            <a:endParaRPr lang="en-US" sz="2000" dirty="0"/>
          </a:p>
        </p:txBody>
      </p:sp>
      <p:sp>
        <p:nvSpPr>
          <p:cNvPr id="14" name="Text 12"/>
          <p:cNvSpPr txBox="1"/>
          <p:nvPr/>
        </p:nvSpPr>
        <p:spPr>
          <a:xfrm>
            <a:off x="8321040" y="2057400"/>
            <a:ext cx="3063240" cy="3566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1 local A100 + idle A100s borrowed from other shells (avoid-list)</a:t>
            </a:r>
            <a:endParaRPr lang="en-US" sz="1400" dirty="0"/>
          </a:p>
          <a:p>
            <a:pPr marL="342900" indent="-342900">
              <a:spcAft>
                <a:spcPts val="600"/>
              </a:spcAft>
              <a:buSzPct val="100000"/>
              <a:buChar char="•"/>
            </a:pPr>
            <a:r>
              <a:rPr lang="en-US" sz="1400" dirty="0">
                <a:solidFill>
                  <a:srgbClr val="3C4A57"/>
                </a:solidFill>
              </a:rPr>
              <a:t>MuJoCo rendered on GPU (user-local NVIDIA EGL), ~20 ms/step</a:t>
            </a:r>
            <a:endParaRPr lang="en-US" sz="1400" dirty="0"/>
          </a:p>
          <a:p>
            <a:pPr marL="342900" indent="-342900">
              <a:spcAft>
                <a:spcPts val="600"/>
              </a:spcAft>
              <a:buSzPct val="100000"/>
              <a:buChar char="•"/>
            </a:pPr>
            <a:r>
              <a:rPr lang="en-US" sz="1400" dirty="0">
                <a:solidFill>
                  <a:srgbClr val="3C4A57"/>
                </a:solidFill>
              </a:rPr>
              <a:t>bit-exact sim snapshots for branching</a:t>
            </a:r>
            <a:endParaRPr lang="en-US" sz="1400" dirty="0"/>
          </a:p>
          <a:p>
            <a:pPr marL="342900" indent="-342900">
              <a:spcAft>
                <a:spcPts val="600"/>
              </a:spcAft>
              <a:buSzPct val="100000"/>
              <a:buChar char="•"/>
            </a:pPr>
            <a:r>
              <a:rPr lang="en-US" sz="1400" dirty="0">
                <a:solidFill>
                  <a:srgbClr val="3C4A57"/>
                </a:solidFill>
              </a:rPr>
              <a:t>all runs tracked: config, git sha, metrics, registry</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What a LIBERO-Recover failure state looks like</a:t>
            </a:r>
            <a:endParaRPr lang="en-US" sz="3000" dirty="0"/>
          </a:p>
        </p:txBody>
      </p:sp>
      <p:pic>
        <p:nvPicPr>
          <p:cNvPr id="3" name="failure_grid.png" descr="20 restored failure states">    </p:cNvPr>
          <p:cNvPicPr>
            <a:picLocks noChangeAspect="1"/>
          </p:cNvPicPr>
          <p:nvPr/>
        </p:nvPicPr>
        <p:blipFill>
          <a:blip r:embed="rId1"/>
          <a:stretch>
            <a:fillRect/>
          </a:stretch>
        </p:blipFill>
        <p:spPr>
          <a:xfrm>
            <a:off x="548640" y="1316736"/>
            <a:ext cx="5852160" cy="4681728"/>
          </a:xfrm>
          <a:prstGeom prst="rect">
            <a:avLst/>
          </a:prstGeom>
        </p:spPr>
      </p:pic>
      <p:sp>
        <p:nvSpPr>
          <p:cNvPr id="4" name="explain"/>
          <p:cNvSpPr/>
          <p:nvPr/>
        </p:nvSpPr>
        <p:spPr>
          <a:xfrm>
            <a:off x="6766560" y="1188720"/>
            <a:ext cx="4846320" cy="4937760"/>
          </a:xfrm>
          <a:prstGeom prst="roundRect">
            <a:avLst>
              <a:gd name="adj" fmla="val 1509"/>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7040880" y="1417320"/>
            <a:ext cx="4389120" cy="822960"/>
          </a:xfrm>
          <a:prstGeom prst="rect">
            <a:avLst/>
          </a:prstGeom>
          <a:noFill/>
          <a:ln/>
        </p:spPr>
        <p:txBody>
          <a:bodyPr wrap="square" lIns="0" tIns="0" rIns="0" bIns="0" rtlCol="0" anchor="t"/>
          <a:lstStyle/>
          <a:p>
            <a:pPr indent="0" marL="0">
              <a:buNone/>
            </a:pPr>
            <a:r>
              <a:rPr lang="en-US" sz="1600" b="1" dirty="0">
                <a:solidFill>
                  <a:srgbClr val="23303B"/>
                </a:solidFill>
              </a:rPr>
              <a:t>Each scene = a .bddl task + the exact physics state recorded when SmolVLA was failing</a:t>
            </a:r>
            <a:endParaRPr lang="en-US" sz="1600" dirty="0"/>
          </a:p>
        </p:txBody>
      </p:sp>
      <p:sp>
        <p:nvSpPr>
          <p:cNvPr id="6" name="Text 3"/>
          <p:cNvSpPr txBox="1"/>
          <p:nvPr/>
        </p:nvSpPr>
        <p:spPr>
          <a:xfrm>
            <a:off x="7040880" y="2377440"/>
            <a:ext cx="4389120" cy="356616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bowl half-grasped, pushed off the plate, stuck in a drawer, arm in an odd pose</a:t>
            </a:r>
            <a:endParaRPr lang="en-US" sz="1400" dirty="0"/>
          </a:p>
          <a:p>
            <a:pPr marL="342900" indent="-342900">
              <a:spcAft>
                <a:spcPts val="600"/>
              </a:spcAft>
              <a:buSzPct val="100000"/>
              <a:buChar char="•"/>
            </a:pPr>
            <a:r>
              <a:rPr lang="en-US" sz="1400" dirty="0">
                <a:solidFill>
                  <a:srgbClr val="3C4A57"/>
                </a:solidFill>
              </a:rPr>
              <a:t>the gripper is forced closed in half of the trials: an initial state SmolVLA never saw in training</a:t>
            </a:r>
            <a:endParaRPr lang="en-US" sz="1400" dirty="0"/>
          </a:p>
          <a:p>
            <a:pPr marL="342900" indent="-342900">
              <a:spcAft>
                <a:spcPts val="600"/>
              </a:spcAft>
              <a:buSzPct val="100000"/>
              <a:buChar char="•"/>
            </a:pPr>
            <a:r>
              <a:rPr lang="en-US" sz="1400" dirty="0">
                <a:solidFill>
                  <a:srgbClr val="3C4A57"/>
                </a:solidFill>
              </a:rPr>
              <a:t>restore is bit-exact: state, controller, observables. The same actions always give the same pixels</a:t>
            </a:r>
            <a:endParaRPr lang="en-US" sz="1400" dirty="0"/>
          </a:p>
          <a:p>
            <a:pPr marL="342900" indent="-342900">
              <a:spcAft>
                <a:spcPts val="600"/>
              </a:spcAft>
              <a:buSzPct val="100000"/>
              <a:buChar char="•"/>
            </a:pPr>
            <a:r>
              <a:rPr lang="en-US" sz="1400" dirty="0">
                <a:solidFill>
                  <a:srgbClr val="3C4A57"/>
                </a:solidFill>
              </a:rPr>
              <a:t>no L1-L4 difficulty labels released yet</a:t>
            </a:r>
            <a:endParaRPr lang="en-US" sz="1400" dirty="0"/>
          </a:p>
        </p:txBody>
      </p:sp>
      <p:sp>
        <p:nvSpPr>
          <p:cNvPr id="7" name="Text 4"/>
          <p:cNvSpPr txBox="1"/>
          <p:nvPr/>
        </p:nvSpPr>
        <p:spPr>
          <a:xfrm>
            <a:off x="548640" y="6144768"/>
            <a:ext cx="5852160" cy="274320"/>
          </a:xfrm>
          <a:prstGeom prst="rect">
            <a:avLst/>
          </a:prstGeom>
          <a:noFill/>
          <a:ln/>
        </p:spPr>
        <p:txBody>
          <a:bodyPr wrap="square" lIns="0" tIns="0" rIns="0" bIns="0" rtlCol="0" anchor="t"/>
          <a:lstStyle/>
          <a:p>
            <a:pPr indent="0" marL="0">
              <a:buNone/>
            </a:pPr>
            <a:r>
              <a:rPr lang="en-US" sz="1100" i="1" dirty="0">
                <a:solidFill>
                  <a:srgbClr val="6B7785"/>
                </a:solidFill>
              </a:rPr>
              <a:t>20 restored failure states (agent camera), M0b check: 20/20 deterministic</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Train / pilot / test split, grouped by failure episode</a:t>
            </a:r>
            <a:endParaRPr lang="en-US" sz="3000" dirty="0"/>
          </a:p>
        </p:txBody>
      </p:sp>
      <p:pic>
        <p:nvPicPr>
          <p:cNvPr id="3" name="split.png" descr="scenes per task and split">    </p:cNvPr>
          <p:cNvPicPr>
            <a:picLocks noChangeAspect="1"/>
          </p:cNvPicPr>
          <p:nvPr/>
        </p:nvPicPr>
        <p:blipFill>
          <a:blip r:embed="rId1"/>
          <a:stretch>
            <a:fillRect/>
          </a:stretch>
        </p:blipFill>
        <p:spPr>
          <a:xfrm>
            <a:off x="548640" y="1692843"/>
            <a:ext cx="6766560" cy="3472314"/>
          </a:xfrm>
          <a:prstGeom prst="rect">
            <a:avLst/>
          </a:prstGeom>
        </p:spPr>
      </p:pic>
      <p:sp>
        <p:nvSpPr>
          <p:cNvPr id="4" name="Text 1"/>
          <p:cNvSpPr txBox="1"/>
          <p:nvPr/>
        </p:nvSpPr>
        <p:spPr>
          <a:xfrm>
            <a:off x="7772400" y="1371600"/>
            <a:ext cx="3840480" cy="685800"/>
          </a:xfrm>
          <a:prstGeom prst="rect">
            <a:avLst/>
          </a:prstGeom>
          <a:noFill/>
          <a:ln/>
        </p:spPr>
        <p:txBody>
          <a:bodyPr wrap="square" lIns="0" tIns="0" rIns="0" bIns="0" rtlCol="0" anchor="t"/>
          <a:lstStyle/>
          <a:p>
            <a:pPr indent="0" marL="0">
              <a:buNone/>
            </a:pPr>
            <a:r>
              <a:rPr lang="en-US" sz="4000" b="1" dirty="0">
                <a:solidFill>
                  <a:srgbClr val="E8962E"/>
                </a:solidFill>
                <a:latin typeface="Times New Roman" pitchFamily="34" charset="0"/>
                <a:ea typeface="Times New Roman" pitchFamily="34" charset="-122"/>
                <a:cs typeface="Times New Roman" pitchFamily="34" charset="-120"/>
              </a:rPr>
              <a:t>112</a:t>
            </a:r>
            <a:endParaRPr lang="en-US" sz="4000" dirty="0"/>
          </a:p>
        </p:txBody>
      </p:sp>
      <p:sp>
        <p:nvSpPr>
          <p:cNvPr id="5" name="Text 2"/>
          <p:cNvSpPr txBox="1"/>
          <p:nvPr/>
        </p:nvSpPr>
        <p:spPr>
          <a:xfrm>
            <a:off x="7772400" y="2084832"/>
            <a:ext cx="3840480" cy="548640"/>
          </a:xfrm>
          <a:prstGeom prst="rect">
            <a:avLst/>
          </a:prstGeom>
          <a:noFill/>
          <a:ln/>
        </p:spPr>
        <p:txBody>
          <a:bodyPr wrap="square" lIns="0" tIns="0" rIns="0" bIns="0" rtlCol="0" anchor="t"/>
          <a:lstStyle/>
          <a:p>
            <a:pPr indent="0" marL="0">
              <a:buNone/>
            </a:pPr>
            <a:r>
              <a:rPr lang="en-US" sz="1200" dirty="0">
                <a:solidFill>
                  <a:srgbClr val="6B7785"/>
                </a:solidFill>
              </a:rPr>
              <a:t>train scenes (search, WM data, SFT)</a:t>
            </a:r>
            <a:endParaRPr lang="en-US" sz="1200" dirty="0"/>
          </a:p>
        </p:txBody>
      </p:sp>
      <p:sp>
        <p:nvSpPr>
          <p:cNvPr id="6" name="Text 3"/>
          <p:cNvSpPr txBox="1"/>
          <p:nvPr/>
        </p:nvSpPr>
        <p:spPr>
          <a:xfrm>
            <a:off x="7772400" y="2697480"/>
            <a:ext cx="3840480" cy="685800"/>
          </a:xfrm>
          <a:prstGeom prst="rect">
            <a:avLst/>
          </a:prstGeom>
          <a:noFill/>
          <a:ln/>
        </p:spPr>
        <p:txBody>
          <a:bodyPr wrap="square" lIns="0" tIns="0" rIns="0" bIns="0" rtlCol="0" anchor="t"/>
          <a:lstStyle/>
          <a:p>
            <a:pPr indent="0" marL="0">
              <a:buNone/>
            </a:pPr>
            <a:r>
              <a:rPr lang="en-US" sz="4000" b="1" dirty="0">
                <a:solidFill>
                  <a:srgbClr val="E8962E"/>
                </a:solidFill>
                <a:latin typeface="Times New Roman" pitchFamily="34" charset="0"/>
                <a:ea typeface="Times New Roman" pitchFamily="34" charset="-122"/>
                <a:cs typeface="Times New Roman" pitchFamily="34" charset="-120"/>
              </a:rPr>
              <a:t>60</a:t>
            </a:r>
            <a:endParaRPr lang="en-US" sz="4000" dirty="0"/>
          </a:p>
        </p:txBody>
      </p:sp>
      <p:sp>
        <p:nvSpPr>
          <p:cNvPr id="7" name="Text 4"/>
          <p:cNvSpPr txBox="1"/>
          <p:nvPr/>
        </p:nvSpPr>
        <p:spPr>
          <a:xfrm>
            <a:off x="7772400" y="3410712"/>
            <a:ext cx="3840480" cy="548640"/>
          </a:xfrm>
          <a:prstGeom prst="rect">
            <a:avLst/>
          </a:prstGeom>
          <a:noFill/>
          <a:ln/>
        </p:spPr>
        <p:txBody>
          <a:bodyPr wrap="square" lIns="0" tIns="0" rIns="0" bIns="0" rtlCol="0" anchor="t"/>
          <a:lstStyle/>
          <a:p>
            <a:pPr indent="0" marL="0">
              <a:buNone/>
            </a:pPr>
            <a:r>
              <a:rPr lang="en-US" sz="1200" dirty="0">
                <a:solidFill>
                  <a:srgbClr val="6B7785"/>
                </a:solidFill>
              </a:rPr>
              <a:t>pilot scenes (subset of train, search targets)</a:t>
            </a:r>
            <a:endParaRPr lang="en-US" sz="1200" dirty="0"/>
          </a:p>
        </p:txBody>
      </p:sp>
      <p:sp>
        <p:nvSpPr>
          <p:cNvPr id="8" name="Text 5"/>
          <p:cNvSpPr txBox="1"/>
          <p:nvPr/>
        </p:nvSpPr>
        <p:spPr>
          <a:xfrm>
            <a:off x="7772400" y="4023360"/>
            <a:ext cx="3840480" cy="685800"/>
          </a:xfrm>
          <a:prstGeom prst="rect">
            <a:avLst/>
          </a:prstGeom>
          <a:noFill/>
          <a:ln/>
        </p:spPr>
        <p:txBody>
          <a:bodyPr wrap="square" lIns="0" tIns="0" rIns="0" bIns="0" rtlCol="0" anchor="t"/>
          <a:lstStyle/>
          <a:p>
            <a:pPr indent="0" marL="0">
              <a:buNone/>
            </a:pPr>
            <a:r>
              <a:rPr lang="en-US" sz="4000" b="1" dirty="0">
                <a:solidFill>
                  <a:srgbClr val="23303B"/>
                </a:solidFill>
                <a:latin typeface="Times New Roman" pitchFamily="34" charset="0"/>
                <a:ea typeface="Times New Roman" pitchFamily="34" charset="-122"/>
                <a:cs typeface="Times New Roman" pitchFamily="34" charset="-120"/>
              </a:rPr>
              <a:t>56</a:t>
            </a:r>
            <a:endParaRPr lang="en-US" sz="4000" dirty="0"/>
          </a:p>
        </p:txBody>
      </p:sp>
      <p:sp>
        <p:nvSpPr>
          <p:cNvPr id="9" name="Text 6"/>
          <p:cNvSpPr txBox="1"/>
          <p:nvPr/>
        </p:nvSpPr>
        <p:spPr>
          <a:xfrm>
            <a:off x="7772400" y="4736592"/>
            <a:ext cx="3840480" cy="548640"/>
          </a:xfrm>
          <a:prstGeom prst="rect">
            <a:avLst/>
          </a:prstGeom>
          <a:noFill/>
          <a:ln/>
        </p:spPr>
        <p:txBody>
          <a:bodyPr wrap="square" lIns="0" tIns="0" rIns="0" bIns="0" rtlCol="0" anchor="t"/>
          <a:lstStyle/>
          <a:p>
            <a:pPr indent="0" marL="0">
              <a:buNone/>
            </a:pPr>
            <a:r>
              <a:rPr lang="en-US" sz="1200" dirty="0">
                <a:solidFill>
                  <a:srgbClr val="6B7785"/>
                </a:solidFill>
              </a:rPr>
              <a:t>test scenes: never searched, never trained on</a:t>
            </a:r>
            <a:endParaRPr lang="en-US" sz="1200" dirty="0"/>
          </a:p>
        </p:txBody>
      </p:sp>
      <p:sp>
        <p:nvSpPr>
          <p:cNvPr id="10" name="Text 7"/>
          <p:cNvSpPr txBox="1"/>
          <p:nvPr/>
        </p:nvSpPr>
        <p:spPr>
          <a:xfrm>
            <a:off x="548640" y="5760720"/>
            <a:ext cx="11064240" cy="548640"/>
          </a:xfrm>
          <a:prstGeom prst="rect">
            <a:avLst/>
          </a:prstGeom>
          <a:noFill/>
          <a:ln/>
        </p:spPr>
        <p:txBody>
          <a:bodyPr wrap="square" lIns="0" tIns="0" rIns="0" bIns="0" rtlCol="0" anchor="t"/>
          <a:lstStyle/>
          <a:p>
            <a:pPr indent="0" marL="0">
              <a:buNone/>
            </a:pPr>
            <a:r>
              <a:rPr lang="en-US" sz="1300" dirty="0">
                <a:solidFill>
                  <a:srgbClr val="3C4A57"/>
                </a:solidFill>
              </a:rPr>
              <a:t>step_0180 and step_0200 of one failed episode are near-duplicates, so they always stay in the same split. Code asserts test scenes never enter search or training.</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Statistics: cluster bootstrap over scenes and seeds</a:t>
            </a:r>
            <a:endParaRPr lang="en-US" sz="3000" dirty="0"/>
          </a:p>
        </p:txBody>
      </p:sp>
      <p:pic>
        <p:nvPicPr>
          <p:cNvPr id="3" name="rev_forest.png" descr="forest plot of key paired comparisons">    </p:cNvPr>
          <p:cNvPicPr>
            <a:picLocks noChangeAspect="1"/>
          </p:cNvPicPr>
          <p:nvPr/>
        </p:nvPicPr>
        <p:blipFill>
          <a:blip r:embed="rId1"/>
          <a:stretch>
            <a:fillRect/>
          </a:stretch>
        </p:blipFill>
        <p:spPr>
          <a:xfrm>
            <a:off x="548640" y="1241261"/>
            <a:ext cx="7315200" cy="3323919"/>
          </a:xfrm>
          <a:prstGeom prst="rect">
            <a:avLst/>
          </a:prstGeom>
        </p:spPr>
      </p:pic>
      <p:sp>
        <p:nvSpPr>
          <p:cNvPr id="4" name="Text 1"/>
          <p:cNvSpPr txBox="1"/>
          <p:nvPr/>
        </p:nvSpPr>
        <p:spPr>
          <a:xfrm>
            <a:off x="548640" y="4709160"/>
            <a:ext cx="7315200" cy="274320"/>
          </a:xfrm>
          <a:prstGeom prst="rect">
            <a:avLst/>
          </a:prstGeom>
          <a:noFill/>
          <a:ln/>
        </p:spPr>
        <p:txBody>
          <a:bodyPr wrap="square" lIns="0" tIns="0" rIns="0" bIns="0" rtlCol="0" anchor="t"/>
          <a:lstStyle/>
          <a:p>
            <a:pPr indent="0" marL="0">
              <a:buNone/>
            </a:pPr>
            <a:r>
              <a:rPr lang="en-US" sz="1100" i="1" dirty="0">
                <a:solidFill>
                  <a:srgbClr val="6B7785"/>
                </a:solidFill>
              </a:rPr>
              <a:t>Amber = our claims, grey = n.s. checks, red / blue = baselines vs pi1, teal = LIBERO-Object (held-out)</a:t>
            </a:r>
            <a:endParaRPr lang="en-US" sz="1100" dirty="0"/>
          </a:p>
        </p:txBody>
      </p:sp>
      <p:sp>
        <p:nvSpPr>
          <p:cNvPr id="5" name="stats"/>
          <p:cNvSpPr/>
          <p:nvPr/>
        </p:nvSpPr>
        <p:spPr>
          <a:xfrm>
            <a:off x="8138160" y="1143000"/>
            <a:ext cx="3474720" cy="5074920"/>
          </a:xfrm>
          <a:prstGeom prst="roundRect">
            <a:avLst>
              <a:gd name="adj" fmla="val 2105"/>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6" name="Text 3"/>
          <p:cNvSpPr txBox="1"/>
          <p:nvPr/>
        </p:nvSpPr>
        <p:spPr>
          <a:xfrm>
            <a:off x="8366760" y="1298448"/>
            <a:ext cx="3017520" cy="365760"/>
          </a:xfrm>
          <a:prstGeom prst="rect">
            <a:avLst/>
          </a:prstGeom>
          <a:noFill/>
          <a:ln/>
        </p:spPr>
        <p:txBody>
          <a:bodyPr wrap="square" lIns="0" tIns="0" rIns="0" bIns="0" rtlCol="0" anchor="t"/>
          <a:lstStyle/>
          <a:p>
            <a:pPr indent="0" marL="0">
              <a:buNone/>
            </a:pPr>
            <a:r>
              <a:rPr lang="en-US" sz="1700" b="1" dirty="0">
                <a:solidFill>
                  <a:srgbClr val="23303B"/>
                </a:solidFill>
              </a:rPr>
              <a:t>What changed</a:t>
            </a:r>
            <a:endParaRPr lang="en-US" sz="1700" dirty="0"/>
          </a:p>
        </p:txBody>
      </p:sp>
      <p:sp>
        <p:nvSpPr>
          <p:cNvPr id="7" name="Text 4"/>
          <p:cNvSpPr txBox="1"/>
          <p:nvPr/>
        </p:nvSpPr>
        <p:spPr>
          <a:xfrm>
            <a:off x="8366760" y="1737360"/>
            <a:ext cx="3063240" cy="438912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10 trials of a scene are not independent: unit = test scene (56) for policies, failure instance for search</a:t>
            </a:r>
            <a:endParaRPr lang="en-US" sz="1200" dirty="0"/>
          </a:p>
          <a:p>
            <a:pPr marL="342900" indent="-342900">
              <a:spcAft>
                <a:spcPts val="600"/>
              </a:spcAft>
              <a:buSzPct val="100000"/>
              <a:buChar char="•"/>
            </a:pPr>
            <a:r>
              <a:rPr lang="en-US" sz="1200" dirty="0">
                <a:solidFill>
                  <a:srgbClr val="3C4A57"/>
                </a:solidFill>
              </a:rPr>
              <a:t>CI = scene × training-seed bootstrap; p = paired sign-flip (policies) or exact McNemar (search)</a:t>
            </a:r>
            <a:endParaRPr lang="en-US" sz="1200" dirty="0"/>
          </a:p>
          <a:p>
            <a:pPr marL="342900" indent="-342900">
              <a:spcAft>
                <a:spcPts val="600"/>
              </a:spcAft>
              <a:buSzPct val="100000"/>
              <a:buChar char="•"/>
            </a:pPr>
            <a:r>
              <a:rPr lang="en-US" sz="1200" dirty="0">
                <a:solidFill>
                  <a:srgbClr val="3C4A57"/>
                </a:solidFill>
              </a:rPr>
              <a:t>effect: M5 WM vs random p 4e-7 (episode level) → 0.003 (scene level); still significant</a:t>
            </a:r>
            <a:endParaRPr lang="en-US" sz="1200" dirty="0"/>
          </a:p>
          <a:p>
            <a:pPr marL="342900" indent="-342900">
              <a:spcAft>
                <a:spcPts val="600"/>
              </a:spcAft>
              <a:buSzPct val="100000"/>
              <a:buChar char="•"/>
            </a:pPr>
            <a:r>
              <a:rPr lang="en-US" sz="1200" dirty="0">
                <a:solidFill>
                  <a:srgbClr val="3C4A57"/>
                </a:solidFill>
              </a:rPr>
              <a:t>3 seeds: pi1 0.439 / 0.396 / 0.420 = 0.418 ± 0.021; competence and goal SFT, M7 also ×3</a:t>
            </a:r>
            <a:endParaRPr lang="en-US" sz="1200" dirty="0"/>
          </a:p>
          <a:p>
            <a:pPr marL="342900" indent="-342900">
              <a:spcAft>
                <a:spcPts val="600"/>
              </a:spcAft>
              <a:buSzPct val="100000"/>
              <a:buChar char="•"/>
            </a:pPr>
            <a:r>
              <a:rPr lang="en-US" sz="1200" dirty="0">
                <a:solidFill>
                  <a:srgbClr val="3C4A57"/>
                </a:solidFill>
              </a:rPr>
              <a:t>Spatial test is a dev set from M7 on; clean numbers come from frozen Object</a:t>
            </a:r>
            <a:endParaRPr lang="en-US" sz="1200" dirty="0"/>
          </a:p>
        </p:txBody>
      </p:sp>
      <p:sp>
        <p:nvSpPr>
          <p:cNvPr id="8" name="statsrule"/>
          <p:cNvSpPr/>
          <p:nvPr/>
        </p:nvSpPr>
        <p:spPr>
          <a:xfrm>
            <a:off x="548640" y="5074920"/>
            <a:ext cx="7315200" cy="1143000"/>
          </a:xfrm>
          <a:prstGeom prst="roundRect">
            <a:avLst>
              <a:gd name="adj" fmla="val 6400"/>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9" name="Text 6"/>
          <p:cNvSpPr txBox="1"/>
          <p:nvPr/>
        </p:nvSpPr>
        <p:spPr>
          <a:xfrm>
            <a:off x="777240" y="5193792"/>
            <a:ext cx="6858000" cy="914400"/>
          </a:xfrm>
          <a:prstGeom prst="rect">
            <a:avLst/>
          </a:prstGeom>
          <a:noFill/>
          <a:ln/>
        </p:spPr>
        <p:txBody>
          <a:bodyPr wrap="square" lIns="0" tIns="0" rIns="0" bIns="0" rtlCol="0" anchor="ctr"/>
          <a:lstStyle/>
          <a:p>
            <a:pPr indent="0" marL="0">
              <a:buNone/>
            </a:pPr>
            <a:r>
              <a:rPr lang="en-US" sz="1300" dirty="0">
                <a:solidFill>
                  <a:srgbClr val="3C4A57"/>
                </a:solidFill>
              </a:rPr>
              <a:t>Rule we now apply: differences under ~4 pt RSR on 1 seed are noise; nominal is judged against the pre-registered eps = 2 pt with a 10-task bootstrap.</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Q1: why policy competence?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score a bridge by 'will THIS policy finish from here', not by goal distance or task progress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Q1: competence beats goal and progress, in search and after SFT</a:t>
            </a:r>
            <a:endParaRPr lang="en-US" sz="3000" dirty="0"/>
          </a:p>
        </p:txBody>
      </p:sp>
      <p:pic>
        <p:nvPicPr>
          <p:cNvPr id="3" name="rev_q1.png" descr="search solve rate per critic and test RSR per SFT data source">    </p:cNvPr>
          <p:cNvPicPr>
            <a:picLocks noChangeAspect="1"/>
          </p:cNvPicPr>
          <p:nvPr/>
        </p:nvPicPr>
        <p:blipFill>
          <a:blip r:embed="rId1"/>
          <a:stretch>
            <a:fillRect/>
          </a:stretch>
        </p:blipFill>
        <p:spPr>
          <a:xfrm>
            <a:off x="575565" y="1097280"/>
            <a:ext cx="11010389" cy="3931920"/>
          </a:xfrm>
          <a:prstGeom prst="rect">
            <a:avLst/>
          </a:prstGeom>
        </p:spPr>
      </p:pic>
      <p:sp>
        <p:nvSpPr>
          <p:cNvPr id="4" name="q1c0"/>
          <p:cNvSpPr/>
          <p:nvPr/>
        </p:nvSpPr>
        <p:spPr>
          <a:xfrm>
            <a:off x="548640" y="5120640"/>
            <a:ext cx="3566160" cy="1143000"/>
          </a:xfrm>
          <a:prstGeom prst="roundRect">
            <a:avLst>
              <a:gd name="adj" fmla="val 6400"/>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731520" y="5193792"/>
            <a:ext cx="3200400" cy="292608"/>
          </a:xfrm>
          <a:prstGeom prst="rect">
            <a:avLst/>
          </a:prstGeom>
          <a:noFill/>
          <a:ln/>
        </p:spPr>
        <p:txBody>
          <a:bodyPr wrap="square" lIns="0" tIns="0" rIns="0" bIns="0" rtlCol="0" anchor="t"/>
          <a:lstStyle/>
          <a:p>
            <a:pPr indent="0" marL="0">
              <a:buNone/>
            </a:pPr>
            <a:r>
              <a:rPr lang="en-US" sz="1400" b="1" dirty="0">
                <a:solidFill>
                  <a:srgbClr val="23303B"/>
                </a:solidFill>
              </a:rPr>
              <a:t>Search</a:t>
            </a:r>
            <a:endParaRPr lang="en-US" sz="1400" dirty="0"/>
          </a:p>
        </p:txBody>
      </p:sp>
      <p:sp>
        <p:nvSpPr>
          <p:cNvPr id="6" name="Text 3"/>
          <p:cNvSpPr txBox="1"/>
          <p:nvPr/>
        </p:nvSpPr>
        <p:spPr>
          <a:xfrm>
            <a:off x="731520" y="5486400"/>
            <a:ext cx="3246120" cy="731520"/>
          </a:xfrm>
          <a:prstGeom prst="rect">
            <a:avLst/>
          </a:prstGeom>
          <a:noFill/>
          <a:ln/>
        </p:spPr>
        <p:txBody>
          <a:bodyPr wrap="square" lIns="0" tIns="0" rIns="0" bIns="0" rtlCol="0" anchor="t"/>
          <a:lstStyle/>
          <a:p>
            <a:pPr indent="0" marL="0">
              <a:buNone/>
            </a:pPr>
            <a:r>
              <a:rPr lang="en-US" sz="1200" dirty="0">
                <a:solidFill>
                  <a:srgbClr val="3C4A57"/>
                </a:solidFill>
              </a:rPr>
              <a:t>C^pi v2 0.480 vs goal latent 0.240, progress critic 0.213, random 0.339 (16 sims / failure). Progress is worse than random.</a:t>
            </a:r>
            <a:endParaRPr lang="en-US" sz="1200" dirty="0"/>
          </a:p>
        </p:txBody>
      </p:sp>
      <p:sp>
        <p:nvSpPr>
          <p:cNvPr id="7" name="q1c1"/>
          <p:cNvSpPr/>
          <p:nvPr/>
        </p:nvSpPr>
        <p:spPr>
          <a:xfrm>
            <a:off x="4297680" y="5120640"/>
            <a:ext cx="3566160" cy="1143000"/>
          </a:xfrm>
          <a:prstGeom prst="roundRect">
            <a:avLst>
              <a:gd name="adj" fmla="val 6400"/>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8" name="Text 5"/>
          <p:cNvSpPr txBox="1"/>
          <p:nvPr/>
        </p:nvSpPr>
        <p:spPr>
          <a:xfrm>
            <a:off x="4480560" y="5193792"/>
            <a:ext cx="3200400" cy="292608"/>
          </a:xfrm>
          <a:prstGeom prst="rect">
            <a:avLst/>
          </a:prstGeom>
          <a:noFill/>
          <a:ln/>
        </p:spPr>
        <p:txBody>
          <a:bodyPr wrap="square" lIns="0" tIns="0" rIns="0" bIns="0" rtlCol="0" anchor="t"/>
          <a:lstStyle/>
          <a:p>
            <a:pPr indent="0" marL="0">
              <a:buNone/>
            </a:pPr>
            <a:r>
              <a:rPr lang="en-US" sz="1400" b="1" dirty="0">
                <a:solidFill>
                  <a:srgbClr val="23303B"/>
                </a:solidFill>
              </a:rPr>
              <a:t>SFT</a:t>
            </a:r>
            <a:endParaRPr lang="en-US" sz="1400" dirty="0"/>
          </a:p>
        </p:txBody>
      </p:sp>
      <p:sp>
        <p:nvSpPr>
          <p:cNvPr id="9" name="Text 6"/>
          <p:cNvSpPr txBox="1"/>
          <p:nvPr/>
        </p:nvSpPr>
        <p:spPr>
          <a:xfrm>
            <a:off x="4480560" y="5486400"/>
            <a:ext cx="3246120" cy="731520"/>
          </a:xfrm>
          <a:prstGeom prst="rect">
            <a:avLst/>
          </a:prstGeom>
          <a:noFill/>
          <a:ln/>
        </p:spPr>
        <p:txBody>
          <a:bodyPr wrap="square" lIns="0" tIns="0" rIns="0" bIns="0" rtlCol="0" anchor="t"/>
          <a:lstStyle/>
          <a:p>
            <a:pPr indent="0" marL="0">
              <a:buNone/>
            </a:pPr>
            <a:r>
              <a:rPr lang="en-US" sz="1200" dirty="0">
                <a:solidFill>
                  <a:srgbClr val="3C4A57"/>
                </a:solidFill>
              </a:rPr>
              <a:t>competence 0.417 ± 0.011 vs goal 0.187 ± 0.002 (3 seeds), +0.230 [+0.161, +0.298]; 47 / 56 scenes better.</a:t>
            </a:r>
            <a:endParaRPr lang="en-US" sz="1200" dirty="0"/>
          </a:p>
        </p:txBody>
      </p:sp>
      <p:sp>
        <p:nvSpPr>
          <p:cNvPr id="10" name="q1c2"/>
          <p:cNvSpPr/>
          <p:nvPr/>
        </p:nvSpPr>
        <p:spPr>
          <a:xfrm>
            <a:off x="8046720" y="5120640"/>
            <a:ext cx="3566160" cy="1143000"/>
          </a:xfrm>
          <a:prstGeom prst="roundRect">
            <a:avLst>
              <a:gd name="adj" fmla="val 6400"/>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1" name="Text 8"/>
          <p:cNvSpPr txBox="1"/>
          <p:nvPr/>
        </p:nvSpPr>
        <p:spPr>
          <a:xfrm>
            <a:off x="8229600" y="5193792"/>
            <a:ext cx="3200400" cy="292608"/>
          </a:xfrm>
          <a:prstGeom prst="rect">
            <a:avLst/>
          </a:prstGeom>
          <a:noFill/>
          <a:ln/>
        </p:spPr>
        <p:txBody>
          <a:bodyPr wrap="square" lIns="0" tIns="0" rIns="0" bIns="0" rtlCol="0" anchor="t"/>
          <a:lstStyle/>
          <a:p>
            <a:pPr indent="0" marL="0">
              <a:buNone/>
            </a:pPr>
            <a:r>
              <a:rPr lang="en-US" sz="1400" b="1" dirty="0">
                <a:solidFill>
                  <a:srgbClr val="23303B"/>
                </a:solidFill>
              </a:rPr>
              <a:t>Count-matched</a:t>
            </a:r>
            <a:endParaRPr lang="en-US" sz="1400" dirty="0"/>
          </a:p>
        </p:txBody>
      </p:sp>
      <p:sp>
        <p:nvSpPr>
          <p:cNvPr id="12" name="Text 9"/>
          <p:cNvSpPr txBox="1"/>
          <p:nvPr/>
        </p:nvSpPr>
        <p:spPr>
          <a:xfrm>
            <a:off x="8229600" y="5486400"/>
            <a:ext cx="3246120" cy="731520"/>
          </a:xfrm>
          <a:prstGeom prst="rect">
            <a:avLst/>
          </a:prstGeom>
          <a:noFill/>
          <a:ln/>
        </p:spPr>
        <p:txBody>
          <a:bodyPr wrap="square" lIns="0" tIns="0" rIns="0" bIns="0" rtlCol="0" anchor="t"/>
          <a:lstStyle/>
          <a:p>
            <a:pPr indent="0" marL="0">
              <a:buNone/>
            </a:pPr>
            <a:r>
              <a:rPr lang="en-US" sz="1200" dirty="0">
                <a:solidFill>
                  <a:srgbClr val="3C4A57"/>
                </a:solidFill>
              </a:rPr>
              <a:t>progress data 0.177 vs competence n=60 0.430 (nominal 0.774 vs 0.798); B4-success data 0.427 / 0.796.</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Q1: which critic? The gain comes from pi0 continuation labels</a:t>
            </a:r>
            <a:endParaRPr lang="en-US" sz="30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7223760" cy="914400"/>
        </p:xfrm>
        <a:graphic>
          <a:graphicData uri="http://schemas.openxmlformats.org/drawingml/2006/table">
            <a:tbl>
              <a:tblPr/>
              <a:tblGrid>
                <a:gridCol w="2240280"/>
                <a:gridCol w="2926080"/>
                <a:gridCol w="548640"/>
                <a:gridCol w="731520"/>
                <a:gridCol w="777240"/>
              </a:tblGrid>
              <a:tr h="429768">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critic (ranks WM-imagined candidates)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supervision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n</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solved</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latin typeface="Times New Roman" pitchFamily="34" charset="0"/>
                          <a:ea typeface="Times New Roman" pitchFamily="34" charset="-122"/>
                          <a:cs typeface="Times New Roman" pitchFamily="34" charset="-120"/>
                        </a:rPr>
                        <a:t>hits / sim</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r>
              <a:tr h="429768">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random (no WM)</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127</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0.339</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0.061</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goal latent (DINO-WM style)</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goal image latent, no critic</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125</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0.240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0.046</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B3 progress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demos + failure 0 + prefix 1</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127</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0.213</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0.038</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E8962E"/>
                          </a:solidFill>
                          <a:latin typeface="Times New Roman" pitchFamily="34" charset="0"/>
                          <a:ea typeface="Times New Roman" pitchFamily="34" charset="-122"/>
                          <a:cs typeface="Times New Roman" pitchFamily="34" charset="-120"/>
                        </a:rPr>
                        <a:t>C^pi v2 (PoC)</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pi0 continuations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127</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b="1" dirty="0">
                          <a:solidFill>
                            <a:srgbClr val="23303B"/>
                          </a:solidFill>
                          <a:latin typeface="Times New Roman" pitchFamily="34" charset="0"/>
                          <a:ea typeface="Times New Roman" pitchFamily="34" charset="-122"/>
                          <a:cs typeface="Times New Roman" pitchFamily="34" charset="-120"/>
                        </a:rPr>
                        <a:t>0.480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0.156</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B4 success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pi0 + pi1 + pi1more + demo (1/4 each)</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127</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b="1" dirty="0">
                          <a:solidFill>
                            <a:srgbClr val="23303B"/>
                          </a:solidFill>
                          <a:latin typeface="Times New Roman" pitchFamily="34" charset="0"/>
                          <a:ea typeface="Times New Roman" pitchFamily="34" charset="-122"/>
                          <a:cs typeface="Times New Roman" pitchFamily="34" charset="-120"/>
                        </a:rPr>
                        <a:t>0.559</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0.182</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29768">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B4-noPi0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pi1 + pi1more + demo, no pi0 labels</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129</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0.450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0.093</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29768">
                <a:tc>
                  <a:txBody>
                    <a:bodyPr/>
                    <a:lstStyle/>
                    <a:p>
                      <a:pPr indent="0" marL="0">
                        <a:buNone/>
                      </a:pPr>
                      <a:r>
                        <a:rPr lang="en-US" sz="1200" b="1" dirty="0">
                          <a:solidFill>
                            <a:srgbClr val="E8962E"/>
                          </a:solidFill>
                          <a:latin typeface="Times New Roman" pitchFamily="34" charset="0"/>
                          <a:ea typeface="Times New Roman" pitchFamily="34" charset="-122"/>
                          <a:cs typeface="Times New Roman" pitchFamily="34" charset="-120"/>
                        </a:rPr>
                        <a:t>Cpi-pool</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B4's pi0 labels only (7,160), B4 trainer</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129</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b="1" dirty="0">
                          <a:solidFill>
                            <a:srgbClr val="23303B"/>
                          </a:solidFill>
                          <a:latin typeface="Times New Roman" pitchFamily="34" charset="0"/>
                          <a:ea typeface="Times New Roman" pitchFamily="34" charset="-122"/>
                          <a:cs typeface="Times New Roman" pitchFamily="34" charset="-120"/>
                        </a:rPr>
                        <a:t>0.550</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latin typeface="Times New Roman" pitchFamily="34" charset="0"/>
                          <a:ea typeface="Times New Roman" pitchFamily="34" charset="-122"/>
                          <a:cs typeface="Times New Roman" pitchFamily="34" charset="-120"/>
                        </a:rPr>
                        <a:t>0.156</a:t>
                      </a:r>
                      <a:endParaRPr lang="en-US" sz="12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4754880"/>
            <a:ext cx="7223760" cy="274320"/>
          </a:xfrm>
          <a:prstGeom prst="rect">
            <a:avLst/>
          </a:prstGeom>
          <a:noFill/>
          <a:ln/>
        </p:spPr>
        <p:txBody>
          <a:bodyPr wrap="square" lIns="0" tIns="0" rIns="0" bIns="0" rtlCol="0" anchor="t"/>
          <a:lstStyle/>
          <a:p>
            <a:pPr indent="0" marL="0">
              <a:buNone/>
            </a:pPr>
            <a:r>
              <a:rPr lang="en-US" sz="1100" i="1" dirty="0">
                <a:solidFill>
                  <a:srgbClr val="6B7785"/>
                </a:solidFill>
              </a:rPr>
              <a:t>Same pi0 failures, proposal pool, WM v1 and 16 verified sims; only the critic changes</a:t>
            </a:r>
            <a:endParaRPr lang="en-US" sz="1100" dirty="0"/>
          </a:p>
        </p:txBody>
      </p:sp>
      <p:sp>
        <p:nvSpPr>
          <p:cNvPr id="5" name="b4read"/>
          <p:cNvSpPr/>
          <p:nvPr/>
        </p:nvSpPr>
        <p:spPr>
          <a:xfrm>
            <a:off x="8046720" y="1188720"/>
            <a:ext cx="3566160" cy="5029200"/>
          </a:xfrm>
          <a:prstGeom prst="roundRect">
            <a:avLst>
              <a:gd name="adj" fmla="val 2051"/>
            </a:avLst>
          </a:prstGeom>
          <a:solidFill>
            <a:srgbClr val="E0F2EF"/>
          </a:solidFill>
          <a:ln w="12700">
            <a:solidFill>
              <a:srgbClr val="E0F2EF"/>
            </a:solidFill>
            <a:prstDash val="solid"/>
          </a:ln>
          <a:effectLst>
            <a:outerShdw sx="100000" sy="100000" kx="0" ky="0" algn="bl" rotWithShape="0" blurRad="76200" dist="25400" dir="5400000">
              <a:srgbClr val="23303B">
                <a:alpha val="12000"/>
              </a:srgbClr>
            </a:outerShdw>
          </a:effectLst>
        </p:spPr>
      </p:sp>
      <p:sp>
        <p:nvSpPr>
          <p:cNvPr id="6" name="Text 3"/>
          <p:cNvSpPr txBox="1"/>
          <p:nvPr/>
        </p:nvSpPr>
        <p:spPr>
          <a:xfrm>
            <a:off x="8275320" y="1353312"/>
            <a:ext cx="3108960" cy="365760"/>
          </a:xfrm>
          <a:prstGeom prst="rect">
            <a:avLst/>
          </a:prstGeom>
          <a:noFill/>
          <a:ln/>
        </p:spPr>
        <p:txBody>
          <a:bodyPr wrap="square" lIns="0" tIns="0" rIns="0" bIns="0" rtlCol="0" anchor="t"/>
          <a:lstStyle/>
          <a:p>
            <a:pPr indent="0" marL="0">
              <a:buNone/>
            </a:pPr>
            <a:r>
              <a:rPr lang="en-US" sz="1700" b="1" dirty="0">
                <a:solidFill>
                  <a:srgbClr val="2A9D8F"/>
                </a:solidFill>
              </a:rPr>
              <a:t>Reading</a:t>
            </a:r>
            <a:endParaRPr lang="en-US" sz="1700" dirty="0"/>
          </a:p>
        </p:txBody>
      </p:sp>
      <p:sp>
        <p:nvSpPr>
          <p:cNvPr id="7" name="Text 4"/>
          <p:cNvSpPr txBox="1"/>
          <p:nvPr/>
        </p:nvSpPr>
        <p:spPr>
          <a:xfrm>
            <a:off x="8275320" y="1783080"/>
            <a:ext cx="3154680" cy="43434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B4 − B4-noPi0: +0.119 [+0.048, +0.198], p = 0.004: drop pi0 labels and the gain is gone</a:t>
            </a:r>
            <a:endParaRPr lang="en-US" sz="1300" dirty="0"/>
          </a:p>
          <a:p>
            <a:pPr marL="342900" indent="-342900">
              <a:spcAft>
                <a:spcPts val="600"/>
              </a:spcAft>
              <a:buSzPct val="100000"/>
              <a:buChar char="•"/>
            </a:pPr>
            <a:r>
              <a:rPr lang="en-US" sz="1300" dirty="0">
                <a:solidFill>
                  <a:srgbClr val="3C4A57"/>
                </a:solidFill>
              </a:rPr>
              <a:t>Cpi-pool ≈ B4 (0.540 vs 0.556, p = 0.82): pi0 labels alone recover it</a:t>
            </a:r>
            <a:endParaRPr lang="en-US" sz="1300" dirty="0"/>
          </a:p>
          <a:p>
            <a:pPr marL="342900" indent="-342900">
              <a:spcAft>
                <a:spcPts val="600"/>
              </a:spcAft>
              <a:buSzPct val="100000"/>
              <a:buChar char="•"/>
            </a:pPr>
            <a:r>
              <a:rPr lang="en-US" sz="1300" dirty="0">
                <a:solidFill>
                  <a:srgbClr val="3C4A57"/>
                </a:solidFill>
              </a:rPr>
              <a:t>labels from other policies and demos add nothing; progress supervision &lt; random</a:t>
            </a:r>
            <a:endParaRPr lang="en-US" sz="1300" dirty="0"/>
          </a:p>
          <a:p>
            <a:pPr marL="342900" indent="-342900">
              <a:spcAft>
                <a:spcPts val="600"/>
              </a:spcAft>
              <a:buSzPct val="100000"/>
              <a:buChar char="•"/>
            </a:pPr>
            <a:r>
              <a:rPr lang="en-US" sz="1300" dirty="0">
                <a:solidFill>
                  <a:srgbClr val="3C4A57"/>
                </a:solidFill>
              </a:rPr>
              <a:t>so B4 is a better competence critic, not evidence for policy-agnostic value → candidate C^pi v3</a:t>
            </a:r>
            <a:endParaRPr lang="en-US" sz="1300" dirty="0"/>
          </a:p>
        </p:txBody>
      </p:sp>
      <p:sp>
        <p:nvSpPr>
          <p:cNvPr id="8" name="b4q"/>
          <p:cNvSpPr/>
          <p:nvPr/>
        </p:nvSpPr>
        <p:spPr>
          <a:xfrm>
            <a:off x="548640" y="5166360"/>
            <a:ext cx="7223760" cy="1051560"/>
          </a:xfrm>
          <a:prstGeom prst="roundRect">
            <a:avLst>
              <a:gd name="adj" fmla="val 6957"/>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9" name="Text 6"/>
          <p:cNvSpPr txBox="1"/>
          <p:nvPr/>
        </p:nvSpPr>
        <p:spPr>
          <a:xfrm>
            <a:off x="777240" y="5257800"/>
            <a:ext cx="6766560" cy="868680"/>
          </a:xfrm>
          <a:prstGeom prst="rect">
            <a:avLst/>
          </a:prstGeom>
          <a:noFill/>
          <a:ln/>
        </p:spPr>
        <p:txBody>
          <a:bodyPr wrap="square" lIns="0" tIns="0" rIns="0" bIns="0" rtlCol="0" anchor="ctr"/>
          <a:lstStyle/>
          <a:p>
            <a:pPr indent="0" marL="0">
              <a:buNone/>
            </a:pPr>
            <a:r>
              <a:rPr lang="en-US" sz="1300" dirty="0">
                <a:solidFill>
                  <a:srgbClr val="3C4A57"/>
                </a:solidFill>
              </a:rPr>
              <a:t>Question answered: does B4 win because it is policy-agnostic, or because of more / re-filtered pi0 continuation labels? The latter.</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Q2: why a world model?</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honest answer: acquisition efficiency (more verified recoveries per simulator rollout), not a planner yet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Q2: the WM buys efficiency; it does not plan well on its own yet</a:t>
            </a:r>
            <a:endParaRPr lang="en-US" sz="3000" dirty="0"/>
          </a:p>
        </p:txBody>
      </p:sp>
      <p:pic>
        <p:nvPicPr>
          <p:cNvPr id="3" name="rev_q2.png" descr="WM vs real-dynamics prefix cost, and M11 WM as planner">    </p:cNvPr>
          <p:cNvPicPr>
            <a:picLocks noChangeAspect="1"/>
          </p:cNvPicPr>
          <p:nvPr/>
        </p:nvPicPr>
        <p:blipFill>
          <a:blip r:embed="rId1"/>
          <a:stretch>
            <a:fillRect/>
          </a:stretch>
        </p:blipFill>
        <p:spPr>
          <a:xfrm>
            <a:off x="848653" y="1097280"/>
            <a:ext cx="10464214" cy="3931920"/>
          </a:xfrm>
          <a:prstGeom prst="rect">
            <a:avLst/>
          </a:prstGeom>
        </p:spPr>
      </p:pic>
      <p:sp>
        <p:nvSpPr>
          <p:cNvPr id="4" name="q2a"/>
          <p:cNvSpPr/>
          <p:nvPr/>
        </p:nvSpPr>
        <p:spPr>
          <a:xfrm>
            <a:off x="548640" y="5120640"/>
            <a:ext cx="5440680" cy="1143000"/>
          </a:xfrm>
          <a:prstGeom prst="roundRect">
            <a:avLst>
              <a:gd name="adj" fmla="val 6400"/>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777240" y="5193792"/>
            <a:ext cx="5029200" cy="292608"/>
          </a:xfrm>
          <a:prstGeom prst="rect">
            <a:avLst/>
          </a:prstGeom>
          <a:noFill/>
          <a:ln/>
        </p:spPr>
        <p:txBody>
          <a:bodyPr wrap="square" lIns="0" tIns="0" rIns="0" bIns="0" rtlCol="0" anchor="t"/>
          <a:lstStyle/>
          <a:p>
            <a:pPr indent="0" marL="0">
              <a:buNone/>
            </a:pPr>
            <a:r>
              <a:rPr lang="en-US" sz="1400" b="1" dirty="0">
                <a:solidFill>
                  <a:srgbClr val="23303B"/>
                </a:solidFill>
              </a:rPr>
              <a:t>What the WM buys</a:t>
            </a:r>
            <a:endParaRPr lang="en-US" sz="1400" dirty="0"/>
          </a:p>
        </p:txBody>
      </p:sp>
      <p:sp>
        <p:nvSpPr>
          <p:cNvPr id="6" name="Text 3"/>
          <p:cNvSpPr txBox="1"/>
          <p:nvPr/>
        </p:nvSpPr>
        <p:spPr>
          <a:xfrm>
            <a:off x="777240" y="5486400"/>
            <a:ext cx="5074920" cy="731520"/>
          </a:xfrm>
          <a:prstGeom prst="rect">
            <a:avLst/>
          </a:prstGeom>
          <a:noFill/>
          <a:ln/>
        </p:spPr>
        <p:txBody>
          <a:bodyPr wrap="square" lIns="0" tIns="0" rIns="0" bIns="0" rtlCol="0" anchor="t"/>
          <a:lstStyle/>
          <a:p>
            <a:pPr indent="0" marL="0">
              <a:buNone/>
            </a:pPr>
            <a:r>
              <a:rPr lang="en-US" sz="1200" dirty="0">
                <a:solidFill>
                  <a:srgbClr val="3C4A57"/>
                </a:solidFill>
              </a:rPr>
              <a:t>Same solve rate as a real-dynamics prefix at ~1/3 of the transitions (5.0k vs 16.5k / failure); 3.1× (Spatial) and 2.2× (Object) verified hits per sim vs random.</a:t>
            </a:r>
            <a:endParaRPr lang="en-US" sz="1200" dirty="0"/>
          </a:p>
        </p:txBody>
      </p:sp>
      <p:sp>
        <p:nvSpPr>
          <p:cNvPr id="7" name="q2b"/>
          <p:cNvSpPr/>
          <p:nvPr/>
        </p:nvSpPr>
        <p:spPr>
          <a:xfrm>
            <a:off x="6172200" y="5120640"/>
            <a:ext cx="5440680" cy="1143000"/>
          </a:xfrm>
          <a:prstGeom prst="roundRect">
            <a:avLst>
              <a:gd name="adj" fmla="val 6400"/>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8" name="Text 5"/>
          <p:cNvSpPr txBox="1"/>
          <p:nvPr/>
        </p:nvSpPr>
        <p:spPr>
          <a:xfrm>
            <a:off x="6400800" y="5193792"/>
            <a:ext cx="5029200" cy="292608"/>
          </a:xfrm>
          <a:prstGeom prst="rect">
            <a:avLst/>
          </a:prstGeom>
          <a:noFill/>
          <a:ln/>
        </p:spPr>
        <p:txBody>
          <a:bodyPr wrap="square" lIns="0" tIns="0" rIns="0" bIns="0" rtlCol="0" anchor="t"/>
          <a:lstStyle/>
          <a:p>
            <a:pPr indent="0" marL="0">
              <a:buNone/>
            </a:pPr>
            <a:r>
              <a:rPr lang="en-US" sz="1400" b="1" dirty="0">
                <a:solidFill>
                  <a:srgbClr val="C8553D"/>
                </a:solidFill>
              </a:rPr>
              <a:t>What it does not (M11)</a:t>
            </a:r>
            <a:endParaRPr lang="en-US" sz="1400" dirty="0"/>
          </a:p>
        </p:txBody>
      </p:sp>
      <p:sp>
        <p:nvSpPr>
          <p:cNvPr id="9" name="Text 6"/>
          <p:cNvSpPr txBox="1"/>
          <p:nvPr/>
        </p:nvSpPr>
        <p:spPr>
          <a:xfrm>
            <a:off x="6400800" y="5486400"/>
            <a:ext cx="5074920" cy="731520"/>
          </a:xfrm>
          <a:prstGeom prst="rect">
            <a:avLst/>
          </a:prstGeom>
          <a:noFill/>
          <a:ln/>
        </p:spPr>
        <p:txBody>
          <a:bodyPr wrap="square" lIns="0" tIns="0" rIns="0" bIns="0" rtlCol="0" anchor="t"/>
          <a:lstStyle/>
          <a:p>
            <a:pPr indent="0" marL="0">
              <a:buNone/>
            </a:pPr>
            <a:r>
              <a:rPr lang="en-US" sz="1200" dirty="0">
                <a:solidFill>
                  <a:srgbClr val="3C4A57"/>
                </a:solidFill>
              </a:rPr>
              <a:t>No primitives: −0.175 vs library (p = 3e-4). Planning from noise: 0.398 vs 0.458 (n.s., −0.64 hits / failure, p = 0.02); only 2 failures solved outside the library. WM = mostly a filter.</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Q3: why distill?</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every alternative at the same budget is below pi1, or pays with nominal success or a test-time module</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Q3: all baselines vs RetryVLA (Spatial dev split)</a:t>
            </a:r>
            <a:endParaRPr lang="en-US" sz="3000" dirty="0"/>
          </a:p>
        </p:txBody>
      </p:sp>
      <p:pic>
        <p:nvPicPr>
          <p:cNvPr id="3" name="rev_baselines.png" descr="test RSR and nominal SR for every baseline">    </p:cNvPr>
          <p:cNvPicPr>
            <a:picLocks noChangeAspect="1"/>
          </p:cNvPicPr>
          <p:nvPr/>
        </p:nvPicPr>
        <p:blipFill>
          <a:blip r:embed="rId1"/>
          <a:stretch>
            <a:fillRect/>
          </a:stretch>
        </p:blipFill>
        <p:spPr>
          <a:xfrm>
            <a:off x="548640" y="1206694"/>
            <a:ext cx="8138160" cy="4901812"/>
          </a:xfrm>
          <a:prstGeom prst="rect">
            <a:avLst/>
          </a:prstGeom>
        </p:spPr>
      </p:pic>
      <p:sp>
        <p:nvSpPr>
          <p:cNvPr id="4" name="q3read"/>
          <p:cNvSpPr/>
          <p:nvPr/>
        </p:nvSpPr>
        <p:spPr>
          <a:xfrm>
            <a:off x="8915400" y="1143000"/>
            <a:ext cx="2697480" cy="5074920"/>
          </a:xfrm>
          <a:prstGeom prst="roundRect">
            <a:avLst>
              <a:gd name="adj" fmla="val 2712"/>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9098280" y="1280160"/>
            <a:ext cx="2377440" cy="685800"/>
          </a:xfrm>
          <a:prstGeom prst="rect">
            <a:avLst/>
          </a:prstGeom>
          <a:noFill/>
          <a:ln/>
        </p:spPr>
        <p:txBody>
          <a:bodyPr wrap="square" lIns="0" tIns="0" rIns="0" bIns="0" rtlCol="0" anchor="t"/>
          <a:lstStyle/>
          <a:p>
            <a:pPr indent="0" marL="0">
              <a:buNone/>
            </a:pPr>
            <a:r>
              <a:rPr lang="en-US" sz="4000" b="1" dirty="0">
                <a:solidFill>
                  <a:srgbClr val="E8962E"/>
                </a:solidFill>
                <a:latin typeface="Times New Roman" pitchFamily="34" charset="0"/>
                <a:ea typeface="Times New Roman" pitchFamily="34" charset="-122"/>
                <a:cs typeface="Times New Roman" pitchFamily="34" charset="-120"/>
              </a:rPr>
              <a:t>0.418</a:t>
            </a:r>
            <a:endParaRPr lang="en-US" sz="4000" dirty="0"/>
          </a:p>
        </p:txBody>
      </p:sp>
      <p:sp>
        <p:nvSpPr>
          <p:cNvPr id="6" name="Text 3"/>
          <p:cNvSpPr txBox="1"/>
          <p:nvPr/>
        </p:nvSpPr>
        <p:spPr>
          <a:xfrm>
            <a:off x="9098280" y="1993392"/>
            <a:ext cx="2377440" cy="548640"/>
          </a:xfrm>
          <a:prstGeom prst="rect">
            <a:avLst/>
          </a:prstGeom>
          <a:noFill/>
          <a:ln/>
        </p:spPr>
        <p:txBody>
          <a:bodyPr wrap="square" lIns="0" tIns="0" rIns="0" bIns="0" rtlCol="0" anchor="t"/>
          <a:lstStyle/>
          <a:p>
            <a:pPr indent="0" marL="0">
              <a:buNone/>
            </a:pPr>
            <a:r>
              <a:rPr lang="en-US" sz="1200" dirty="0">
                <a:solidFill>
                  <a:srgbClr val="6B7785"/>
                </a:solidFill>
              </a:rPr>
              <a:t>RetryVLA pi1 test RSR (3 seeds, ± 0.021), nominal 0.785</a:t>
            </a:r>
            <a:endParaRPr lang="en-US" sz="1200" dirty="0"/>
          </a:p>
        </p:txBody>
      </p:sp>
      <p:sp>
        <p:nvSpPr>
          <p:cNvPr id="7" name="Text 4"/>
          <p:cNvSpPr txBox="1"/>
          <p:nvPr/>
        </p:nvSpPr>
        <p:spPr>
          <a:xfrm>
            <a:off x="9098280" y="2743200"/>
            <a:ext cx="2377440" cy="33832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only competence-searched, sim-verified data reaches pi1's RSR AND stays above the nominal floor</a:t>
            </a:r>
            <a:endParaRPr lang="en-US" sz="1200" dirty="0"/>
          </a:p>
          <a:p>
            <a:pPr marL="342900" indent="-342900">
              <a:spcAft>
                <a:spcPts val="600"/>
              </a:spcAft>
              <a:buSzPct val="100000"/>
              <a:buChar char="•"/>
            </a:pPr>
            <a:r>
              <a:rPr lang="en-US" sz="1200" dirty="0">
                <a:solidFill>
                  <a:srgbClr val="3C4A57"/>
                </a:solidFill>
              </a:rPr>
              <a:t>goal, progress and random data all fall below the floor</a:t>
            </a:r>
            <a:endParaRPr lang="en-US" sz="1200" dirty="0"/>
          </a:p>
          <a:p>
            <a:pPr marL="342900" indent="-342900">
              <a:spcAft>
                <a:spcPts val="600"/>
              </a:spcAft>
              <a:buSzPct val="100000"/>
              <a:buChar char="•"/>
            </a:pPr>
            <a:r>
              <a:rPr lang="en-US" sz="1200" dirty="0">
                <a:solidFill>
                  <a:srgbClr val="3C4A57"/>
                </a:solidFill>
              </a:rPr>
              <a:t>no extra module at test time</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Q3: four ways to avoid distillation, and why they fail</a:t>
            </a:r>
            <a:endParaRPr lang="en-US" sz="3000" dirty="0"/>
          </a:p>
        </p:txBody>
      </p:sp>
      <p:sp>
        <p:nvSpPr>
          <p:cNvPr id="3" name="alt0"/>
          <p:cNvSpPr/>
          <p:nvPr/>
        </p:nvSpPr>
        <p:spPr>
          <a:xfrm>
            <a:off x="548640" y="1188720"/>
            <a:ext cx="5440680" cy="2331720"/>
          </a:xfrm>
          <a:prstGeom prst="roundRect">
            <a:avLst>
              <a:gd name="adj" fmla="val 3137"/>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Text 2"/>
          <p:cNvSpPr txBox="1"/>
          <p:nvPr/>
        </p:nvSpPr>
        <p:spPr>
          <a:xfrm>
            <a:off x="777240" y="1353312"/>
            <a:ext cx="5029200" cy="365760"/>
          </a:xfrm>
          <a:prstGeom prst="rect">
            <a:avLst/>
          </a:prstGeom>
          <a:noFill/>
          <a:ln/>
        </p:spPr>
        <p:txBody>
          <a:bodyPr wrap="square" lIns="0" tIns="0" rIns="0" bIns="0" rtlCol="0" anchor="t"/>
          <a:lstStyle/>
          <a:p>
            <a:pPr indent="0" marL="0">
              <a:buNone/>
            </a:pPr>
            <a:r>
              <a:rPr lang="en-US" sz="1600" b="1" dirty="0">
                <a:solidFill>
                  <a:srgbClr val="23303B"/>
                </a:solidFill>
              </a:rPr>
              <a:t>Demo-only SFT</a:t>
            </a:r>
            <a:endParaRPr lang="en-US" sz="1600" dirty="0"/>
          </a:p>
        </p:txBody>
      </p:sp>
      <p:sp>
        <p:nvSpPr>
          <p:cNvPr id="5" name="Text 3"/>
          <p:cNvSpPr txBox="1"/>
          <p:nvPr/>
        </p:nvSpPr>
        <p:spPr>
          <a:xfrm>
            <a:off x="777240" y="1783080"/>
            <a:ext cx="2103120" cy="640080"/>
          </a:xfrm>
          <a:prstGeom prst="rect">
            <a:avLst/>
          </a:prstGeom>
          <a:noFill/>
          <a:ln/>
        </p:spPr>
        <p:txBody>
          <a:bodyPr wrap="square" lIns="0" tIns="0" rIns="0" bIns="0" rtlCol="0" anchor="t"/>
          <a:lstStyle/>
          <a:p>
            <a:pPr indent="0" marL="0">
              <a:buNone/>
            </a:pPr>
            <a:r>
              <a:rPr lang="en-US" sz="3000" b="1" dirty="0">
                <a:solidFill>
                  <a:srgbClr val="3C4A57"/>
                </a:solidFill>
              </a:rPr>
              <a:t>0.127</a:t>
            </a:r>
            <a:endParaRPr lang="en-US" sz="3000" dirty="0"/>
          </a:p>
        </p:txBody>
      </p:sp>
      <p:sp>
        <p:nvSpPr>
          <p:cNvPr id="6" name="Text 4"/>
          <p:cNvSpPr txBox="1"/>
          <p:nvPr/>
        </p:nvSpPr>
        <p:spPr>
          <a:xfrm>
            <a:off x="777240" y="2450592"/>
            <a:ext cx="2103120" cy="822960"/>
          </a:xfrm>
          <a:prstGeom prst="rect">
            <a:avLst/>
          </a:prstGeom>
          <a:noFill/>
          <a:ln/>
        </p:spPr>
        <p:txBody>
          <a:bodyPr wrap="square" lIns="0" tIns="0" rIns="0" bIns="0" rtlCol="0" anchor="t"/>
          <a:lstStyle/>
          <a:p>
            <a:pPr indent="0" marL="0">
              <a:buNone/>
            </a:pPr>
            <a:r>
              <a:rPr lang="en-US" sz="1200" dirty="0">
                <a:solidFill>
                  <a:srgbClr val="6B7785"/>
                </a:solidFill>
              </a:rPr>
              <a:t>test RSR</a:t>
            </a:r>
            <a:endParaRPr lang="en-US" sz="1200" dirty="0"/>
          </a:p>
          <a:p>
            <a:pPr indent="0" marL="0">
              <a:buNone/>
            </a:pPr>
            <a:r>
              <a:rPr lang="en-US" sz="1200" dirty="0">
                <a:solidFill>
                  <a:srgbClr val="6B7785"/>
                </a:solidFill>
              </a:rPr>
              <a:t>nominal 0.820</a:t>
            </a:r>
            <a:endParaRPr lang="en-US" sz="1200" dirty="0"/>
          </a:p>
        </p:txBody>
      </p:sp>
      <p:sp>
        <p:nvSpPr>
          <p:cNvPr id="7" name="Text 5"/>
          <p:cNvSpPr txBox="1"/>
          <p:nvPr/>
        </p:nvSpPr>
        <p:spPr>
          <a:xfrm>
            <a:off x="3017520" y="1828800"/>
            <a:ext cx="2788920" cy="1554480"/>
          </a:xfrm>
          <a:prstGeom prst="rect">
            <a:avLst/>
          </a:prstGeom>
          <a:noFill/>
          <a:ln/>
        </p:spPr>
        <p:txBody>
          <a:bodyPr wrap="square" lIns="0" tIns="0" rIns="0" bIns="0" rtlCol="0" anchor="t"/>
          <a:lstStyle/>
          <a:p>
            <a:pPr indent="0" marL="0">
              <a:buNone/>
            </a:pPr>
            <a:r>
              <a:rPr lang="en-US" sz="1300" dirty="0">
                <a:solidFill>
                  <a:srgbClr val="3C4A57"/>
                </a:solidFill>
              </a:rPr>
              <a:t>same init + steps, no recovery data: −0.292 [−0.380, −0.207] vs pi1. Recovery data is what helps.</a:t>
            </a:r>
            <a:endParaRPr lang="en-US" sz="1300" dirty="0"/>
          </a:p>
        </p:txBody>
      </p:sp>
      <p:sp>
        <p:nvSpPr>
          <p:cNvPr id="8" name="alt1"/>
          <p:cNvSpPr/>
          <p:nvPr/>
        </p:nvSpPr>
        <p:spPr>
          <a:xfrm>
            <a:off x="6172200" y="1188720"/>
            <a:ext cx="5440680" cy="2331720"/>
          </a:xfrm>
          <a:prstGeom prst="roundRect">
            <a:avLst>
              <a:gd name="adj" fmla="val 3137"/>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9" name="Text 7"/>
          <p:cNvSpPr txBox="1"/>
          <p:nvPr/>
        </p:nvSpPr>
        <p:spPr>
          <a:xfrm>
            <a:off x="6400800" y="1353312"/>
            <a:ext cx="5029200" cy="365760"/>
          </a:xfrm>
          <a:prstGeom prst="rect">
            <a:avLst/>
          </a:prstGeom>
          <a:noFill/>
          <a:ln/>
        </p:spPr>
        <p:txBody>
          <a:bodyPr wrap="square" lIns="0" tIns="0" rIns="0" bIns="0" rtlCol="0" anchor="t"/>
          <a:lstStyle/>
          <a:p>
            <a:pPr indent="0" marL="0">
              <a:buNone/>
            </a:pPr>
            <a:r>
              <a:rPr lang="en-US" sz="1600" b="1" dirty="0">
                <a:solidFill>
                  <a:srgbClr val="23303B"/>
                </a:solidFill>
              </a:rPr>
              <a:t>Online best-of-8</a:t>
            </a:r>
            <a:endParaRPr lang="en-US" sz="1600" dirty="0"/>
          </a:p>
        </p:txBody>
      </p:sp>
      <p:sp>
        <p:nvSpPr>
          <p:cNvPr id="10" name="Text 8"/>
          <p:cNvSpPr txBox="1"/>
          <p:nvPr/>
        </p:nvSpPr>
        <p:spPr>
          <a:xfrm>
            <a:off x="6400800" y="1783080"/>
            <a:ext cx="2103120" cy="640080"/>
          </a:xfrm>
          <a:prstGeom prst="rect">
            <a:avLst/>
          </a:prstGeom>
          <a:noFill/>
          <a:ln/>
        </p:spPr>
        <p:txBody>
          <a:bodyPr wrap="square" lIns="0" tIns="0" rIns="0" bIns="0" rtlCol="0" anchor="t"/>
          <a:lstStyle/>
          <a:p>
            <a:pPr indent="0" marL="0">
              <a:buNone/>
            </a:pPr>
            <a:r>
              <a:rPr lang="en-US" sz="3000" b="1" dirty="0">
                <a:solidFill>
                  <a:srgbClr val="1F8FE5"/>
                </a:solidFill>
              </a:rPr>
              <a:t>+0.027</a:t>
            </a:r>
            <a:endParaRPr lang="en-US" sz="3000" dirty="0"/>
          </a:p>
        </p:txBody>
      </p:sp>
      <p:sp>
        <p:nvSpPr>
          <p:cNvPr id="11" name="Text 9"/>
          <p:cNvSpPr txBox="1"/>
          <p:nvPr/>
        </p:nvSpPr>
        <p:spPr>
          <a:xfrm>
            <a:off x="6400800" y="2450592"/>
            <a:ext cx="2103120" cy="822960"/>
          </a:xfrm>
          <a:prstGeom prst="rect">
            <a:avLst/>
          </a:prstGeom>
          <a:noFill/>
          <a:ln/>
        </p:spPr>
        <p:txBody>
          <a:bodyPr wrap="square" lIns="0" tIns="0" rIns="0" bIns="0" rtlCol="0" anchor="t"/>
          <a:lstStyle/>
          <a:p>
            <a:pPr indent="0" marL="0">
              <a:buNone/>
            </a:pPr>
            <a:r>
              <a:rPr lang="en-US" sz="1200" dirty="0">
                <a:solidFill>
                  <a:srgbClr val="6B7785"/>
                </a:solidFill>
              </a:rPr>
              <a:t>test RSR</a:t>
            </a:r>
            <a:endParaRPr lang="en-US" sz="1200" dirty="0"/>
          </a:p>
          <a:p>
            <a:pPr indent="0" marL="0">
              <a:buNone/>
            </a:pPr>
            <a:r>
              <a:rPr lang="en-US" sz="1200" dirty="0">
                <a:solidFill>
                  <a:srgbClr val="6B7785"/>
                </a:solidFill>
              </a:rPr>
              <a:t>on pi1 (n.s.); pi0 +0.000</a:t>
            </a:r>
            <a:endParaRPr lang="en-US" sz="1200" dirty="0"/>
          </a:p>
        </p:txBody>
      </p:sp>
      <p:sp>
        <p:nvSpPr>
          <p:cNvPr id="12" name="Text 10"/>
          <p:cNvSpPr txBox="1"/>
          <p:nvPr/>
        </p:nvSpPr>
        <p:spPr>
          <a:xfrm>
            <a:off x="8641080" y="1828800"/>
            <a:ext cx="2788920" cy="1554480"/>
          </a:xfrm>
          <a:prstGeom prst="rect">
            <a:avLst/>
          </a:prstGeom>
          <a:noFill/>
          <a:ln/>
        </p:spPr>
        <p:txBody>
          <a:bodyPr wrap="square" lIns="0" tIns="0" rIns="0" bIns="0" rtlCol="0" anchor="t"/>
          <a:lstStyle/>
          <a:p>
            <a:pPr indent="0" marL="0">
              <a:buNone/>
            </a:pPr>
            <a:r>
              <a:rPr lang="en-US" sz="1300" dirty="0">
                <a:solidFill>
                  <a:srgbClr val="3C4A57"/>
                </a:solidFill>
              </a:rPr>
              <a:t>WM + critic pick among 8 VLA samples every replan: costly at test time and only re-ranks the policy's own samples: no gain at all on pi0.</a:t>
            </a:r>
            <a:endParaRPr lang="en-US" sz="1300" dirty="0"/>
          </a:p>
        </p:txBody>
      </p:sp>
      <p:sp>
        <p:nvSpPr>
          <p:cNvPr id="13" name="alt2"/>
          <p:cNvSpPr/>
          <p:nvPr/>
        </p:nvSpPr>
        <p:spPr>
          <a:xfrm>
            <a:off x="548640" y="3703320"/>
            <a:ext cx="5440680" cy="2331720"/>
          </a:xfrm>
          <a:prstGeom prst="roundRect">
            <a:avLst>
              <a:gd name="adj" fmla="val 3137"/>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4" name="Text 12"/>
          <p:cNvSpPr txBox="1"/>
          <p:nvPr/>
        </p:nvSpPr>
        <p:spPr>
          <a:xfrm>
            <a:off x="777240" y="3867912"/>
            <a:ext cx="5029200" cy="365760"/>
          </a:xfrm>
          <a:prstGeom prst="rect">
            <a:avLst/>
          </a:prstGeom>
          <a:noFill/>
          <a:ln/>
        </p:spPr>
        <p:txBody>
          <a:bodyPr wrap="square" lIns="0" tIns="0" rIns="0" bIns="0" rtlCol="0" anchor="t"/>
          <a:lstStyle/>
          <a:p>
            <a:pPr indent="0" marL="0">
              <a:buNone/>
            </a:pPr>
            <a:r>
              <a:rPr lang="en-US" sz="1600" b="1" dirty="0">
                <a:solidFill>
                  <a:srgbClr val="23303B"/>
                </a:solidFill>
              </a:rPr>
              <a:t>Imagination-only (RISE-inspired)</a:t>
            </a:r>
            <a:endParaRPr lang="en-US" sz="1600" dirty="0"/>
          </a:p>
        </p:txBody>
      </p:sp>
      <p:sp>
        <p:nvSpPr>
          <p:cNvPr id="15" name="Text 13"/>
          <p:cNvSpPr txBox="1"/>
          <p:nvPr/>
        </p:nvSpPr>
        <p:spPr>
          <a:xfrm>
            <a:off x="777240" y="4297680"/>
            <a:ext cx="2103120" cy="640080"/>
          </a:xfrm>
          <a:prstGeom prst="rect">
            <a:avLst/>
          </a:prstGeom>
          <a:noFill/>
          <a:ln/>
        </p:spPr>
        <p:txBody>
          <a:bodyPr wrap="square" lIns="0" tIns="0" rIns="0" bIns="0" rtlCol="0" anchor="t"/>
          <a:lstStyle/>
          <a:p>
            <a:pPr indent="0" marL="0">
              <a:buNone/>
            </a:pPr>
            <a:r>
              <a:rPr lang="en-US" sz="3000" b="1" dirty="0">
                <a:solidFill>
                  <a:srgbClr val="1F8FE5"/>
                </a:solidFill>
              </a:rPr>
              <a:t>0.068-0.113</a:t>
            </a:r>
            <a:endParaRPr lang="en-US" sz="3000" dirty="0"/>
          </a:p>
        </p:txBody>
      </p:sp>
      <p:sp>
        <p:nvSpPr>
          <p:cNvPr id="16" name="Text 14"/>
          <p:cNvSpPr txBox="1"/>
          <p:nvPr/>
        </p:nvSpPr>
        <p:spPr>
          <a:xfrm>
            <a:off x="777240" y="4965192"/>
            <a:ext cx="2103120" cy="822960"/>
          </a:xfrm>
          <a:prstGeom prst="rect">
            <a:avLst/>
          </a:prstGeom>
          <a:noFill/>
          <a:ln/>
        </p:spPr>
        <p:txBody>
          <a:bodyPr wrap="square" lIns="0" tIns="0" rIns="0" bIns="0" rtlCol="0" anchor="t"/>
          <a:lstStyle/>
          <a:p>
            <a:pPr indent="0" marL="0">
              <a:buNone/>
            </a:pPr>
            <a:r>
              <a:rPr lang="en-US" sz="1200" dirty="0">
                <a:solidFill>
                  <a:srgbClr val="6B7785"/>
                </a:solidFill>
              </a:rPr>
              <a:t>test RSR</a:t>
            </a:r>
            <a:endParaRPr lang="en-US" sz="1200" dirty="0"/>
          </a:p>
          <a:p>
            <a:pPr indent="0" marL="0">
              <a:buNone/>
            </a:pPr>
            <a:r>
              <a:rPr lang="en-US" sz="1200" dirty="0">
                <a:solidFill>
                  <a:srgbClr val="6B7785"/>
                </a:solidFill>
              </a:rPr>
              <a:t>nominal 0.718-0.776</a:t>
            </a:r>
            <a:endParaRPr lang="en-US" sz="1200" dirty="0"/>
          </a:p>
        </p:txBody>
      </p:sp>
      <p:sp>
        <p:nvSpPr>
          <p:cNvPr id="17" name="Text 15"/>
          <p:cNvSpPr txBox="1"/>
          <p:nvPr/>
        </p:nvSpPr>
        <p:spPr>
          <a:xfrm>
            <a:off x="3017520" y="4343400"/>
            <a:ext cx="2788920" cy="1554480"/>
          </a:xfrm>
          <a:prstGeom prst="rect">
            <a:avLst/>
          </a:prstGeom>
          <a:noFill/>
          <a:ln/>
        </p:spPr>
        <p:txBody>
          <a:bodyPr wrap="square" lIns="0" tIns="0" rIns="0" bIns="0" rtlCol="0" anchor="t"/>
          <a:lstStyle/>
          <a:p>
            <a:pPr indent="0" marL="0">
              <a:buNone/>
            </a:pPr>
            <a:r>
              <a:rPr lang="en-US" sz="1300" dirty="0">
                <a:solidFill>
                  <a:srgbClr val="3C4A57"/>
                </a:solidFill>
              </a:rPr>
              <a:t>learn from imagined advantage, no verification: imagined positives V 0.81 vs real success 0.185 (~4 / 5 wrong).</a:t>
            </a:r>
            <a:endParaRPr lang="en-US" sz="1300" dirty="0"/>
          </a:p>
        </p:txBody>
      </p:sp>
      <p:sp>
        <p:nvSpPr>
          <p:cNvPr id="18" name="alt3"/>
          <p:cNvSpPr/>
          <p:nvPr/>
        </p:nvSpPr>
        <p:spPr>
          <a:xfrm>
            <a:off x="6172200" y="3703320"/>
            <a:ext cx="5440680" cy="2331720"/>
          </a:xfrm>
          <a:prstGeom prst="roundRect">
            <a:avLst>
              <a:gd name="adj" fmla="val 3137"/>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9" name="Text 17"/>
          <p:cNvSpPr txBox="1"/>
          <p:nvPr/>
        </p:nvSpPr>
        <p:spPr>
          <a:xfrm>
            <a:off x="6400800" y="3867912"/>
            <a:ext cx="5029200" cy="365760"/>
          </a:xfrm>
          <a:prstGeom prst="rect">
            <a:avLst/>
          </a:prstGeom>
          <a:noFill/>
          <a:ln/>
        </p:spPr>
        <p:txBody>
          <a:bodyPr wrap="square" lIns="0" tIns="0" rIns="0" bIns="0" rtlCol="0" anchor="t"/>
          <a:lstStyle/>
          <a:p>
            <a:pPr indent="0" marL="0">
              <a:buNone/>
            </a:pPr>
            <a:r>
              <a:rPr lang="en-US" sz="1600" b="1" dirty="0">
                <a:solidFill>
                  <a:srgbClr val="23303B"/>
                </a:solidFill>
              </a:rPr>
              <a:t>Residual RL (PPO bridge)</a:t>
            </a:r>
            <a:endParaRPr lang="en-US" sz="1600" dirty="0"/>
          </a:p>
        </p:txBody>
      </p:sp>
      <p:sp>
        <p:nvSpPr>
          <p:cNvPr id="20" name="Text 18"/>
          <p:cNvSpPr txBox="1"/>
          <p:nvPr/>
        </p:nvSpPr>
        <p:spPr>
          <a:xfrm>
            <a:off x="6400800" y="4297680"/>
            <a:ext cx="2103120" cy="640080"/>
          </a:xfrm>
          <a:prstGeom prst="rect">
            <a:avLst/>
          </a:prstGeom>
          <a:noFill/>
          <a:ln/>
        </p:spPr>
        <p:txBody>
          <a:bodyPr wrap="square" lIns="0" tIns="0" rIns="0" bIns="0" rtlCol="0" anchor="t"/>
          <a:lstStyle/>
          <a:p>
            <a:pPr indent="0" marL="0">
              <a:buNone/>
            </a:pPr>
            <a:r>
              <a:rPr lang="en-US" sz="3000" b="1" dirty="0">
                <a:solidFill>
                  <a:srgbClr val="C8553D"/>
                </a:solidFill>
              </a:rPr>
              <a:t>0.295</a:t>
            </a:r>
            <a:endParaRPr lang="en-US" sz="3000" dirty="0"/>
          </a:p>
        </p:txBody>
      </p:sp>
      <p:sp>
        <p:nvSpPr>
          <p:cNvPr id="21" name="Text 19"/>
          <p:cNvSpPr txBox="1"/>
          <p:nvPr/>
        </p:nvSpPr>
        <p:spPr>
          <a:xfrm>
            <a:off x="6400800" y="4965192"/>
            <a:ext cx="2103120" cy="822960"/>
          </a:xfrm>
          <a:prstGeom prst="rect">
            <a:avLst/>
          </a:prstGeom>
          <a:noFill/>
          <a:ln/>
        </p:spPr>
        <p:txBody>
          <a:bodyPr wrap="square" lIns="0" tIns="0" rIns="0" bIns="0" rtlCol="0" anchor="t"/>
          <a:lstStyle/>
          <a:p>
            <a:pPr indent="0" marL="0">
              <a:buNone/>
            </a:pPr>
            <a:r>
              <a:rPr lang="en-US" sz="1200" dirty="0">
                <a:solidFill>
                  <a:srgbClr val="6B7785"/>
                </a:solidFill>
              </a:rPr>
              <a:t>test RSR</a:t>
            </a:r>
            <a:endParaRPr lang="en-US" sz="1200" dirty="0"/>
          </a:p>
          <a:p>
            <a:pPr indent="0" marL="0">
              <a:buNone/>
            </a:pPr>
            <a:r>
              <a:rPr lang="en-US" sz="1200" dirty="0">
                <a:solidFill>
                  <a:srgbClr val="6B7785"/>
                </a:solidFill>
              </a:rPr>
              <a:t>nominal 0.022</a:t>
            </a:r>
            <a:endParaRPr lang="en-US" sz="1200" dirty="0"/>
          </a:p>
        </p:txBody>
      </p:sp>
      <p:sp>
        <p:nvSpPr>
          <p:cNvPr id="22" name="Text 20"/>
          <p:cNvSpPr txBox="1"/>
          <p:nvPr/>
        </p:nvSpPr>
        <p:spPr>
          <a:xfrm>
            <a:off x="8641080" y="4343400"/>
            <a:ext cx="2788920" cy="1554480"/>
          </a:xfrm>
          <a:prstGeom prst="rect">
            <a:avLst/>
          </a:prstGeom>
          <a:noFill/>
          <a:ln/>
        </p:spPr>
        <p:txBody>
          <a:bodyPr wrap="square" lIns="0" tIns="0" rIns="0" bIns="0" rtlCol="0" anchor="t"/>
          <a:lstStyle/>
          <a:p>
            <a:pPr indent="0" marL="0">
              <a:buNone/>
            </a:pPr>
            <a:r>
              <a:rPr lang="en-US" sz="1300" dirty="0">
                <a:solidFill>
                  <a:srgbClr val="3C4A57"/>
                </a:solidFill>
              </a:rPr>
              <a:t>full matched budget 3.47M: learns recovery but fires on every episode start (25% budget: 0.111 / 0.400).</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Recovery-nominal Pareto: r 0.5 is the best point inside the margin</a:t>
            </a:r>
            <a:endParaRPr lang="en-US" sz="3000" dirty="0"/>
          </a:p>
        </p:txBody>
      </p:sp>
      <p:pic>
        <p:nvPicPr>
          <p:cNvPr id="3" name="rev_p3_pareto.png" descr="P3 recovery-nominal Pareto">    </p:cNvPr>
          <p:cNvPicPr>
            <a:picLocks noChangeAspect="1"/>
          </p:cNvPicPr>
          <p:nvPr/>
        </p:nvPicPr>
        <p:blipFill>
          <a:blip r:embed="rId1"/>
          <a:stretch>
            <a:fillRect/>
          </a:stretch>
        </p:blipFill>
        <p:spPr>
          <a:xfrm>
            <a:off x="548640" y="1103423"/>
            <a:ext cx="6949440" cy="4742595"/>
          </a:xfrm>
          <a:prstGeom prst="rect">
            <a:avLst/>
          </a:prstGeom>
        </p:spPr>
      </p:pic>
      <p:sp>
        <p:nvSpPr>
          <p:cNvPr id="4" name="Text 1"/>
          <p:cNvSpPr txBox="1"/>
          <p:nvPr/>
        </p:nvSpPr>
        <p:spPr>
          <a:xfrm>
            <a:off x="548640" y="5897880"/>
            <a:ext cx="6949440" cy="274320"/>
          </a:xfrm>
          <a:prstGeom prst="rect">
            <a:avLst/>
          </a:prstGeom>
          <a:noFill/>
          <a:ln/>
        </p:spPr>
        <p:txBody>
          <a:bodyPr wrap="square" lIns="0" tIns="0" rIns="0" bIns="0" rtlCol="0" anchor="t"/>
          <a:lstStyle/>
          <a:p>
            <a:pPr indent="0" marL="0">
              <a:buNone/>
            </a:pPr>
            <a:r>
              <a:rPr lang="en-US" sz="1100" i="1" dirty="0">
                <a:solidFill>
                  <a:srgbClr val="6B7785"/>
                </a:solidFill>
              </a:rPr>
              <a:t>P3 sweep, seed 0 per point; pi1 = r 0.5 (3 seeds). Includes the final r 0.3 / r 0.7 nominal evals</a:t>
            </a:r>
            <a:endParaRPr lang="en-US" sz="1100" dirty="0"/>
          </a:p>
        </p:txBody>
      </p:sp>
      <p:sp>
        <p:nvSpPr>
          <p:cNvPr id="5" name="p3read"/>
          <p:cNvSpPr/>
          <p:nvPr/>
        </p:nvSpPr>
        <p:spPr>
          <a:xfrm>
            <a:off x="7772400" y="1143000"/>
            <a:ext cx="3840480" cy="5074920"/>
          </a:xfrm>
          <a:prstGeom prst="roundRect">
            <a:avLst>
              <a:gd name="adj" fmla="val 1905"/>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6" name="Text 3"/>
          <p:cNvSpPr txBox="1"/>
          <p:nvPr/>
        </p:nvSpPr>
        <p:spPr>
          <a:xfrm>
            <a:off x="8001000" y="1298448"/>
            <a:ext cx="3383280" cy="365760"/>
          </a:xfrm>
          <a:prstGeom prst="rect">
            <a:avLst/>
          </a:prstGeom>
          <a:noFill/>
          <a:ln/>
        </p:spPr>
        <p:txBody>
          <a:bodyPr wrap="square" lIns="0" tIns="0" rIns="0" bIns="0" rtlCol="0" anchor="t"/>
          <a:lstStyle/>
          <a:p>
            <a:pPr indent="0" marL="0">
              <a:buNone/>
            </a:pPr>
            <a:r>
              <a:rPr lang="en-US" sz="1700" b="1" dirty="0">
                <a:solidFill>
                  <a:srgbClr val="23303B"/>
                </a:solidFill>
              </a:rPr>
              <a:t>Reading</a:t>
            </a:r>
            <a:endParaRPr lang="en-US" sz="1700" dirty="0"/>
          </a:p>
        </p:txBody>
      </p:sp>
      <p:sp>
        <p:nvSpPr>
          <p:cNvPr id="7" name="Text 4"/>
          <p:cNvSpPr txBox="1"/>
          <p:nvPr/>
        </p:nvSpPr>
        <p:spPr>
          <a:xfrm>
            <a:off x="8001000" y="1737360"/>
            <a:ext cx="3429000" cy="438912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RSR rises with the recovery ratio: 0.323 / 0.375 / 0.418 / 0.436 for r 0.1 / 0.3 / 0.5 / 0.7</a:t>
            </a:r>
            <a:endParaRPr lang="en-US" sz="1300" dirty="0"/>
          </a:p>
          <a:p>
            <a:pPr marL="342900" indent="-342900">
              <a:spcAft>
                <a:spcPts val="600"/>
              </a:spcAft>
              <a:buSzPct val="100000"/>
              <a:buChar char="•"/>
            </a:pPr>
            <a:r>
              <a:rPr lang="en-US" sz="1300" dirty="0">
                <a:solidFill>
                  <a:srgbClr val="3C4A57"/>
                </a:solidFill>
              </a:rPr>
              <a:t>r 0.7: +0.017 RSR (n.s.) but nominal 0.766: fails the 2 pt margin</a:t>
            </a:r>
            <a:endParaRPr lang="en-US" sz="1300" dirty="0"/>
          </a:p>
          <a:p>
            <a:pPr marL="342900" indent="-342900">
              <a:spcAft>
                <a:spcPts val="600"/>
              </a:spcAft>
              <a:buSzPct val="100000"/>
              <a:buChar char="•"/>
            </a:pPr>
            <a:r>
              <a:rPr lang="en-US" sz="1300" dirty="0">
                <a:solidFill>
                  <a:srgbClr val="3C4A57"/>
                </a:solidFill>
              </a:rPr>
              <a:t>r 0.1 / 0.3 keep nominal (0.788 / 0.814) but lose RSR (−0.095, −0.043)</a:t>
            </a:r>
            <a:endParaRPr lang="en-US" sz="1300" dirty="0"/>
          </a:p>
          <a:p>
            <a:pPr marL="342900" indent="-342900">
              <a:spcAft>
                <a:spcPts val="600"/>
              </a:spcAft>
              <a:buSzPct val="100000"/>
              <a:buChar char="•"/>
            </a:pPr>
            <a:r>
              <a:rPr lang="en-US" sz="1300" dirty="0">
                <a:solidFill>
                  <a:srgbClr val="3C4A57"/>
                </a:solidFill>
              </a:rPr>
              <a:t>L_preserve: 0.429 / 0.806, inside pi1's seed spread (0.396-0.439 / 0.766-0.808): not needed</a:t>
            </a:r>
            <a:endParaRPr lang="en-US" sz="1300" dirty="0"/>
          </a:p>
          <a:p>
            <a:pPr marL="342900" indent="-342900">
              <a:spcAft>
                <a:spcPts val="600"/>
              </a:spcAft>
              <a:buSzPct val="100000"/>
              <a:buChar char="•"/>
            </a:pPr>
            <a:r>
              <a:rPr lang="en-US" sz="1300" dirty="0">
                <a:solidFill>
                  <a:srgbClr val="3C4A57"/>
                </a:solidFill>
              </a:rPr>
              <a:t>pi1 dNSR −0.011 [−0.046, +0.024]: constraint met</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LIBERO-Object (held-out): what replicates and what does not</a:t>
            </a:r>
            <a:endParaRPr lang="en-US" sz="3000" dirty="0"/>
          </a:p>
        </p:txBody>
      </p:sp>
      <p:pic>
        <p:nvPicPr>
          <p:cNvPr id="3" name="rev_object.png" descr="LIBERO-Object test RSR and search solve rate">    </p:cNvPr>
          <p:cNvPicPr>
            <a:picLocks noChangeAspect="1"/>
          </p:cNvPicPr>
          <p:nvPr/>
        </p:nvPicPr>
        <p:blipFill>
          <a:blip r:embed="rId1"/>
          <a:stretch>
            <a:fillRect/>
          </a:stretch>
        </p:blipFill>
        <p:spPr>
          <a:xfrm>
            <a:off x="817217" y="1097280"/>
            <a:ext cx="10527086" cy="3931920"/>
          </a:xfrm>
          <a:prstGeom prst="rect">
            <a:avLst/>
          </a:prstGeom>
        </p:spPr>
      </p:pic>
      <p:sp>
        <p:nvSpPr>
          <p:cNvPr id="4" name="obc0"/>
          <p:cNvSpPr/>
          <p:nvPr/>
        </p:nvSpPr>
        <p:spPr>
          <a:xfrm>
            <a:off x="548640" y="5120640"/>
            <a:ext cx="3566160" cy="1143000"/>
          </a:xfrm>
          <a:prstGeom prst="roundRect">
            <a:avLst>
              <a:gd name="adj" fmla="val 6400"/>
            </a:avLst>
          </a:prstGeom>
          <a:solidFill>
            <a:srgbClr val="E0F2EF"/>
          </a:solidFill>
          <a:ln w="12700">
            <a:solidFill>
              <a:srgbClr val="E0F2EF"/>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731520" y="5193792"/>
            <a:ext cx="3200400" cy="292608"/>
          </a:xfrm>
          <a:prstGeom prst="rect">
            <a:avLst/>
          </a:prstGeom>
          <a:noFill/>
          <a:ln/>
        </p:spPr>
        <p:txBody>
          <a:bodyPr wrap="square" lIns="0" tIns="0" rIns="0" bIns="0" rtlCol="0" anchor="t"/>
          <a:lstStyle/>
          <a:p>
            <a:pPr indent="0" marL="0">
              <a:buNone/>
            </a:pPr>
            <a:r>
              <a:rPr lang="en-US" sz="1400" b="1" dirty="0">
                <a:solidFill>
                  <a:srgbClr val="2A9D8F"/>
                </a:solidFill>
              </a:rPr>
              <a:t>Replicates</a:t>
            </a:r>
            <a:endParaRPr lang="en-US" sz="1400" dirty="0"/>
          </a:p>
        </p:txBody>
      </p:sp>
      <p:sp>
        <p:nvSpPr>
          <p:cNvPr id="6" name="Text 3"/>
          <p:cNvSpPr txBox="1"/>
          <p:nvPr/>
        </p:nvSpPr>
        <p:spPr>
          <a:xfrm>
            <a:off x="731520" y="5486400"/>
            <a:ext cx="3246120" cy="731520"/>
          </a:xfrm>
          <a:prstGeom prst="rect">
            <a:avLst/>
          </a:prstGeom>
          <a:noFill/>
          <a:ln/>
        </p:spPr>
        <p:txBody>
          <a:bodyPr wrap="square" lIns="0" tIns="0" rIns="0" bIns="0" rtlCol="0" anchor="t"/>
          <a:lstStyle/>
          <a:p>
            <a:pPr indent="0" marL="0">
              <a:buNone/>
            </a:pPr>
            <a:r>
              <a:rPr lang="en-US" sz="1200" dirty="0">
                <a:solidFill>
                  <a:srgbClr val="3C4A57"/>
                </a:solidFill>
              </a:rPr>
              <a:t>competence − demo-only +0.181 [+0.092, +0.277], p = 0.001; nominal 0.942 vs 0.944 (1 seed).</a:t>
            </a:r>
            <a:endParaRPr lang="en-US" sz="1200" dirty="0"/>
          </a:p>
        </p:txBody>
      </p:sp>
      <p:sp>
        <p:nvSpPr>
          <p:cNvPr id="7" name="obc1"/>
          <p:cNvSpPr/>
          <p:nvPr/>
        </p:nvSpPr>
        <p:spPr>
          <a:xfrm>
            <a:off x="4297680" y="5120640"/>
            <a:ext cx="3566160" cy="1143000"/>
          </a:xfrm>
          <a:prstGeom prst="roundRect">
            <a:avLst>
              <a:gd name="adj" fmla="val 6400"/>
            </a:avLst>
          </a:prstGeom>
          <a:solidFill>
            <a:srgbClr val="E0F2EF"/>
          </a:solidFill>
          <a:ln w="12700">
            <a:solidFill>
              <a:srgbClr val="E0F2EF"/>
            </a:solidFill>
            <a:prstDash val="solid"/>
          </a:ln>
          <a:effectLst>
            <a:outerShdw sx="100000" sy="100000" kx="0" ky="0" algn="bl" rotWithShape="0" blurRad="76200" dist="25400" dir="5400000">
              <a:srgbClr val="23303B">
                <a:alpha val="12000"/>
              </a:srgbClr>
            </a:outerShdw>
          </a:effectLst>
        </p:spPr>
      </p:sp>
      <p:sp>
        <p:nvSpPr>
          <p:cNvPr id="8" name="Text 5"/>
          <p:cNvSpPr txBox="1"/>
          <p:nvPr/>
        </p:nvSpPr>
        <p:spPr>
          <a:xfrm>
            <a:off x="4480560" y="5193792"/>
            <a:ext cx="3200400" cy="292608"/>
          </a:xfrm>
          <a:prstGeom prst="rect">
            <a:avLst/>
          </a:prstGeom>
          <a:noFill/>
          <a:ln/>
        </p:spPr>
        <p:txBody>
          <a:bodyPr wrap="square" lIns="0" tIns="0" rIns="0" bIns="0" rtlCol="0" anchor="t"/>
          <a:lstStyle/>
          <a:p>
            <a:pPr indent="0" marL="0">
              <a:buNone/>
            </a:pPr>
            <a:r>
              <a:rPr lang="en-US" sz="1400" b="1" dirty="0">
                <a:solidFill>
                  <a:srgbClr val="2A9D8F"/>
                </a:solidFill>
              </a:rPr>
              <a:t>Replicates in search</a:t>
            </a:r>
            <a:endParaRPr lang="en-US" sz="1400" dirty="0"/>
          </a:p>
        </p:txBody>
      </p:sp>
      <p:sp>
        <p:nvSpPr>
          <p:cNvPr id="9" name="Text 6"/>
          <p:cNvSpPr txBox="1"/>
          <p:nvPr/>
        </p:nvSpPr>
        <p:spPr>
          <a:xfrm>
            <a:off x="4480560" y="5486400"/>
            <a:ext cx="3246120" cy="731520"/>
          </a:xfrm>
          <a:prstGeom prst="rect">
            <a:avLst/>
          </a:prstGeom>
          <a:noFill/>
          <a:ln/>
        </p:spPr>
        <p:txBody>
          <a:bodyPr wrap="square" lIns="0" tIns="0" rIns="0" bIns="0" rtlCol="0" anchor="t"/>
          <a:lstStyle/>
          <a:p>
            <a:pPr indent="0" marL="0">
              <a:buNone/>
            </a:pPr>
            <a:r>
              <a:rPr lang="en-US" sz="1200" dirty="0">
                <a:solidFill>
                  <a:srgbClr val="3C4A57"/>
                </a:solidFill>
              </a:rPr>
              <a:t>competence vs goal 66 / 8 failures, p = 2e-12; SFT +0.112 [−0.004, +0.227], p = 0.08 (directional).</a:t>
            </a:r>
            <a:endParaRPr lang="en-US" sz="1200" dirty="0"/>
          </a:p>
        </p:txBody>
      </p:sp>
      <p:sp>
        <p:nvSpPr>
          <p:cNvPr id="10" name="obc2"/>
          <p:cNvSpPr/>
          <p:nvPr/>
        </p:nvSpPr>
        <p:spPr>
          <a:xfrm>
            <a:off x="8046720" y="5120640"/>
            <a:ext cx="3566160" cy="1143000"/>
          </a:xfrm>
          <a:prstGeom prst="roundRect">
            <a:avLst>
              <a:gd name="adj" fmla="val 6400"/>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11" name="Text 8"/>
          <p:cNvSpPr txBox="1"/>
          <p:nvPr/>
        </p:nvSpPr>
        <p:spPr>
          <a:xfrm>
            <a:off x="8229600" y="5193792"/>
            <a:ext cx="3200400" cy="292608"/>
          </a:xfrm>
          <a:prstGeom prst="rect">
            <a:avLst/>
          </a:prstGeom>
          <a:noFill/>
          <a:ln/>
        </p:spPr>
        <p:txBody>
          <a:bodyPr wrap="square" lIns="0" tIns="0" rIns="0" bIns="0" rtlCol="0" anchor="t"/>
          <a:lstStyle/>
          <a:p>
            <a:pPr indent="0" marL="0">
              <a:buNone/>
            </a:pPr>
            <a:r>
              <a:rPr lang="en-US" sz="1400" b="1" dirty="0">
                <a:solidFill>
                  <a:srgbClr val="C8553D"/>
                </a:solidFill>
              </a:rPr>
              <a:t>Does not replicate</a:t>
            </a:r>
            <a:endParaRPr lang="en-US" sz="1400" dirty="0"/>
          </a:p>
        </p:txBody>
      </p:sp>
      <p:sp>
        <p:nvSpPr>
          <p:cNvPr id="12" name="Text 9"/>
          <p:cNvSpPr txBox="1"/>
          <p:nvPr/>
        </p:nvSpPr>
        <p:spPr>
          <a:xfrm>
            <a:off x="8229600" y="5486400"/>
            <a:ext cx="3246120" cy="731520"/>
          </a:xfrm>
          <a:prstGeom prst="rect">
            <a:avLst/>
          </a:prstGeom>
          <a:noFill/>
          <a:ln/>
        </p:spPr>
        <p:txBody>
          <a:bodyPr wrap="square" lIns="0" tIns="0" rIns="0" bIns="0" rtlCol="0" anchor="t"/>
          <a:lstStyle/>
          <a:p>
            <a:pPr indent="0" marL="0">
              <a:buNone/>
            </a:pPr>
            <a:r>
              <a:rPr lang="en-US" sz="1200" dirty="0">
                <a:solidFill>
                  <a:srgbClr val="3C4A57"/>
                </a:solidFill>
              </a:rPr>
              <a:t>competence vs random data at equal count −0.008 (p = 0.93). Claim → acquisition efficiency: 0.134 vs 0.060 hits / sim.</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Qualitative: what the recoveries look like</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A = SmolVLA alone, B = random search, C = WM + C^pi search; then the distilled pi1 with no search</a:t>
            </a:r>
            <a:endParaRPr lang="en-US" sz="1800" dirty="0"/>
          </a:p>
          <a:p>
            <a:pPr indent="0" marL="0">
              <a:buNone/>
            </a:pPr>
            <a:r>
              <a:rPr lang="en-US" sz="1800" dirty="0">
                <a:solidFill>
                  <a:srgbClr val="F3C98B"/>
                </a:solidFill>
              </a:rPr>
              <a:t>videos are clickable: click to play in PowerPoint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drawer failure, A alone / B random / C WM</a:t>
            </a:r>
            <a:endParaRPr lang="en-US" sz="3000" dirty="0"/>
          </a:p>
        </p:txBody>
      </p:sp>
      <p:pic>
        <p:nvPicPr>
          <p:cNvPr id="3" name="video_m5_explain_draw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589567" y="1097280"/>
            <a:ext cx="8982385" cy="4526280"/>
          </a:xfrm>
          <a:prstGeom prst="rect">
            <a:avLst/>
          </a:prstGeom>
        </p:spPr>
      </p:pic>
      <p:sp>
        <p:nvSpPr>
          <p:cNvPr id="4" name="Shape 1"/>
          <p:cNvSpPr/>
          <p:nvPr/>
        </p:nvSpPr>
        <p:spPr>
          <a:xfrm>
            <a:off x="9355801" y="1152144"/>
            <a:ext cx="1143000" cy="292608"/>
          </a:xfrm>
          <a:prstGeom prst="roundRect">
            <a:avLst>
              <a:gd name="adj" fmla="val 25000"/>
            </a:avLst>
          </a:prstGeom>
          <a:solidFill>
            <a:srgbClr val="E8962E"/>
          </a:solidFill>
          <a:ln w="12700">
            <a:solidFill>
              <a:srgbClr val="E8962E"/>
            </a:solidFill>
            <a:prstDash val="solid"/>
          </a:ln>
        </p:spPr>
      </p:sp>
      <p:sp>
        <p:nvSpPr>
          <p:cNvPr id="5" name="Text 2"/>
          <p:cNvSpPr txBox="1"/>
          <p:nvPr/>
        </p:nvSpPr>
        <p:spPr>
          <a:xfrm>
            <a:off x="9355801" y="1152144"/>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 VIDEO</a:t>
            </a:r>
            <a:endParaRPr lang="en-US" sz="1100" dirty="0"/>
          </a:p>
        </p:txBody>
      </p:sp>
      <p:sp>
        <p:nvSpPr>
          <p:cNvPr id="6" name="Text 3"/>
          <p:cNvSpPr txBox="1"/>
          <p:nvPr/>
        </p:nvSpPr>
        <p:spPr>
          <a:xfrm>
            <a:off x="548640" y="5715000"/>
            <a:ext cx="11064240" cy="594360"/>
          </a:xfrm>
          <a:prstGeom prst="rect">
            <a:avLst/>
          </a:prstGeom>
          <a:noFill/>
          <a:ln/>
        </p:spPr>
        <p:txBody>
          <a:bodyPr wrap="square" lIns="0" tIns="0" rIns="0" bIns="0" rtlCol="0" anchor="t"/>
          <a:lstStyle/>
          <a:p>
            <a:pPr indent="0" marL="0">
              <a:buNone/>
            </a:pPr>
            <a:r>
              <a:rPr lang="en-US" sz="1300" dirty="0">
                <a:solidFill>
                  <a:srgbClr val="3C4A57"/>
                </a:solidFill>
              </a:rPr>
              <a:t>All 3 columns start from the SAME failure state. Only the first 50 steps differ; after that SmolVLA drives every column. C lifts 1.13 → 1.38 m with the gripper open (orange bar), then SmolVLA re-approaches, grasps and places the bowl at step 198. A and B hover at the drawer for 360 steps.</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cabinet failure, A alone / B random / C WM</a:t>
            </a:r>
            <a:endParaRPr lang="en-US" sz="3000" dirty="0"/>
          </a:p>
        </p:txBody>
      </p:sp>
      <p:pic>
        <p:nvPicPr>
          <p:cNvPr id="3" name="video_m5_explain_cabinet">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589567" y="1097280"/>
            <a:ext cx="8982385" cy="4526280"/>
          </a:xfrm>
          <a:prstGeom prst="rect">
            <a:avLst/>
          </a:prstGeom>
        </p:spPr>
      </p:pic>
      <p:sp>
        <p:nvSpPr>
          <p:cNvPr id="4" name="Shape 1"/>
          <p:cNvSpPr/>
          <p:nvPr/>
        </p:nvSpPr>
        <p:spPr>
          <a:xfrm>
            <a:off x="9355801" y="1152144"/>
            <a:ext cx="1143000" cy="292608"/>
          </a:xfrm>
          <a:prstGeom prst="roundRect">
            <a:avLst>
              <a:gd name="adj" fmla="val 25000"/>
            </a:avLst>
          </a:prstGeom>
          <a:solidFill>
            <a:srgbClr val="E8962E"/>
          </a:solidFill>
          <a:ln w="12700">
            <a:solidFill>
              <a:srgbClr val="E8962E"/>
            </a:solidFill>
            <a:prstDash val="solid"/>
          </a:ln>
        </p:spPr>
      </p:sp>
      <p:sp>
        <p:nvSpPr>
          <p:cNvPr id="5" name="Text 2"/>
          <p:cNvSpPr txBox="1"/>
          <p:nvPr/>
        </p:nvSpPr>
        <p:spPr>
          <a:xfrm>
            <a:off x="9355801" y="1152144"/>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 VIDEO</a:t>
            </a:r>
            <a:endParaRPr lang="en-US" sz="1100" dirty="0"/>
          </a:p>
        </p:txBody>
      </p:sp>
      <p:sp>
        <p:nvSpPr>
          <p:cNvPr id="6" name="Text 3"/>
          <p:cNvSpPr txBox="1"/>
          <p:nvPr/>
        </p:nvSpPr>
        <p:spPr>
          <a:xfrm>
            <a:off x="548640" y="5715000"/>
            <a:ext cx="11064240" cy="594360"/>
          </a:xfrm>
          <a:prstGeom prst="rect">
            <a:avLst/>
          </a:prstGeom>
          <a:noFill/>
          <a:ln/>
        </p:spPr>
        <p:txBody>
          <a:bodyPr wrap="square" lIns="0" tIns="0" rIns="0" bIns="0" rtlCol="0" anchor="t"/>
          <a:lstStyle/>
          <a:p>
            <a:pPr indent="0" marL="0">
              <a:buNone/>
            </a:pPr>
            <a:r>
              <a:rPr lang="en-US" sz="1300" dirty="0">
                <a:solidFill>
                  <a:srgbClr val="3C4A57"/>
                </a:solidFill>
              </a:rPr>
              <a:t>All 3 columns start from the SAME failure state. Only the first 50 steps differ; after that SmolVLA drives every column. B tries to re-grasp in place (open → close, shift +y) and fails. C lets go and lifts; SmolVLA then finishes at step 142.</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ramekin failure, A alone / B random / C WM</a:t>
            </a:r>
            <a:endParaRPr lang="en-US" sz="3000" dirty="0"/>
          </a:p>
        </p:txBody>
      </p:sp>
      <p:pic>
        <p:nvPicPr>
          <p:cNvPr id="3" name="video_m5_explain_ramekin">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589567" y="1097280"/>
            <a:ext cx="8982385" cy="4526280"/>
          </a:xfrm>
          <a:prstGeom prst="rect">
            <a:avLst/>
          </a:prstGeom>
        </p:spPr>
      </p:pic>
      <p:sp>
        <p:nvSpPr>
          <p:cNvPr id="4" name="Shape 1"/>
          <p:cNvSpPr/>
          <p:nvPr/>
        </p:nvSpPr>
        <p:spPr>
          <a:xfrm>
            <a:off x="9355801" y="1152144"/>
            <a:ext cx="1143000" cy="292608"/>
          </a:xfrm>
          <a:prstGeom prst="roundRect">
            <a:avLst>
              <a:gd name="adj" fmla="val 25000"/>
            </a:avLst>
          </a:prstGeom>
          <a:solidFill>
            <a:srgbClr val="E8962E"/>
          </a:solidFill>
          <a:ln w="12700">
            <a:solidFill>
              <a:srgbClr val="E8962E"/>
            </a:solidFill>
            <a:prstDash val="solid"/>
          </a:ln>
        </p:spPr>
      </p:sp>
      <p:sp>
        <p:nvSpPr>
          <p:cNvPr id="5" name="Text 2"/>
          <p:cNvSpPr txBox="1"/>
          <p:nvPr/>
        </p:nvSpPr>
        <p:spPr>
          <a:xfrm>
            <a:off x="9355801" y="1152144"/>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 VIDEO</a:t>
            </a:r>
            <a:endParaRPr lang="en-US" sz="1100" dirty="0"/>
          </a:p>
        </p:txBody>
      </p:sp>
      <p:sp>
        <p:nvSpPr>
          <p:cNvPr id="6" name="Text 3"/>
          <p:cNvSpPr txBox="1"/>
          <p:nvPr/>
        </p:nvSpPr>
        <p:spPr>
          <a:xfrm>
            <a:off x="548640" y="5715000"/>
            <a:ext cx="11064240" cy="594360"/>
          </a:xfrm>
          <a:prstGeom prst="rect">
            <a:avLst/>
          </a:prstGeom>
          <a:noFill/>
          <a:ln/>
        </p:spPr>
        <p:txBody>
          <a:bodyPr wrap="square" lIns="0" tIns="0" rIns="0" bIns="0" rtlCol="0" anchor="t"/>
          <a:lstStyle/>
          <a:p>
            <a:pPr indent="0" marL="0">
              <a:buNone/>
            </a:pPr>
            <a:r>
              <a:rPr lang="en-US" sz="1300" dirty="0">
                <a:solidFill>
                  <a:srgbClr val="3C4A57"/>
                </a:solidFill>
              </a:rPr>
              <a:t>All 3 columns start from the SAME failure state. Only the first 50 steps differ; after that SmolVLA drives every column. Here the WM segment alone finishes the task (step 39): a short grasp-in-place the WM predicted to work. Random 0/16 on this failure.</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end-to-end, no search, unseen TEST failure</a:t>
            </a:r>
            <a:endParaRPr lang="en-US" sz="3000" dirty="0"/>
          </a:p>
        </p:txBody>
      </p:sp>
      <p:pic>
        <p:nvPicPr>
          <p:cNvPr id="3" name="video_m5_e2e_test_draw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678966" y="1097280"/>
            <a:ext cx="10803587" cy="3794760"/>
          </a:xfrm>
          <a:prstGeom prst="rect">
            <a:avLst/>
          </a:prstGeom>
        </p:spPr>
      </p:pic>
      <p:sp>
        <p:nvSpPr>
          <p:cNvPr id="4" name="Shape 1"/>
          <p:cNvSpPr/>
          <p:nvPr/>
        </p:nvSpPr>
        <p:spPr>
          <a:xfrm>
            <a:off x="10266402" y="1152144"/>
            <a:ext cx="1143000" cy="292608"/>
          </a:xfrm>
          <a:prstGeom prst="roundRect">
            <a:avLst>
              <a:gd name="adj" fmla="val 25000"/>
            </a:avLst>
          </a:prstGeom>
          <a:solidFill>
            <a:srgbClr val="E8962E"/>
          </a:solidFill>
          <a:ln w="12700">
            <a:solidFill>
              <a:srgbClr val="E8962E"/>
            </a:solidFill>
            <a:prstDash val="solid"/>
          </a:ln>
        </p:spPr>
      </p:sp>
      <p:sp>
        <p:nvSpPr>
          <p:cNvPr id="5" name="Text 2"/>
          <p:cNvSpPr txBox="1"/>
          <p:nvPr/>
        </p:nvSpPr>
        <p:spPr>
          <a:xfrm>
            <a:off x="10266402" y="1152144"/>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 VIDEO</a:t>
            </a:r>
            <a:endParaRPr lang="en-US" sz="1100" dirty="0"/>
          </a:p>
        </p:txBody>
      </p:sp>
      <p:sp>
        <p:nvSpPr>
          <p:cNvPr id="6" name="e2e0"/>
          <p:cNvSpPr/>
          <p:nvPr/>
        </p:nvSpPr>
        <p:spPr>
          <a:xfrm>
            <a:off x="548640" y="4983480"/>
            <a:ext cx="2651760" cy="960120"/>
          </a:xfrm>
          <a:prstGeom prst="roundRect">
            <a:avLst>
              <a:gd name="adj" fmla="val 7619"/>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7" name="Text 4"/>
          <p:cNvSpPr txBox="1"/>
          <p:nvPr/>
        </p:nvSpPr>
        <p:spPr>
          <a:xfrm>
            <a:off x="731520" y="5029200"/>
            <a:ext cx="1097280" cy="548640"/>
          </a:xfrm>
          <a:prstGeom prst="rect">
            <a:avLst/>
          </a:prstGeom>
          <a:noFill/>
          <a:ln/>
        </p:spPr>
        <p:txBody>
          <a:bodyPr wrap="square" lIns="0" tIns="0" rIns="0" bIns="0" rtlCol="0" anchor="t"/>
          <a:lstStyle/>
          <a:p>
            <a:pPr indent="0" marL="0">
              <a:buNone/>
            </a:pPr>
            <a:r>
              <a:rPr lang="en-US" sz="2800" b="1" dirty="0">
                <a:solidFill>
                  <a:srgbClr val="3C4A57"/>
                </a:solidFill>
              </a:rPr>
              <a:t>0/5</a:t>
            </a:r>
            <a:endParaRPr lang="en-US" sz="2800" dirty="0"/>
          </a:p>
        </p:txBody>
      </p:sp>
      <p:sp>
        <p:nvSpPr>
          <p:cNvPr id="8" name="Text 5"/>
          <p:cNvSpPr txBox="1"/>
          <p:nvPr/>
        </p:nvSpPr>
        <p:spPr>
          <a:xfrm>
            <a:off x="1783080" y="5084064"/>
            <a:ext cx="1371600" cy="822960"/>
          </a:xfrm>
          <a:prstGeom prst="rect">
            <a:avLst/>
          </a:prstGeom>
          <a:noFill/>
          <a:ln/>
        </p:spPr>
        <p:txBody>
          <a:bodyPr wrap="square" lIns="0" tIns="0" rIns="0" bIns="0" rtlCol="0" anchor="t"/>
          <a:lstStyle/>
          <a:p>
            <a:pPr indent="0" marL="0">
              <a:buNone/>
            </a:pPr>
            <a:r>
              <a:rPr lang="en-US" sz="1200" dirty="0">
                <a:solidFill>
                  <a:srgbClr val="3C4A57"/>
                </a:solidFill>
              </a:rPr>
              <a:t>π0 SmolVLA</a:t>
            </a:r>
            <a:endParaRPr lang="en-US" sz="1200" dirty="0"/>
          </a:p>
          <a:p>
            <a:pPr indent="0" marL="0">
              <a:buNone/>
            </a:pPr>
            <a:r>
              <a:rPr lang="en-US" sz="1200" dirty="0">
                <a:solidFill>
                  <a:srgbClr val="3C4A57"/>
                </a:solidFill>
              </a:rPr>
              <a:t>seeds solved</a:t>
            </a:r>
            <a:endParaRPr lang="en-US" sz="1200" dirty="0"/>
          </a:p>
        </p:txBody>
      </p:sp>
      <p:sp>
        <p:nvSpPr>
          <p:cNvPr id="9" name="e2e1"/>
          <p:cNvSpPr/>
          <p:nvPr/>
        </p:nvSpPr>
        <p:spPr>
          <a:xfrm>
            <a:off x="3337560" y="4983480"/>
            <a:ext cx="2651760" cy="960120"/>
          </a:xfrm>
          <a:prstGeom prst="roundRect">
            <a:avLst>
              <a:gd name="adj" fmla="val 7619"/>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0" name="Text 7"/>
          <p:cNvSpPr txBox="1"/>
          <p:nvPr/>
        </p:nvSpPr>
        <p:spPr>
          <a:xfrm>
            <a:off x="3520440" y="5029200"/>
            <a:ext cx="1097280" cy="548640"/>
          </a:xfrm>
          <a:prstGeom prst="rect">
            <a:avLst/>
          </a:prstGeom>
          <a:noFill/>
          <a:ln/>
        </p:spPr>
        <p:txBody>
          <a:bodyPr wrap="square" lIns="0" tIns="0" rIns="0" bIns="0" rtlCol="0" anchor="t"/>
          <a:lstStyle/>
          <a:p>
            <a:pPr indent="0" marL="0">
              <a:buNone/>
            </a:pPr>
            <a:r>
              <a:rPr lang="en-US" sz="2800" b="1" dirty="0">
                <a:solidFill>
                  <a:srgbClr val="3C4A57"/>
                </a:solidFill>
              </a:rPr>
              <a:t>0/5</a:t>
            </a:r>
            <a:endParaRPr lang="en-US" sz="2800" dirty="0"/>
          </a:p>
        </p:txBody>
      </p:sp>
      <p:sp>
        <p:nvSpPr>
          <p:cNvPr id="11" name="Text 8"/>
          <p:cNvSpPr txBox="1"/>
          <p:nvPr/>
        </p:nvSpPr>
        <p:spPr>
          <a:xfrm>
            <a:off x="4572000" y="5084064"/>
            <a:ext cx="1371600" cy="822960"/>
          </a:xfrm>
          <a:prstGeom prst="rect">
            <a:avLst/>
          </a:prstGeom>
          <a:noFill/>
          <a:ln/>
        </p:spPr>
        <p:txBody>
          <a:bodyPr wrap="square" lIns="0" tIns="0" rIns="0" bIns="0" rtlCol="0" anchor="t"/>
          <a:lstStyle/>
          <a:p>
            <a:pPr indent="0" marL="0">
              <a:buNone/>
            </a:pPr>
            <a:r>
              <a:rPr lang="en-US" sz="1200" dirty="0">
                <a:solidFill>
                  <a:srgbClr val="3C4A57"/>
                </a:solidFill>
              </a:rPr>
              <a:t>π1-nominal</a:t>
            </a:r>
            <a:endParaRPr lang="en-US" sz="1200" dirty="0"/>
          </a:p>
          <a:p>
            <a:pPr indent="0" marL="0">
              <a:buNone/>
            </a:pPr>
            <a:r>
              <a:rPr lang="en-US" sz="1200" dirty="0">
                <a:solidFill>
                  <a:srgbClr val="3C4A57"/>
                </a:solidFill>
              </a:rPr>
              <a:t>seeds solved</a:t>
            </a:r>
            <a:endParaRPr lang="en-US" sz="1200" dirty="0"/>
          </a:p>
        </p:txBody>
      </p:sp>
      <p:sp>
        <p:nvSpPr>
          <p:cNvPr id="12" name="e2e2"/>
          <p:cNvSpPr/>
          <p:nvPr/>
        </p:nvSpPr>
        <p:spPr>
          <a:xfrm>
            <a:off x="6126480" y="4983480"/>
            <a:ext cx="2651760" cy="960120"/>
          </a:xfrm>
          <a:prstGeom prst="roundRect">
            <a:avLst>
              <a:gd name="adj" fmla="val 7619"/>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3" name="Text 10"/>
          <p:cNvSpPr txBox="1"/>
          <p:nvPr/>
        </p:nvSpPr>
        <p:spPr>
          <a:xfrm>
            <a:off x="6309360" y="5029200"/>
            <a:ext cx="1097280" cy="548640"/>
          </a:xfrm>
          <a:prstGeom prst="rect">
            <a:avLst/>
          </a:prstGeom>
          <a:noFill/>
          <a:ln/>
        </p:spPr>
        <p:txBody>
          <a:bodyPr wrap="square" lIns="0" tIns="0" rIns="0" bIns="0" rtlCol="0" anchor="t"/>
          <a:lstStyle/>
          <a:p>
            <a:pPr indent="0" marL="0">
              <a:buNone/>
            </a:pPr>
            <a:r>
              <a:rPr lang="en-US" sz="2800" b="1" dirty="0">
                <a:solidFill>
                  <a:srgbClr val="3C4A57"/>
                </a:solidFill>
              </a:rPr>
              <a:t>0/5</a:t>
            </a:r>
            <a:endParaRPr lang="en-US" sz="2800" dirty="0"/>
          </a:p>
        </p:txBody>
      </p:sp>
      <p:sp>
        <p:nvSpPr>
          <p:cNvPr id="14" name="Text 11"/>
          <p:cNvSpPr txBox="1"/>
          <p:nvPr/>
        </p:nvSpPr>
        <p:spPr>
          <a:xfrm>
            <a:off x="7360920" y="5084064"/>
            <a:ext cx="1371600" cy="822960"/>
          </a:xfrm>
          <a:prstGeom prst="rect">
            <a:avLst/>
          </a:prstGeom>
          <a:noFill/>
          <a:ln/>
        </p:spPr>
        <p:txBody>
          <a:bodyPr wrap="square" lIns="0" tIns="0" rIns="0" bIns="0" rtlCol="0" anchor="t"/>
          <a:lstStyle/>
          <a:p>
            <a:pPr indent="0" marL="0">
              <a:buNone/>
            </a:pPr>
            <a:r>
              <a:rPr lang="en-US" sz="1200" dirty="0">
                <a:solidFill>
                  <a:srgbClr val="3C4A57"/>
                </a:solidFill>
              </a:rPr>
              <a:t>π1-random</a:t>
            </a:r>
            <a:endParaRPr lang="en-US" sz="1200" dirty="0"/>
          </a:p>
          <a:p>
            <a:pPr indent="0" marL="0">
              <a:buNone/>
            </a:pPr>
            <a:r>
              <a:rPr lang="en-US" sz="1200" dirty="0">
                <a:solidFill>
                  <a:srgbClr val="3C4A57"/>
                </a:solidFill>
              </a:rPr>
              <a:t>seeds solved</a:t>
            </a:r>
            <a:endParaRPr lang="en-US" sz="1200" dirty="0"/>
          </a:p>
        </p:txBody>
      </p:sp>
      <p:sp>
        <p:nvSpPr>
          <p:cNvPr id="15" name="e2e3"/>
          <p:cNvSpPr/>
          <p:nvPr/>
        </p:nvSpPr>
        <p:spPr>
          <a:xfrm>
            <a:off x="8915400" y="4983480"/>
            <a:ext cx="2651760" cy="960120"/>
          </a:xfrm>
          <a:prstGeom prst="roundRect">
            <a:avLst>
              <a:gd name="adj" fmla="val 7619"/>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16" name="Text 13"/>
          <p:cNvSpPr txBox="1"/>
          <p:nvPr/>
        </p:nvSpPr>
        <p:spPr>
          <a:xfrm>
            <a:off x="9098280" y="5029200"/>
            <a:ext cx="1097280" cy="548640"/>
          </a:xfrm>
          <a:prstGeom prst="rect">
            <a:avLst/>
          </a:prstGeom>
          <a:noFill/>
          <a:ln/>
        </p:spPr>
        <p:txBody>
          <a:bodyPr wrap="square" lIns="0" tIns="0" rIns="0" bIns="0" rtlCol="0" anchor="t"/>
          <a:lstStyle/>
          <a:p>
            <a:pPr indent="0" marL="0">
              <a:buNone/>
            </a:pPr>
            <a:r>
              <a:rPr lang="en-US" sz="2800" b="1" dirty="0">
                <a:solidFill>
                  <a:srgbClr val="E8962E"/>
                </a:solidFill>
              </a:rPr>
              <a:t>3/5</a:t>
            </a:r>
            <a:endParaRPr lang="en-US" sz="2800" dirty="0"/>
          </a:p>
        </p:txBody>
      </p:sp>
      <p:sp>
        <p:nvSpPr>
          <p:cNvPr id="17" name="Text 14"/>
          <p:cNvSpPr txBox="1"/>
          <p:nvPr/>
        </p:nvSpPr>
        <p:spPr>
          <a:xfrm>
            <a:off x="10149840" y="5084064"/>
            <a:ext cx="1371600" cy="822960"/>
          </a:xfrm>
          <a:prstGeom prst="rect">
            <a:avLst/>
          </a:prstGeom>
          <a:noFill/>
          <a:ln/>
        </p:spPr>
        <p:txBody>
          <a:bodyPr wrap="square" lIns="0" tIns="0" rIns="0" bIns="0" rtlCol="0" anchor="t"/>
          <a:lstStyle/>
          <a:p>
            <a:pPr indent="0" marL="0">
              <a:buNone/>
            </a:pPr>
            <a:r>
              <a:rPr lang="en-US" sz="1200" dirty="0">
                <a:solidFill>
                  <a:srgbClr val="3C4A57"/>
                </a:solidFill>
              </a:rPr>
              <a:t>π1-WM (RetryVLA)</a:t>
            </a:r>
            <a:endParaRPr lang="en-US" sz="1200" dirty="0"/>
          </a:p>
          <a:p>
            <a:pPr indent="0" marL="0">
              <a:buNone/>
            </a:pPr>
            <a:r>
              <a:rPr lang="en-US" sz="1200" dirty="0">
                <a:solidFill>
                  <a:srgbClr val="3C4A57"/>
                </a:solidFill>
              </a:rPr>
              <a:t>seeds solved</a:t>
            </a:r>
            <a:endParaRPr lang="en-US" sz="1200" dirty="0"/>
          </a:p>
        </p:txBody>
      </p:sp>
      <p:sp>
        <p:nvSpPr>
          <p:cNvPr id="18" name="Text 15"/>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i="1" dirty="0">
                <a:solidFill>
                  <a:srgbClr val="6B7785"/>
                </a:solidFill>
              </a:rPr>
              <a:t>π1-WM = RetryVLA pi1, seed-0 checkpoint (test RSR 0.439; 3-seed mean 0.418 ± 0.021, nominal 0.785)</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The VLA learned the WM's move: get clear, then retry</a:t>
            </a:r>
            <a:endParaRPr lang="en-US" sz="3000" dirty="0"/>
          </a:p>
        </p:txBody>
      </p:sp>
      <p:pic>
        <p:nvPicPr>
          <p:cNvPr id="3" name="m5_e2e_test_keys.png" descr="end to end keyframes">    </p:cNvPr>
          <p:cNvPicPr>
            <a:picLocks noChangeAspect="1"/>
          </p:cNvPicPr>
          <p:nvPr/>
        </p:nvPicPr>
        <p:blipFill>
          <a:blip r:embed="rId1"/>
          <a:stretch>
            <a:fillRect/>
          </a:stretch>
        </p:blipFill>
        <p:spPr>
          <a:xfrm>
            <a:off x="912085" y="1097280"/>
            <a:ext cx="6222550" cy="5120640"/>
          </a:xfrm>
          <a:prstGeom prst="rect">
            <a:avLst/>
          </a:prstGeom>
        </p:spPr>
      </p:pic>
      <p:sp>
        <p:nvSpPr>
          <p:cNvPr id="4" name="e2eread"/>
          <p:cNvSpPr/>
          <p:nvPr/>
        </p:nvSpPr>
        <p:spPr>
          <a:xfrm>
            <a:off x="7772400" y="1097280"/>
            <a:ext cx="3840480" cy="5120640"/>
          </a:xfrm>
          <a:prstGeom prst="roundRect">
            <a:avLst>
              <a:gd name="adj" fmla="val 1905"/>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8001000" y="1280160"/>
            <a:ext cx="3383280" cy="640080"/>
          </a:xfrm>
          <a:prstGeom prst="rect">
            <a:avLst/>
          </a:prstGeom>
          <a:noFill/>
          <a:ln/>
        </p:spPr>
        <p:txBody>
          <a:bodyPr wrap="square" lIns="0" tIns="0" rIns="0" bIns="0" rtlCol="0" anchor="t"/>
          <a:lstStyle/>
          <a:p>
            <a:pPr indent="0" marL="0">
              <a:buNone/>
            </a:pPr>
            <a:r>
              <a:rPr lang="en-US" sz="1500" b="1" dirty="0">
                <a:solidFill>
                  <a:srgbClr val="23303B"/>
                </a:solidFill>
              </a:rPr>
              <a:t>Same unseen drawer failure, seed 0 for every row</a:t>
            </a:r>
            <a:endParaRPr lang="en-US" sz="1500" dirty="0"/>
          </a:p>
        </p:txBody>
      </p:sp>
      <p:sp>
        <p:nvSpPr>
          <p:cNvPr id="6" name="Text 3"/>
          <p:cNvSpPr txBox="1"/>
          <p:nvPr/>
        </p:nvSpPr>
        <p:spPr>
          <a:xfrm>
            <a:off x="8001000" y="2011680"/>
            <a:ext cx="3429000" cy="411480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rows: π0, π1-nominal, π1-random, π1-WM</a:t>
            </a:r>
            <a:endParaRPr lang="en-US" sz="1200" dirty="0"/>
          </a:p>
          <a:p>
            <a:pPr marL="342900" indent="-342900">
              <a:spcAft>
                <a:spcPts val="600"/>
              </a:spcAft>
              <a:buSzPct val="100000"/>
              <a:buChar char="•"/>
            </a:pPr>
            <a:r>
              <a:rPr lang="en-US" sz="1200" dirty="0">
                <a:solidFill>
                  <a:srgbClr val="3C4A57"/>
                </a:solidFill>
              </a:rPr>
              <a:t>π0 / π1-nominal hover at 1.09-1.10 m for all 520 steps</a:t>
            </a:r>
            <a:endParaRPr lang="en-US" sz="1200" dirty="0"/>
          </a:p>
          <a:p>
            <a:pPr marL="342900" indent="-342900">
              <a:spcAft>
                <a:spcPts val="600"/>
              </a:spcAft>
              <a:buSzPct val="100000"/>
              <a:buChar char="•"/>
            </a:pPr>
            <a:r>
              <a:rPr lang="en-US" sz="1200" dirty="0">
                <a:solidFill>
                  <a:srgbClr val="3C4A57"/>
                </a:solidFill>
              </a:rPr>
              <a:t>π1-random moves a little higher (1.14-1.24 m), still stuck</a:t>
            </a:r>
            <a:endParaRPr lang="en-US" sz="1200" dirty="0"/>
          </a:p>
          <a:p>
            <a:pPr marL="342900" indent="-342900">
              <a:spcAft>
                <a:spcPts val="600"/>
              </a:spcAft>
              <a:buSzPct val="100000"/>
              <a:buChar char="•"/>
            </a:pPr>
            <a:r>
              <a:rPr lang="en-US" sz="1200" dirty="0">
                <a:solidFill>
                  <a:srgbClr val="3C4A57"/>
                </a:solidFill>
              </a:rPr>
              <a:t>π1-WM lifts itself to 1.31 m by step 40, comes back down, grasps at ~140, places at 163</a:t>
            </a:r>
            <a:endParaRPr lang="en-US" sz="1200" dirty="0"/>
          </a:p>
          <a:p>
            <a:pPr marL="342900" indent="-342900">
              <a:spcAft>
                <a:spcPts val="600"/>
              </a:spcAft>
              <a:buSzPct val="100000"/>
              <a:buChar char="•"/>
            </a:pPr>
            <a:r>
              <a:rPr lang="en-US" sz="1200" dirty="0">
                <a:solidFill>
                  <a:srgbClr val="3C4A57"/>
                </a:solidFill>
              </a:rPr>
              <a:t>no world model or simulator at test time: the behaviour was distilled</a:t>
            </a:r>
            <a:endParaRPr lang="en-US" sz="1200" dirty="0"/>
          </a:p>
          <a:p>
            <a:pPr marL="342900" indent="-342900">
              <a:spcAft>
                <a:spcPts val="600"/>
              </a:spcAft>
              <a:buSzPct val="100000"/>
              <a:buChar char="•"/>
            </a:pPr>
            <a:r>
              <a:rPr lang="en-US" sz="1200" dirty="0">
                <a:solidFill>
                  <a:srgbClr val="3C4A57"/>
                </a:solidFill>
              </a:rPr>
              <a:t>train-split episode (ep031): 0/5, 0/5, 0/5, 2/5</a:t>
            </a:r>
            <a:endParaRPr lang="en-US" sz="1200" dirty="0"/>
          </a:p>
          <a:p>
            <a:pPr marL="342900" indent="-342900">
              <a:spcAft>
                <a:spcPts val="600"/>
              </a:spcAft>
              <a:buSzPct val="100000"/>
              <a:buChar char="•"/>
            </a:pPr>
            <a:r>
              <a:rPr lang="en-US" sz="1200" dirty="0">
                <a:solidFill>
                  <a:srgbClr val="3C4A57"/>
                </a:solidFill>
              </a:rPr>
              <a:t>π1-WM = RetryVLA pi1 seed 0 (RSR 0.439); 3 seeds 0.418 ± 0.021</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end-to-end on the training-split drawer failure</a:t>
            </a:r>
            <a:endParaRPr lang="en-US" sz="3000" dirty="0"/>
          </a:p>
        </p:txBody>
      </p:sp>
      <p:pic>
        <p:nvPicPr>
          <p:cNvPr id="3" name="video_m5_e2e_train_draw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548640" y="1120083"/>
            <a:ext cx="11064240" cy="3886314"/>
          </a:xfrm>
          <a:prstGeom prst="rect">
            <a:avLst/>
          </a:prstGeom>
        </p:spPr>
      </p:pic>
      <p:sp>
        <p:nvSpPr>
          <p:cNvPr id="4" name="Shape 1"/>
          <p:cNvSpPr/>
          <p:nvPr/>
        </p:nvSpPr>
        <p:spPr>
          <a:xfrm>
            <a:off x="10396728" y="1174947"/>
            <a:ext cx="1143000" cy="292608"/>
          </a:xfrm>
          <a:prstGeom prst="roundRect">
            <a:avLst>
              <a:gd name="adj" fmla="val 25000"/>
            </a:avLst>
          </a:prstGeom>
          <a:solidFill>
            <a:srgbClr val="E8962E"/>
          </a:solidFill>
          <a:ln w="12700">
            <a:solidFill>
              <a:srgbClr val="E8962E"/>
            </a:solidFill>
            <a:prstDash val="solid"/>
          </a:ln>
        </p:spPr>
      </p:sp>
      <p:sp>
        <p:nvSpPr>
          <p:cNvPr id="5" name="Text 2"/>
          <p:cNvSpPr txBox="1"/>
          <p:nvPr/>
        </p:nvSpPr>
        <p:spPr>
          <a:xfrm>
            <a:off x="10396728" y="1174947"/>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 VIDEO</a:t>
            </a:r>
            <a:endParaRPr lang="en-US" sz="1100" dirty="0"/>
          </a:p>
        </p:txBody>
      </p:sp>
      <p:sp>
        <p:nvSpPr>
          <p:cNvPr id="6" name="Text 3"/>
          <p:cNvSpPr txBox="1"/>
          <p:nvPr/>
        </p:nvSpPr>
        <p:spPr>
          <a:xfrm>
            <a:off x="548640" y="5212080"/>
            <a:ext cx="11064240" cy="822960"/>
          </a:xfrm>
          <a:prstGeom prst="rect">
            <a:avLst/>
          </a:prstGeom>
          <a:noFill/>
          <a:ln/>
        </p:spPr>
        <p:txBody>
          <a:bodyPr wrap="square" lIns="0" tIns="0" rIns="0" bIns="0" rtlCol="0" anchor="t"/>
          <a:lstStyle/>
          <a:p>
            <a:pPr indent="0" marL="0">
              <a:buNone/>
            </a:pPr>
            <a:r>
              <a:rPr lang="en-US" sz="1400" dirty="0">
                <a:solidFill>
                  <a:srgbClr val="3C4A57"/>
                </a:solidFill>
              </a:rPr>
              <a:t>The same drawer failure as the A/B/C explainer (ep031 open6). π0 0/5, π1-nominal 0/5, π1-random 0/5, π1-WM 2/5 seeds. Still far from reliable on this failure. π1-WM = RetryVLA pi1, seed 0 (3-seed test RSR 0.418 ± 0.021); the plan now verifies bridges under ≥ 2 of 3 continuation seeds.</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Related work: where RetryVLA sits</a:t>
            </a:r>
            <a:endParaRPr lang="en-US" sz="3000" dirty="0"/>
          </a:p>
        </p:txBody>
      </p:sp>
      <p:graphicFrame>
        <p:nvGraphicFramePr>
          <p:cNvPr id="28" name="Table 0"/>
          <p:cNvGraphicFramePr>
            <a:graphicFrameLocks noGrp="1"/>
          </p:cNvGraphicFramePr>
          <p:nvPr>
            <p:extLst>
              <p:ext uri="{D42A27DB-BD31-4B8C-83A1-F6EECF244321}">
                <p14:modId xmlns:p14="http://schemas.microsoft.com/office/powerpoint/2010/main" val="1579011935"/>
              </p:ext>
            </p:extLst>
          </p:nvPr>
        </p:nvGraphicFramePr>
        <p:xfrm>
          <a:off x="548640" y="1143000"/>
          <a:ext cx="11064240" cy="914400"/>
        </p:xfrm>
        <a:graphic>
          <a:graphicData uri="http://schemas.openxmlformats.org/drawingml/2006/table">
            <a:tbl>
              <a:tblPr/>
              <a:tblGrid>
                <a:gridCol w="1417320"/>
                <a:gridCol w="960120"/>
                <a:gridCol w="1691640"/>
                <a:gridCol w="2194560"/>
                <a:gridCol w="1783080"/>
                <a:gridCol w="1508760"/>
                <a:gridCol w="1508760"/>
              </a:tblGrid>
              <a:tr h="356616">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method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recovery</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world model</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objective / value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policy update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verification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100" b="1" dirty="0">
                          <a:solidFill>
                            <a:srgbClr val="FFFFFF"/>
                          </a:solidFill>
                          <a:latin typeface="Times New Roman" pitchFamily="34" charset="0"/>
                          <a:ea typeface="Times New Roman" pitchFamily="34" charset="-122"/>
                          <a:cs typeface="Times New Roman" pitchFamily="34" charset="-120"/>
                        </a:rPr>
                        <a:t>extra at test time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r>
              <a:tr h="356616">
                <a:tc>
                  <a:txBody>
                    <a:bodyPr/>
                    <a:lstStyle/>
                    <a:p>
                      <a:pPr indent="0" marL="0">
                        <a:buNone/>
                      </a:pPr>
                      <a:r>
                        <a:rPr lang="en-US" sz="1100" b="1" dirty="0">
                          <a:solidFill>
                            <a:srgbClr val="E8962E"/>
                          </a:solidFill>
                          <a:latin typeface="Times New Roman" pitchFamily="34" charset="0"/>
                          <a:ea typeface="Times New Roman" pitchFamily="34" charset="-122"/>
                          <a:cs typeface="Times New Roman" pitchFamily="34" charset="-120"/>
                        </a:rPr>
                        <a:t>RetryVLA (ours)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yes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latent DINOv2 (filter)</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b="1" dirty="0">
                          <a:solidFill>
                            <a:srgbClr val="23303B"/>
                          </a:solidFill>
                          <a:latin typeface="Times New Roman" pitchFamily="34" charset="0"/>
                          <a:ea typeface="Times New Roman" pitchFamily="34" charset="-122"/>
                          <a:cs typeface="Times New Roman" pitchFamily="34" charset="-120"/>
                        </a:rPr>
                        <a:t>competence C^pi of the frozen pi</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verified SFT + 50% nominal</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sim, pi continues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b="1" dirty="0">
                          <a:solidFill>
                            <a:srgbClr val="23303B"/>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RePO-VLA</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yes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progress-aware semantic value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value-conditioned SFT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planner / human data</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 (v = 1 token)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Dream2Fix</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predicts fix</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video WM makes failures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learned verifier filter</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SFT of a VLM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learned verifier</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VLM + correction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ReCoVLA</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yes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VLM-compiled reward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residual PPO, VLA frozen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sim training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VLM + residual policy</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RACER</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yes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 (rich language)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SFT on perturbed demos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sim data generation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VLM supervisor</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Neuro-symbolic</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yes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scene-graph model</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distance to sub-goal</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 (re-plan)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detector + search</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DINO-WM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latent DINOv2</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distance to goal image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 (MPC / CEM)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planning each step</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TD-MPC2</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implicit latent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reward + TD value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online RL</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online interaction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MPPI planning</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RISE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indirect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video WM + value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progress value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RL in imagination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WMPO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emergent</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pixel video WM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binary success reward</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GRPO in the WM</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few real rollouts</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56616">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MimicGen</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task success on replay</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BC on generated data</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sim replay</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100" dirty="0">
                          <a:solidFill>
                            <a:srgbClr val="23303B"/>
                          </a:solidFill>
                          <a:latin typeface="Times New Roman" pitchFamily="34" charset="0"/>
                          <a:ea typeface="Times New Roman" pitchFamily="34" charset="-122"/>
                          <a:cs typeface="Times New Roman" pitchFamily="34" charset="-120"/>
                        </a:rPr>
                        <a:t>none</a:t>
                      </a:r>
                      <a:endParaRPr lang="en-US" sz="11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5623560"/>
            <a:ext cx="11064240" cy="640080"/>
          </a:xfrm>
          <a:prstGeom prst="rect">
            <a:avLst/>
          </a:prstGeom>
          <a:noFill/>
          <a:ln/>
        </p:spPr>
        <p:txBody>
          <a:bodyPr wrap="square" lIns="0" tIns="0" rIns="0" bIns="0" rtlCol="0" anchor="t"/>
          <a:lstStyle/>
          <a:p>
            <a:pPr indent="0" marL="0">
              <a:buNone/>
            </a:pPr>
            <a:r>
              <a:rPr lang="en-US" sz="1300" i="1" dirty="0">
                <a:solidFill>
                  <a:srgbClr val="3C4A57"/>
                </a:solidFill>
              </a:rPr>
              <a:t>Different signal (competence of the frozen policy, not goal / progress / reward), different update (verified SFT, not RL), cheap test time (no VLM, no planning). Our WM is a filter; verification sets the labels.</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Related work: recovery and failure correction</a:t>
            </a:r>
            <a:endParaRPr lang="en-US" sz="3000" dirty="0"/>
          </a:p>
        </p:txBody>
      </p:sp>
      <p:sp>
        <p:nvSpPr>
          <p:cNvPr id="3" name="rw0"/>
          <p:cNvSpPr/>
          <p:nvPr/>
        </p:nvSpPr>
        <p:spPr>
          <a:xfrm>
            <a:off x="548640" y="114300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4" name="rw_repovla.png" descr="RePO-VLA (arXiv 2026)">    </p:cNvPr>
          <p:cNvPicPr>
            <a:picLocks noChangeAspect="1"/>
          </p:cNvPicPr>
          <p:nvPr/>
        </p:nvPicPr>
        <p:blipFill>
          <a:blip r:embed="rId1"/>
          <a:stretch>
            <a:fillRect/>
          </a:stretch>
        </p:blipFill>
        <p:spPr>
          <a:xfrm>
            <a:off x="1557725" y="1252728"/>
            <a:ext cx="3422510" cy="1600200"/>
          </a:xfrm>
          <a:prstGeom prst="rect">
            <a:avLst/>
          </a:prstGeom>
        </p:spPr>
      </p:pic>
      <p:sp>
        <p:nvSpPr>
          <p:cNvPr id="5" name="Text 2"/>
          <p:cNvSpPr txBox="1"/>
          <p:nvPr/>
        </p:nvSpPr>
        <p:spPr>
          <a:xfrm>
            <a:off x="731520" y="289864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RePO-VLA (arXiv 2026)</a:t>
            </a:r>
            <a:endParaRPr lang="en-US" sz="1400" dirty="0"/>
          </a:p>
        </p:txBody>
      </p:sp>
      <p:sp>
        <p:nvSpPr>
          <p:cNvPr id="6" name="Text 3"/>
          <p:cNvSpPr txBox="1"/>
          <p:nvPr/>
        </p:nvSpPr>
        <p:spPr>
          <a:xfrm>
            <a:off x="731520" y="3172968"/>
            <a:ext cx="5074920" cy="411480"/>
          </a:xfrm>
          <a:prstGeom prst="rect">
            <a:avLst/>
          </a:prstGeom>
          <a:noFill/>
          <a:ln/>
        </p:spPr>
        <p:txBody>
          <a:bodyPr wrap="square" lIns="0" tIns="0" rIns="0" bIns="0" rtlCol="0" anchor="t"/>
          <a:lstStyle/>
          <a:p>
            <a:pPr indent="0" marL="0">
              <a:buNone/>
            </a:pPr>
            <a:r>
              <a:rPr lang="en-US" sz="1200" dirty="0">
                <a:solidFill>
                  <a:srgbClr val="3C4A57"/>
                </a:solidFill>
              </a:rPr>
              <a:t>progress value + value-conditioned SFT; recovery data from planner / humans. We search for it.</a:t>
            </a:r>
            <a:endParaRPr lang="en-US" sz="1200" dirty="0"/>
          </a:p>
        </p:txBody>
      </p:sp>
      <p:sp>
        <p:nvSpPr>
          <p:cNvPr id="7" name="rw1"/>
          <p:cNvSpPr/>
          <p:nvPr/>
        </p:nvSpPr>
        <p:spPr>
          <a:xfrm>
            <a:off x="6172200" y="114300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8" name="rw_dream2fix.png" descr="Dream2Fix (arXiv 2026)">    </p:cNvPr>
          <p:cNvPicPr>
            <a:picLocks noChangeAspect="1"/>
          </p:cNvPicPr>
          <p:nvPr/>
        </p:nvPicPr>
        <p:blipFill>
          <a:blip r:embed="rId2"/>
          <a:stretch>
            <a:fillRect/>
          </a:stretch>
        </p:blipFill>
        <p:spPr>
          <a:xfrm>
            <a:off x="6521617" y="1252728"/>
            <a:ext cx="4741845" cy="1600200"/>
          </a:xfrm>
          <a:prstGeom prst="rect">
            <a:avLst/>
          </a:prstGeom>
        </p:spPr>
      </p:pic>
      <p:sp>
        <p:nvSpPr>
          <p:cNvPr id="9" name="Text 5"/>
          <p:cNvSpPr txBox="1"/>
          <p:nvPr/>
        </p:nvSpPr>
        <p:spPr>
          <a:xfrm>
            <a:off x="6355080" y="289864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Dream2Fix (arXiv 2026)</a:t>
            </a:r>
            <a:endParaRPr lang="en-US" sz="1400" dirty="0"/>
          </a:p>
        </p:txBody>
      </p:sp>
      <p:sp>
        <p:nvSpPr>
          <p:cNvPr id="10" name="Text 6"/>
          <p:cNvSpPr txBox="1"/>
          <p:nvPr/>
        </p:nvSpPr>
        <p:spPr>
          <a:xfrm>
            <a:off x="6355080" y="3172968"/>
            <a:ext cx="5074920" cy="411480"/>
          </a:xfrm>
          <a:prstGeom prst="rect">
            <a:avLst/>
          </a:prstGeom>
          <a:noFill/>
          <a:ln/>
        </p:spPr>
        <p:txBody>
          <a:bodyPr wrap="square" lIns="0" tIns="0" rIns="0" bIns="0" rtlCol="0" anchor="t"/>
          <a:lstStyle/>
          <a:p>
            <a:pPr indent="0" marL="0">
              <a:buNone/>
            </a:pPr>
            <a:r>
              <a:rPr lang="en-US" sz="1200" dirty="0">
                <a:solidFill>
                  <a:srgbClr val="3C4A57"/>
                </a:solidFill>
              </a:rPr>
              <a:t>video WM dreams failures; a VLM predicts corrections. Not distilled, verifier is learned.</a:t>
            </a:r>
            <a:endParaRPr lang="en-US" sz="1200" dirty="0"/>
          </a:p>
        </p:txBody>
      </p:sp>
      <p:sp>
        <p:nvSpPr>
          <p:cNvPr id="11" name="rw2"/>
          <p:cNvSpPr/>
          <p:nvPr/>
        </p:nvSpPr>
        <p:spPr>
          <a:xfrm>
            <a:off x="548640" y="374904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12" name="rw_recovla.png" descr="ReCoVLA (arXiv 2026)">    </p:cNvPr>
          <p:cNvPicPr>
            <a:picLocks noChangeAspect="1"/>
          </p:cNvPicPr>
          <p:nvPr/>
        </p:nvPicPr>
        <p:blipFill>
          <a:blip r:embed="rId3"/>
          <a:stretch>
            <a:fillRect/>
          </a:stretch>
        </p:blipFill>
        <p:spPr>
          <a:xfrm>
            <a:off x="1462303" y="3858768"/>
            <a:ext cx="3613355" cy="1600200"/>
          </a:xfrm>
          <a:prstGeom prst="rect">
            <a:avLst/>
          </a:prstGeom>
        </p:spPr>
      </p:pic>
      <p:sp>
        <p:nvSpPr>
          <p:cNvPr id="13" name="Text 8"/>
          <p:cNvSpPr txBox="1"/>
          <p:nvPr/>
        </p:nvSpPr>
        <p:spPr>
          <a:xfrm>
            <a:off x="731520" y="550468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ReCoVLA (arXiv 2026)</a:t>
            </a:r>
            <a:endParaRPr lang="en-US" sz="1400" dirty="0"/>
          </a:p>
        </p:txBody>
      </p:sp>
      <p:sp>
        <p:nvSpPr>
          <p:cNvPr id="14" name="Text 9"/>
          <p:cNvSpPr txBox="1"/>
          <p:nvPr/>
        </p:nvSpPr>
        <p:spPr>
          <a:xfrm>
            <a:off x="731520" y="5779008"/>
            <a:ext cx="5074920" cy="411480"/>
          </a:xfrm>
          <a:prstGeom prst="rect">
            <a:avLst/>
          </a:prstGeom>
          <a:noFill/>
          <a:ln/>
        </p:spPr>
        <p:txBody>
          <a:bodyPr wrap="square" lIns="0" tIns="0" rIns="0" bIns="0" rtlCol="0" anchor="t"/>
          <a:lstStyle/>
          <a:p>
            <a:pPr indent="0" marL="0">
              <a:buNone/>
            </a:pPr>
            <a:r>
              <a:rPr lang="en-US" sz="1200" dirty="0">
                <a:solidFill>
                  <a:srgbClr val="3C4A57"/>
                </a:solidFill>
              </a:rPr>
              <a:t>VLM-compiled reward + residual PPO on a frozen VLA. Ours: no reward, no residual at test.</a:t>
            </a:r>
            <a:endParaRPr lang="en-US" sz="1200" dirty="0"/>
          </a:p>
        </p:txBody>
      </p:sp>
      <p:sp>
        <p:nvSpPr>
          <p:cNvPr id="15" name="rw3"/>
          <p:cNvSpPr/>
          <p:nvPr/>
        </p:nvSpPr>
        <p:spPr>
          <a:xfrm>
            <a:off x="6172200" y="374904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16" name="rw_racer.png" descr="RACER (ICRA 2025)">    </p:cNvPr>
          <p:cNvPicPr>
            <a:picLocks noChangeAspect="1"/>
          </p:cNvPicPr>
          <p:nvPr/>
        </p:nvPicPr>
        <p:blipFill>
          <a:blip r:embed="rId4"/>
          <a:stretch>
            <a:fillRect/>
          </a:stretch>
        </p:blipFill>
        <p:spPr>
          <a:xfrm>
            <a:off x="6633962" y="3858768"/>
            <a:ext cx="4517157" cy="1600200"/>
          </a:xfrm>
          <a:prstGeom prst="rect">
            <a:avLst/>
          </a:prstGeom>
        </p:spPr>
      </p:pic>
      <p:sp>
        <p:nvSpPr>
          <p:cNvPr id="17" name="Text 11"/>
          <p:cNvSpPr txBox="1"/>
          <p:nvPr/>
        </p:nvSpPr>
        <p:spPr>
          <a:xfrm>
            <a:off x="6355080" y="550468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RACER (ICRA 2025)</a:t>
            </a:r>
            <a:endParaRPr lang="en-US" sz="1400" dirty="0"/>
          </a:p>
        </p:txBody>
      </p:sp>
      <p:sp>
        <p:nvSpPr>
          <p:cNvPr id="18" name="Text 12"/>
          <p:cNvSpPr txBox="1"/>
          <p:nvPr/>
        </p:nvSpPr>
        <p:spPr>
          <a:xfrm>
            <a:off x="6355080" y="5779008"/>
            <a:ext cx="5074920" cy="411480"/>
          </a:xfrm>
          <a:prstGeom prst="rect">
            <a:avLst/>
          </a:prstGeom>
          <a:noFill/>
          <a:ln/>
        </p:spPr>
        <p:txBody>
          <a:bodyPr wrap="square" lIns="0" tIns="0" rIns="0" bIns="0" rtlCol="0" anchor="t"/>
          <a:lstStyle/>
          <a:p>
            <a:pPr indent="0" marL="0">
              <a:buNone/>
            </a:pPr>
            <a:r>
              <a:rPr lang="en-US" sz="1200" dirty="0">
                <a:solidFill>
                  <a:srgbClr val="3C4A57"/>
                </a:solidFill>
              </a:rPr>
              <a:t>perturbed expert demos + language supervisor every step. Ignores whether pi can continue.</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Related work: world-model planning and WM-assisted VLAs</a:t>
            </a:r>
            <a:endParaRPr lang="en-US" sz="3000" dirty="0"/>
          </a:p>
        </p:txBody>
      </p:sp>
      <p:sp>
        <p:nvSpPr>
          <p:cNvPr id="3" name="rw0"/>
          <p:cNvSpPr/>
          <p:nvPr/>
        </p:nvSpPr>
        <p:spPr>
          <a:xfrm>
            <a:off x="548640" y="114300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4" name="rw_dinowm.png" descr="DINO-WM (ICML 2025)">    </p:cNvPr>
          <p:cNvPicPr>
            <a:picLocks noChangeAspect="1"/>
          </p:cNvPicPr>
          <p:nvPr/>
        </p:nvPicPr>
        <p:blipFill>
          <a:blip r:embed="rId1"/>
          <a:stretch>
            <a:fillRect/>
          </a:stretch>
        </p:blipFill>
        <p:spPr>
          <a:xfrm>
            <a:off x="742950" y="1252728"/>
            <a:ext cx="5052060" cy="1600200"/>
          </a:xfrm>
          <a:prstGeom prst="rect">
            <a:avLst/>
          </a:prstGeom>
        </p:spPr>
      </p:pic>
      <p:sp>
        <p:nvSpPr>
          <p:cNvPr id="5" name="Text 2"/>
          <p:cNvSpPr txBox="1"/>
          <p:nvPr/>
        </p:nvSpPr>
        <p:spPr>
          <a:xfrm>
            <a:off x="731520" y="289864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DINO-WM (ICML 2025)</a:t>
            </a:r>
            <a:endParaRPr lang="en-US" sz="1400" dirty="0"/>
          </a:p>
        </p:txBody>
      </p:sp>
      <p:sp>
        <p:nvSpPr>
          <p:cNvPr id="6" name="Text 3"/>
          <p:cNvSpPr txBox="1"/>
          <p:nvPr/>
        </p:nvSpPr>
        <p:spPr>
          <a:xfrm>
            <a:off x="731520" y="3172968"/>
            <a:ext cx="5074920" cy="411480"/>
          </a:xfrm>
          <a:prstGeom prst="rect">
            <a:avLst/>
          </a:prstGeom>
          <a:noFill/>
          <a:ln/>
        </p:spPr>
        <p:txBody>
          <a:bodyPr wrap="square" lIns="0" tIns="0" rIns="0" bIns="0" rtlCol="0" anchor="t"/>
          <a:lstStyle/>
          <a:p>
            <a:pPr indent="0" marL="0">
              <a:buNone/>
            </a:pPr>
            <a:r>
              <a:rPr lang="en-US" sz="1200" dirty="0">
                <a:solidFill>
                  <a:srgbClr val="3C4A57"/>
                </a:solidFill>
              </a:rPr>
              <a:t>our WM architecture; plans to a goal image. Goal-latent search: 0.240 vs C^pi 0.480 for us.</a:t>
            </a:r>
            <a:endParaRPr lang="en-US" sz="1200" dirty="0"/>
          </a:p>
        </p:txBody>
      </p:sp>
      <p:sp>
        <p:nvSpPr>
          <p:cNvPr id="7" name="rw1"/>
          <p:cNvSpPr/>
          <p:nvPr/>
        </p:nvSpPr>
        <p:spPr>
          <a:xfrm>
            <a:off x="6172200" y="114300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8" name="rw_tdmpc2.png" descr="TD-MPC2 (ICLR 2024)">    </p:cNvPr>
          <p:cNvPicPr>
            <a:picLocks noChangeAspect="1"/>
          </p:cNvPicPr>
          <p:nvPr/>
        </p:nvPicPr>
        <p:blipFill>
          <a:blip r:embed="rId2"/>
          <a:stretch>
            <a:fillRect/>
          </a:stretch>
        </p:blipFill>
        <p:spPr>
          <a:xfrm>
            <a:off x="7906448" y="1252728"/>
            <a:ext cx="1972184" cy="1600200"/>
          </a:xfrm>
          <a:prstGeom prst="rect">
            <a:avLst/>
          </a:prstGeom>
        </p:spPr>
      </p:pic>
      <p:sp>
        <p:nvSpPr>
          <p:cNvPr id="9" name="Text 5"/>
          <p:cNvSpPr txBox="1"/>
          <p:nvPr/>
        </p:nvSpPr>
        <p:spPr>
          <a:xfrm>
            <a:off x="6355080" y="289864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TD-MPC2 (ICLR 2024)</a:t>
            </a:r>
            <a:endParaRPr lang="en-US" sz="1400" dirty="0"/>
          </a:p>
        </p:txBody>
      </p:sp>
      <p:sp>
        <p:nvSpPr>
          <p:cNvPr id="10" name="Text 6"/>
          <p:cNvSpPr txBox="1"/>
          <p:nvPr/>
        </p:nvSpPr>
        <p:spPr>
          <a:xfrm>
            <a:off x="6355080" y="3172968"/>
            <a:ext cx="5074920" cy="411480"/>
          </a:xfrm>
          <a:prstGeom prst="rect">
            <a:avLst/>
          </a:prstGeom>
          <a:noFill/>
          <a:ln/>
        </p:spPr>
        <p:txBody>
          <a:bodyPr wrap="square" lIns="0" tIns="0" rIns="0" bIns="0" rtlCol="0" anchor="t"/>
          <a:lstStyle/>
          <a:p>
            <a:pPr indent="0" marL="0">
              <a:buNone/>
            </a:pPr>
            <a:r>
              <a:rPr lang="en-US" sz="1200" dirty="0">
                <a:solidFill>
                  <a:srgbClr val="3C4A57"/>
                </a:solidFill>
              </a:rPr>
              <a:t>short latent plan + value at the horizon: our structure, but RL value and planning at test.</a:t>
            </a:r>
            <a:endParaRPr lang="en-US" sz="1200" dirty="0"/>
          </a:p>
        </p:txBody>
      </p:sp>
      <p:sp>
        <p:nvSpPr>
          <p:cNvPr id="11" name="rw2"/>
          <p:cNvSpPr/>
          <p:nvPr/>
        </p:nvSpPr>
        <p:spPr>
          <a:xfrm>
            <a:off x="548640" y="374904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12" name="rw_rise_overview.png" descr="RISE (RSS 2026)">    </p:cNvPr>
          <p:cNvPicPr>
            <a:picLocks noChangeAspect="1"/>
          </p:cNvPicPr>
          <p:nvPr/>
        </p:nvPicPr>
        <p:blipFill>
          <a:blip r:embed="rId3"/>
          <a:stretch>
            <a:fillRect/>
          </a:stretch>
        </p:blipFill>
        <p:spPr>
          <a:xfrm>
            <a:off x="1829005" y="3858768"/>
            <a:ext cx="2879949" cy="1600200"/>
          </a:xfrm>
          <a:prstGeom prst="rect">
            <a:avLst/>
          </a:prstGeom>
        </p:spPr>
      </p:pic>
      <p:sp>
        <p:nvSpPr>
          <p:cNvPr id="13" name="Text 8"/>
          <p:cNvSpPr txBox="1"/>
          <p:nvPr/>
        </p:nvSpPr>
        <p:spPr>
          <a:xfrm>
            <a:off x="731520" y="550468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RISE (RSS 2026)</a:t>
            </a:r>
            <a:endParaRPr lang="en-US" sz="1400" dirty="0"/>
          </a:p>
        </p:txBody>
      </p:sp>
      <p:sp>
        <p:nvSpPr>
          <p:cNvPr id="14" name="Text 9"/>
          <p:cNvSpPr txBox="1"/>
          <p:nvPr/>
        </p:nvSpPr>
        <p:spPr>
          <a:xfrm>
            <a:off x="731520" y="5779008"/>
            <a:ext cx="5074920" cy="411480"/>
          </a:xfrm>
          <a:prstGeom prst="rect">
            <a:avLst/>
          </a:prstGeom>
          <a:noFill/>
          <a:ln/>
        </p:spPr>
        <p:txBody>
          <a:bodyPr wrap="square" lIns="0" tIns="0" rIns="0" bIns="0" rtlCol="0" anchor="t"/>
          <a:lstStyle/>
          <a:p>
            <a:pPr indent="0" marL="0">
              <a:buNone/>
            </a:pPr>
            <a:r>
              <a:rPr lang="en-US" sz="1200" dirty="0">
                <a:solidFill>
                  <a:srgbClr val="3C4A57"/>
                </a:solidFill>
              </a:rPr>
              <a:t>RL in imagination with a progress value. Our RISE-inspired arm: 0.068-0.113 &lt; pi0.</a:t>
            </a:r>
            <a:endParaRPr lang="en-US" sz="1200" dirty="0"/>
          </a:p>
        </p:txBody>
      </p:sp>
      <p:sp>
        <p:nvSpPr>
          <p:cNvPr id="15" name="rw3"/>
          <p:cNvSpPr/>
          <p:nvPr/>
        </p:nvSpPr>
        <p:spPr>
          <a:xfrm>
            <a:off x="6172200" y="3749040"/>
            <a:ext cx="5440680" cy="2468880"/>
          </a:xfrm>
          <a:prstGeom prst="roundRect">
            <a:avLst>
              <a:gd name="adj" fmla="val 296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pic>
        <p:nvPicPr>
          <p:cNvPr id="16" name="rw_wmpo.png" descr="WMPO (ICLR 2026)">    </p:cNvPr>
          <p:cNvPicPr>
            <a:picLocks noChangeAspect="1"/>
          </p:cNvPicPr>
          <p:nvPr/>
        </p:nvPicPr>
        <p:blipFill>
          <a:blip r:embed="rId4"/>
          <a:stretch>
            <a:fillRect/>
          </a:stretch>
        </p:blipFill>
        <p:spPr>
          <a:xfrm>
            <a:off x="6512977" y="3858768"/>
            <a:ext cx="4759126" cy="1600200"/>
          </a:xfrm>
          <a:prstGeom prst="rect">
            <a:avLst/>
          </a:prstGeom>
        </p:spPr>
      </p:pic>
      <p:sp>
        <p:nvSpPr>
          <p:cNvPr id="17" name="Text 11"/>
          <p:cNvSpPr txBox="1"/>
          <p:nvPr/>
        </p:nvSpPr>
        <p:spPr>
          <a:xfrm>
            <a:off x="6355080" y="5504688"/>
            <a:ext cx="5074920" cy="274320"/>
          </a:xfrm>
          <a:prstGeom prst="rect">
            <a:avLst/>
          </a:prstGeom>
          <a:noFill/>
          <a:ln/>
        </p:spPr>
        <p:txBody>
          <a:bodyPr wrap="square" lIns="0" tIns="0" rIns="0" bIns="0" rtlCol="0" anchor="t"/>
          <a:lstStyle/>
          <a:p>
            <a:pPr indent="0" marL="0">
              <a:buNone/>
            </a:pPr>
            <a:r>
              <a:rPr lang="en-US" sz="1400" b="1" dirty="0">
                <a:solidFill>
                  <a:srgbClr val="23303B"/>
                </a:solidFill>
              </a:rPr>
              <a:t>WMPO (ICLR 2026)</a:t>
            </a:r>
            <a:endParaRPr lang="en-US" sz="1400" dirty="0"/>
          </a:p>
        </p:txBody>
      </p:sp>
      <p:sp>
        <p:nvSpPr>
          <p:cNvPr id="18" name="Text 12"/>
          <p:cNvSpPr txBox="1"/>
          <p:nvPr/>
        </p:nvSpPr>
        <p:spPr>
          <a:xfrm>
            <a:off x="6355080" y="5779008"/>
            <a:ext cx="5074920" cy="411480"/>
          </a:xfrm>
          <a:prstGeom prst="rect">
            <a:avLst/>
          </a:prstGeom>
          <a:noFill/>
          <a:ln/>
        </p:spPr>
        <p:txBody>
          <a:bodyPr wrap="square" lIns="0" tIns="0" rIns="0" bIns="0" rtlCol="0" anchor="t"/>
          <a:lstStyle/>
          <a:p>
            <a:pPr indent="0" marL="0">
              <a:buNone/>
            </a:pPr>
            <a:r>
              <a:rPr lang="en-US" sz="1200" dirty="0">
                <a:solidFill>
                  <a:srgbClr val="3C4A57"/>
                </a:solidFill>
              </a:rPr>
              <a:t>GRPO inside a pixel video WM, whole task. Ours: short bridges, verified SFT.</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Limitations and honest negatives</a:t>
            </a:r>
            <a:endParaRPr lang="en-US" sz="3000" dirty="0"/>
          </a:p>
        </p:txBody>
      </p:sp>
      <p:sp>
        <p:nvSpPr>
          <p:cNvPr id="3" name="lim0"/>
          <p:cNvSpPr/>
          <p:nvPr/>
        </p:nvSpPr>
        <p:spPr>
          <a:xfrm>
            <a:off x="548640" y="1188720"/>
            <a:ext cx="5440680" cy="5029200"/>
          </a:xfrm>
          <a:prstGeom prst="roundRect">
            <a:avLst>
              <a:gd name="adj" fmla="val 1455"/>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4" name="Shape 2"/>
          <p:cNvSpPr/>
          <p:nvPr/>
        </p:nvSpPr>
        <p:spPr>
          <a:xfrm>
            <a:off x="777240" y="1371600"/>
            <a:ext cx="292608" cy="292608"/>
          </a:xfrm>
          <a:prstGeom prst="ellipse">
            <a:avLst/>
          </a:prstGeom>
          <a:solidFill>
            <a:srgbClr val="C8553D"/>
          </a:solidFill>
          <a:ln w="12700">
            <a:solidFill>
              <a:srgbClr val="C8553D"/>
            </a:solidFill>
            <a:prstDash val="solid"/>
          </a:ln>
        </p:spPr>
      </p:sp>
      <p:sp>
        <p:nvSpPr>
          <p:cNvPr id="5" name="Text 3"/>
          <p:cNvSpPr txBox="1"/>
          <p:nvPr/>
        </p:nvSpPr>
        <p:spPr>
          <a:xfrm>
            <a:off x="1188720" y="1335024"/>
            <a:ext cx="4572000" cy="365760"/>
          </a:xfrm>
          <a:prstGeom prst="rect">
            <a:avLst/>
          </a:prstGeom>
          <a:noFill/>
          <a:ln/>
        </p:spPr>
        <p:txBody>
          <a:bodyPr wrap="square" lIns="0" tIns="0" rIns="0" bIns="0" rtlCol="0" anchor="t"/>
          <a:lstStyle/>
          <a:p>
            <a:pPr indent="0" marL="0">
              <a:buNone/>
            </a:pPr>
            <a:r>
              <a:rPr lang="en-US" sz="1800" b="1" dirty="0">
                <a:solidFill>
                  <a:srgbClr val="C8553D"/>
                </a:solidFill>
              </a:rPr>
              <a:t>Method</a:t>
            </a:r>
            <a:endParaRPr lang="en-US" sz="1800" dirty="0"/>
          </a:p>
        </p:txBody>
      </p:sp>
      <p:sp>
        <p:nvSpPr>
          <p:cNvPr id="6" name="Text 4"/>
          <p:cNvSpPr txBox="1"/>
          <p:nvPr/>
        </p:nvSpPr>
        <p:spPr>
          <a:xfrm>
            <a:off x="822960" y="1874520"/>
            <a:ext cx="4937760"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WM is mostly a filter over the proposal library (VLA samples + primitives): no library −0.175; planning from noise 0.398 vs 0.458</a:t>
            </a:r>
            <a:endParaRPr lang="en-US" sz="1400" dirty="0"/>
          </a:p>
          <a:p>
            <a:pPr marL="342900" indent="-342900">
              <a:spcAft>
                <a:spcPts val="600"/>
              </a:spcAft>
              <a:buSzPct val="100000"/>
              <a:buChar char="•"/>
            </a:pPr>
            <a:r>
              <a:rPr lang="en-US" sz="1400" dirty="0">
                <a:solidFill>
                  <a:srgbClr val="3C4A57"/>
                </a:solidFill>
              </a:rPr>
              <a:t>WM data is not better than random-search data at equal count on Object (0.354 vs 0.362): only an efficiency claim holds</a:t>
            </a:r>
            <a:endParaRPr lang="en-US" sz="1400" dirty="0"/>
          </a:p>
          <a:p>
            <a:pPr marL="342900" indent="-342900">
              <a:spcAft>
                <a:spcPts val="600"/>
              </a:spcAft>
              <a:buSzPct val="100000"/>
              <a:buChar char="•"/>
            </a:pPr>
            <a:r>
              <a:rPr lang="en-US" sz="1400" dirty="0">
                <a:solidFill>
                  <a:srgbClr val="3C4A57"/>
                </a:solidFill>
              </a:rPr>
              <a:t>self-improvement loop (M6) gave no gain beyond extra training; weak tasks (stove, cookie box) stay low</a:t>
            </a:r>
            <a:endParaRPr lang="en-US" sz="1400" dirty="0"/>
          </a:p>
          <a:p>
            <a:pPr marL="342900" indent="-342900">
              <a:spcAft>
                <a:spcPts val="600"/>
              </a:spcAft>
              <a:buSzPct val="100000"/>
              <a:buChar char="•"/>
            </a:pPr>
            <a:r>
              <a:rPr lang="en-US" sz="1400" dirty="0">
                <a:solidFill>
                  <a:srgbClr val="3C4A57"/>
                </a:solidFill>
              </a:rPr>
              <a:t>one VLA backbone (SmolVLA, weak base 0.66 nominal) and one WM: no generality claim yet</a:t>
            </a:r>
            <a:endParaRPr lang="en-US" sz="1400" dirty="0"/>
          </a:p>
        </p:txBody>
      </p:sp>
      <p:sp>
        <p:nvSpPr>
          <p:cNvPr id="7" name="lim1"/>
          <p:cNvSpPr/>
          <p:nvPr/>
        </p:nvSpPr>
        <p:spPr>
          <a:xfrm>
            <a:off x="6172200" y="1188720"/>
            <a:ext cx="5440680" cy="5029200"/>
          </a:xfrm>
          <a:prstGeom prst="roundRect">
            <a:avLst>
              <a:gd name="adj" fmla="val 1455"/>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8" name="Shape 6"/>
          <p:cNvSpPr/>
          <p:nvPr/>
        </p:nvSpPr>
        <p:spPr>
          <a:xfrm>
            <a:off x="6400800" y="1371600"/>
            <a:ext cx="292608" cy="292608"/>
          </a:xfrm>
          <a:prstGeom prst="ellipse">
            <a:avLst/>
          </a:prstGeom>
          <a:solidFill>
            <a:srgbClr val="3C4A57"/>
          </a:solidFill>
          <a:ln w="12700">
            <a:solidFill>
              <a:srgbClr val="3C4A57"/>
            </a:solidFill>
            <a:prstDash val="solid"/>
          </a:ln>
        </p:spPr>
      </p:sp>
      <p:sp>
        <p:nvSpPr>
          <p:cNvPr id="9" name="Text 7"/>
          <p:cNvSpPr txBox="1"/>
          <p:nvPr/>
        </p:nvSpPr>
        <p:spPr>
          <a:xfrm>
            <a:off x="6812280" y="1335024"/>
            <a:ext cx="4572000" cy="365760"/>
          </a:xfrm>
          <a:prstGeom prst="rect">
            <a:avLst/>
          </a:prstGeom>
          <a:noFill/>
          <a:ln/>
        </p:spPr>
        <p:txBody>
          <a:bodyPr wrap="square" lIns="0" tIns="0" rIns="0" bIns="0" rtlCol="0" anchor="t"/>
          <a:lstStyle/>
          <a:p>
            <a:pPr indent="0" marL="0">
              <a:buNone/>
            </a:pPr>
            <a:r>
              <a:rPr lang="en-US" sz="1800" b="1" dirty="0">
                <a:solidFill>
                  <a:srgbClr val="3C4A57"/>
                </a:solidFill>
              </a:rPr>
              <a:t>Evidence and process</a:t>
            </a:r>
            <a:endParaRPr lang="en-US" sz="1800" dirty="0"/>
          </a:p>
        </p:txBody>
      </p:sp>
      <p:sp>
        <p:nvSpPr>
          <p:cNvPr id="10" name="Text 8"/>
          <p:cNvSpPr txBox="1"/>
          <p:nvPr/>
        </p:nvSpPr>
        <p:spPr>
          <a:xfrm>
            <a:off x="6446520" y="1874520"/>
            <a:ext cx="4937760" cy="42062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many baselines are 1 seed (random, progress, RISE, RL, best-of-8, P3, all of Object): &lt; ~4 pt is noise</a:t>
            </a:r>
            <a:endParaRPr lang="en-US" sz="1400" dirty="0"/>
          </a:p>
          <a:p>
            <a:pPr marL="342900" indent="-342900">
              <a:spcAft>
                <a:spcPts val="600"/>
              </a:spcAft>
              <a:buSzPct val="100000"/>
              <a:buChar char="•"/>
            </a:pPr>
            <a:r>
              <a:rPr lang="en-US" sz="1400" dirty="0">
                <a:solidFill>
                  <a:srgbClr val="3C4A57"/>
                </a:solidFill>
              </a:rPr>
              <a:t>Object nominal 0.942 vs 0.944 is 1 seed: no eps-test yet</a:t>
            </a:r>
            <a:endParaRPr lang="en-US" sz="1400" dirty="0"/>
          </a:p>
          <a:p>
            <a:pPr marL="342900" indent="-342900">
              <a:spcAft>
                <a:spcPts val="600"/>
              </a:spcAft>
              <a:buSzPct val="100000"/>
              <a:buChar char="•"/>
            </a:pPr>
            <a:r>
              <a:rPr lang="en-US" sz="1400" dirty="0">
                <a:solidFill>
                  <a:srgbClr val="3C4A57"/>
                </a:solidFill>
              </a:rPr>
              <a:t>Spatial test is a dev set from M7 on (used to choose M7 / M8); clean numbers only from Object</a:t>
            </a:r>
            <a:endParaRPr lang="en-US" sz="1400" dirty="0"/>
          </a:p>
          <a:p>
            <a:pPr marL="342900" indent="-342900">
              <a:spcAft>
                <a:spcPts val="600"/>
              </a:spcAft>
              <a:buSzPct val="100000"/>
              <a:buChar char="•"/>
            </a:pPr>
            <a:r>
              <a:rPr lang="en-US" sz="1400" dirty="0">
                <a:solidFill>
                  <a:srgbClr val="3C4A57"/>
                </a:solidFill>
              </a:rPr>
              <a:t>infrastructure cost: ≥ 6 quota (EDQUOT) incidents, lost tmux servers, MuJoCo segfaults, OOM: several SFTs retrained (code now patched)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Where we stand</a:t>
            </a:r>
            <a:endParaRPr lang="en-US" sz="3000" dirty="0"/>
          </a:p>
        </p:txBody>
      </p:sp>
      <p:sp>
        <p:nvSpPr>
          <p:cNvPr id="3" name="works"/>
          <p:cNvSpPr/>
          <p:nvPr/>
        </p:nvSpPr>
        <p:spPr>
          <a:xfrm>
            <a:off x="548640" y="1188720"/>
            <a:ext cx="5440680" cy="5029200"/>
          </a:xfrm>
          <a:prstGeom prst="roundRect">
            <a:avLst>
              <a:gd name="adj" fmla="val 1455"/>
            </a:avLst>
          </a:prstGeom>
          <a:solidFill>
            <a:srgbClr val="E0F2EF"/>
          </a:solidFill>
          <a:ln w="12700">
            <a:solidFill>
              <a:srgbClr val="E0F2EF"/>
            </a:solidFill>
            <a:prstDash val="solid"/>
          </a:ln>
          <a:effectLst>
            <a:outerShdw sx="100000" sy="100000" kx="0" ky="0" algn="bl" rotWithShape="0" blurRad="76200" dist="25400" dir="5400000">
              <a:srgbClr val="23303B">
                <a:alpha val="12000"/>
              </a:srgbClr>
            </a:outerShdw>
          </a:effectLst>
        </p:spPr>
      </p:sp>
      <p:sp>
        <p:nvSpPr>
          <p:cNvPr id="4" name="Text 2"/>
          <p:cNvSpPr txBox="1"/>
          <p:nvPr/>
        </p:nvSpPr>
        <p:spPr>
          <a:xfrm>
            <a:off x="777240" y="1353312"/>
            <a:ext cx="4937760" cy="365760"/>
          </a:xfrm>
          <a:prstGeom prst="rect">
            <a:avLst/>
          </a:prstGeom>
          <a:noFill/>
          <a:ln/>
        </p:spPr>
        <p:txBody>
          <a:bodyPr wrap="square" lIns="0" tIns="0" rIns="0" bIns="0" rtlCol="0" anchor="t"/>
          <a:lstStyle/>
          <a:p>
            <a:pPr indent="0" marL="0">
              <a:buNone/>
            </a:pPr>
            <a:r>
              <a:rPr lang="en-US" sz="1800" b="1" dirty="0">
                <a:solidFill>
                  <a:srgbClr val="2A9D8F"/>
                </a:solidFill>
              </a:rPr>
              <a:t>Supported</a:t>
            </a:r>
            <a:endParaRPr lang="en-US" sz="1800" dirty="0"/>
          </a:p>
        </p:txBody>
      </p:sp>
      <p:sp>
        <p:nvSpPr>
          <p:cNvPr id="5" name="Text 3"/>
          <p:cNvSpPr txBox="1"/>
          <p:nvPr/>
        </p:nvSpPr>
        <p:spPr>
          <a:xfrm>
            <a:off x="777240" y="1828800"/>
            <a:ext cx="4983480" cy="4297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3C4A57"/>
                </a:solidFill>
              </a:rPr>
              <a:t>competence-guided search + verified distillation: RSR 0.118 → 0.418 ± 0.021, nominal within 2 pt (3 seeds)</a:t>
            </a:r>
            <a:endParaRPr lang="en-US" sz="1600" dirty="0"/>
          </a:p>
          <a:p>
            <a:pPr marL="342900" indent="-342900">
              <a:spcAft>
                <a:spcPts val="600"/>
              </a:spcAft>
              <a:buSzPct val="100000"/>
              <a:buChar char="•"/>
            </a:pPr>
            <a:r>
              <a:rPr lang="en-US" sz="1600" dirty="0">
                <a:solidFill>
                  <a:srgbClr val="3C4A57"/>
                </a:solidFill>
              </a:rPr>
              <a:t>competence ≫ goal / progress in search and SFT; search result replicated on held-out Object</a:t>
            </a:r>
            <a:endParaRPr lang="en-US" sz="1600" dirty="0"/>
          </a:p>
          <a:p>
            <a:pPr marL="342900" indent="-342900">
              <a:spcAft>
                <a:spcPts val="600"/>
              </a:spcAft>
              <a:buSzPct val="100000"/>
              <a:buChar char="•"/>
            </a:pPr>
            <a:r>
              <a:rPr lang="en-US" sz="1600" dirty="0">
                <a:solidFill>
                  <a:srgbClr val="3C4A57"/>
                </a:solidFill>
              </a:rPr>
              <a:t>distillation ≫ demo-only, best-of-N, imagination-only and residual RL</a:t>
            </a:r>
            <a:endParaRPr lang="en-US" sz="1600" dirty="0"/>
          </a:p>
          <a:p>
            <a:pPr marL="342900" indent="-342900">
              <a:spcAft>
                <a:spcPts val="600"/>
              </a:spcAft>
              <a:buSzPct val="100000"/>
              <a:buChar char="•"/>
            </a:pPr>
            <a:r>
              <a:rPr lang="en-US" sz="1600" dirty="0">
                <a:solidFill>
                  <a:srgbClr val="3C4A57"/>
                </a:solidFill>
              </a:rPr>
              <a:t>B4 question answered: the value is in pi0 continuation labels</a:t>
            </a:r>
            <a:endParaRPr lang="en-US" sz="1600" dirty="0"/>
          </a:p>
          <a:p>
            <a:pPr marL="342900" indent="-342900">
              <a:spcAft>
                <a:spcPts val="600"/>
              </a:spcAft>
              <a:buSzPct val="100000"/>
              <a:buChar char="•"/>
            </a:pPr>
            <a:r>
              <a:rPr lang="en-US" sz="1600" dirty="0">
                <a:solidFill>
                  <a:srgbClr val="3C4A57"/>
                </a:solidFill>
              </a:rPr>
              <a:t>WM: 2-3× more verified recoveries per sim; matches a real-dynamics prefix at ~1/3 transitions</a:t>
            </a:r>
            <a:endParaRPr lang="en-US" sz="1600" dirty="0"/>
          </a:p>
        </p:txBody>
      </p:sp>
      <p:sp>
        <p:nvSpPr>
          <p:cNvPr id="6" name="open"/>
          <p:cNvSpPr/>
          <p:nvPr/>
        </p:nvSpPr>
        <p:spPr>
          <a:xfrm>
            <a:off x="6172200" y="1188720"/>
            <a:ext cx="5440680" cy="5029200"/>
          </a:xfrm>
          <a:prstGeom prst="roundRect">
            <a:avLst>
              <a:gd name="adj" fmla="val 1455"/>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7" name="Text 5"/>
          <p:cNvSpPr txBox="1"/>
          <p:nvPr/>
        </p:nvSpPr>
        <p:spPr>
          <a:xfrm>
            <a:off x="6400800" y="1353312"/>
            <a:ext cx="4937760" cy="365760"/>
          </a:xfrm>
          <a:prstGeom prst="rect">
            <a:avLst/>
          </a:prstGeom>
          <a:noFill/>
          <a:ln/>
        </p:spPr>
        <p:txBody>
          <a:bodyPr wrap="square" lIns="0" tIns="0" rIns="0" bIns="0" rtlCol="0" anchor="t"/>
          <a:lstStyle/>
          <a:p>
            <a:pPr indent="0" marL="0">
              <a:buNone/>
            </a:pPr>
            <a:r>
              <a:rPr lang="en-US" sz="1800" b="1" dirty="0">
                <a:solidFill>
                  <a:srgbClr val="C8553D"/>
                </a:solidFill>
              </a:rPr>
              <a:t>Open</a:t>
            </a:r>
            <a:endParaRPr lang="en-US" sz="1800" dirty="0"/>
          </a:p>
        </p:txBody>
      </p:sp>
      <p:sp>
        <p:nvSpPr>
          <p:cNvPr id="8" name="Text 6"/>
          <p:cNvSpPr txBox="1"/>
          <p:nvPr/>
        </p:nvSpPr>
        <p:spPr>
          <a:xfrm>
            <a:off x="6400800" y="1828800"/>
            <a:ext cx="4983480" cy="4297680"/>
          </a:xfrm>
          <a:prstGeom prst="rect">
            <a:avLst/>
          </a:prstGeom>
          <a:noFill/>
          <a:ln/>
        </p:spPr>
        <p:txBody>
          <a:bodyPr wrap="square" lIns="0" tIns="0" rIns="0" bIns="0" rtlCol="0" anchor="t"/>
          <a:lstStyle/>
          <a:p>
            <a:pPr marL="342900" indent="-342900">
              <a:spcAft>
                <a:spcPts val="600"/>
              </a:spcAft>
              <a:buSzPct val="100000"/>
              <a:buChar char="•"/>
            </a:pPr>
            <a:r>
              <a:rPr lang="en-US" sz="1600" dirty="0">
                <a:solidFill>
                  <a:srgbClr val="3C4A57"/>
                </a:solidFill>
              </a:rPr>
              <a:t>the WM does not yet plan bridges without the proposal library (M11)</a:t>
            </a:r>
            <a:endParaRPr lang="en-US" sz="1600" dirty="0"/>
          </a:p>
          <a:p>
            <a:pPr marL="342900" indent="-342900">
              <a:spcAft>
                <a:spcPts val="600"/>
              </a:spcAft>
              <a:buSzPct val="100000"/>
              <a:buChar char="•"/>
            </a:pPr>
            <a:r>
              <a:rPr lang="en-US" sz="1600" dirty="0">
                <a:solidFill>
                  <a:srgbClr val="3C4A57"/>
                </a:solidFill>
              </a:rPr>
              <a:t>acquisition efficiency → better policy at matched sim budget? (P4, not run)</a:t>
            </a:r>
            <a:endParaRPr lang="en-US" sz="1600" dirty="0"/>
          </a:p>
          <a:p>
            <a:pPr marL="342900" indent="-342900">
              <a:spcAft>
                <a:spcPts val="600"/>
              </a:spcAft>
              <a:buSzPct val="100000"/>
              <a:buChar char="•"/>
            </a:pPr>
            <a:r>
              <a:rPr lang="en-US" sz="1600" dirty="0">
                <a:solidFill>
                  <a:srgbClr val="3C4A57"/>
                </a:solidFill>
              </a:rPr>
              <a:t>end-to-end cost accounting incl. WM / critic training (P5, partial)</a:t>
            </a:r>
            <a:endParaRPr lang="en-US" sz="1600" dirty="0"/>
          </a:p>
          <a:p>
            <a:pPr marL="342900" indent="-342900">
              <a:spcAft>
                <a:spcPts val="600"/>
              </a:spcAft>
              <a:buSzPct val="100000"/>
              <a:buChar char="•"/>
            </a:pPr>
            <a:r>
              <a:rPr lang="en-US" sz="1600" dirty="0">
                <a:solidFill>
                  <a:srgbClr val="3C4A57"/>
                </a:solidFill>
              </a:rPr>
              <a:t>1-seed baselines and Object; eps-test on Object nominal</a:t>
            </a:r>
            <a:endParaRPr lang="en-US" sz="1600" dirty="0"/>
          </a:p>
          <a:p>
            <a:pPr marL="342900" indent="-342900">
              <a:spcAft>
                <a:spcPts val="600"/>
              </a:spcAft>
              <a:buSzPct val="100000"/>
              <a:buChar char="•"/>
            </a:pPr>
            <a:r>
              <a:rPr lang="en-US" sz="1600" dirty="0">
                <a:solidFill>
                  <a:srgbClr val="3C4A57"/>
                </a:solidFill>
              </a:rPr>
              <a:t>one VLA, one WM, two suites; LIBERO-Goal / LIBERO-10 not run</a:t>
            </a:r>
            <a:endParaRPr lang="en-US" sz="16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Next steps: PoC plan status (PLAN.md)</a:t>
            </a:r>
            <a:endParaRPr lang="en-US" sz="3000" dirty="0"/>
          </a:p>
        </p:txBody>
      </p:sp>
      <p:graphicFrame>
        <p:nvGraphicFramePr>
          <p:cNvPr id="33"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64240" cy="914400"/>
        </p:xfrm>
        <a:graphic>
          <a:graphicData uri="http://schemas.openxmlformats.org/drawingml/2006/table">
            <a:tbl>
              <a:tblPr/>
              <a:tblGrid>
                <a:gridCol w="548640"/>
                <a:gridCol w="4572000"/>
                <a:gridCol w="3291840"/>
                <a:gridCol w="2651760"/>
              </a:tblGrid>
              <a:tr h="457200">
                <a:tc>
                  <a:txBody>
                    <a:bodyP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experiment</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question</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latin typeface="Times New Roman" pitchFamily="34" charset="0"/>
                          <a:ea typeface="Times New Roman" pitchFamily="34" charset="-122"/>
                          <a:cs typeface="Times New Roman" pitchFamily="34" charset="-120"/>
                        </a:rPr>
                        <a:t>status</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r>
              <a:tr h="457200">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P1</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WM as planner (M11): no library, broad-noise CEM, WM v2</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can the WM plan bridges itself?</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b="1" dirty="0">
                          <a:solidFill>
                            <a:srgbClr val="C8553D"/>
                          </a:solidFill>
                          <a:latin typeface="Times New Roman" pitchFamily="34" charset="0"/>
                          <a:ea typeface="Times New Roman" pitchFamily="34" charset="-122"/>
                          <a:cs typeface="Times New Roman" pitchFamily="34" charset="-120"/>
                        </a:rPr>
                        <a:t>done: no, WM = filter</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P2</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progress / task-success critic baselines (B2-B4)</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policy grounding or any value?</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Times New Roman" pitchFamily="34" charset="0"/>
                          <a:ea typeface="Times New Roman" pitchFamily="34" charset="-122"/>
                          <a:cs typeface="Times New Roman" pitchFamily="34" charset="-120"/>
                        </a:rPr>
                        <a:t>done: policy grounding</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P3</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recovery-nominal Pareto + L_preserve</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M-B constraint, forgetting</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b="1" dirty="0">
                          <a:solidFill>
                            <a:srgbClr val="2A9D8F"/>
                          </a:solidFill>
                          <a:latin typeface="Times New Roman" pitchFamily="34" charset="0"/>
                          <a:ea typeface="Times New Roman" pitchFamily="34" charset="-122"/>
                          <a:cs typeface="Times New Roman" pitchFamily="34" charset="-120"/>
                        </a:rPr>
                        <a:t>done: r 0.5, no L_preserve</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P4</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matched-sim-budget distillation on Object, 3 seeds</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does efficiency give a better policy?</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b="1" dirty="0">
                          <a:solidFill>
                            <a:srgbClr val="E8962E"/>
                          </a:solidFill>
                          <a:latin typeface="Times New Roman" pitchFamily="34" charset="0"/>
                          <a:ea typeface="Times New Roman" pitchFamily="34" charset="-122"/>
                          <a:cs typeface="Times New Roman" pitchFamily="34" charset="-120"/>
                        </a:rPr>
                        <a:t>todo</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457200">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P5</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end-to-end cost accounting (WM + critic amortized)</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latin typeface="Times New Roman" pitchFamily="34" charset="0"/>
                          <a:ea typeface="Times New Roman" pitchFamily="34" charset="-122"/>
                          <a:cs typeface="Times New Roman" pitchFamily="34" charset="-120"/>
                        </a:rPr>
                        <a:t>efficiency claim</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b="1" dirty="0">
                          <a:solidFill>
                            <a:srgbClr val="E8962E"/>
                          </a:solidFill>
                          <a:latin typeface="Times New Roman" pitchFamily="34" charset="0"/>
                          <a:ea typeface="Times New Roman" pitchFamily="34" charset="-122"/>
                          <a:cs typeface="Times New Roman" pitchFamily="34" charset="-120"/>
                        </a:rPr>
                        <a:t>partial</a:t>
                      </a:r>
                      <a:endParaRPr lang="en-US" sz="1300" dirty="0">
                        <a:latin typeface="Times New Roman" charset="0"/>
                        <a:ea typeface="Times New Roman" charset="0"/>
                        <a:cs typeface="Times New Roman" charset="0"/>
                      </a:endParaRPr>
                    </a:p>
                  </a:txBody>
                  <a:tcPr marL="91440" marR="91440" marT="45720" marB="45720" anchor="ctr">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4" name="nx0"/>
          <p:cNvSpPr/>
          <p:nvPr/>
        </p:nvSpPr>
        <p:spPr>
          <a:xfrm>
            <a:off x="548640" y="4206240"/>
            <a:ext cx="2606040" cy="2011680"/>
          </a:xfrm>
          <a:prstGeom prst="roundRect">
            <a:avLst>
              <a:gd name="adj" fmla="val 3636"/>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5" name="badge"/>
          <p:cNvSpPr/>
          <p:nvPr/>
        </p:nvSpPr>
        <p:spPr>
          <a:xfrm>
            <a:off x="713232" y="4370832"/>
            <a:ext cx="384048" cy="384048"/>
          </a:xfrm>
          <a:prstGeom prst="ellipse">
            <a:avLst/>
          </a:prstGeom>
          <a:solidFill>
            <a:srgbClr val="E8962E"/>
          </a:solidFill>
          <a:ln w="12700">
            <a:solidFill>
              <a:srgbClr val="E8962E"/>
            </a:solidFill>
            <a:prstDash val="solid"/>
          </a:ln>
        </p:spPr>
      </p:sp>
      <p:sp>
        <p:nvSpPr>
          <p:cNvPr id="6" name="Text 3"/>
          <p:cNvSpPr txBox="1"/>
          <p:nvPr/>
        </p:nvSpPr>
        <p:spPr>
          <a:xfrm>
            <a:off x="713232" y="4370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7" name="Text 4"/>
          <p:cNvSpPr txBox="1"/>
          <p:nvPr/>
        </p:nvSpPr>
        <p:spPr>
          <a:xfrm>
            <a:off x="1234440" y="4389120"/>
            <a:ext cx="1828800" cy="347472"/>
          </a:xfrm>
          <a:prstGeom prst="rect">
            <a:avLst/>
          </a:prstGeom>
          <a:noFill/>
          <a:ln/>
        </p:spPr>
        <p:txBody>
          <a:bodyPr wrap="square" lIns="0" tIns="0" rIns="0" bIns="0" rtlCol="0" anchor="t"/>
          <a:lstStyle/>
          <a:p>
            <a:pPr indent="0" marL="0">
              <a:buNone/>
            </a:pPr>
            <a:r>
              <a:rPr lang="en-US" sz="1500" b="1" dirty="0">
                <a:solidFill>
                  <a:srgbClr val="23303B"/>
                </a:solidFill>
              </a:rPr>
              <a:t>C^pi v3</a:t>
            </a:r>
            <a:endParaRPr lang="en-US" sz="1500" dirty="0"/>
          </a:p>
        </p:txBody>
      </p:sp>
      <p:sp>
        <p:nvSpPr>
          <p:cNvPr id="8" name="Text 5"/>
          <p:cNvSpPr txBox="1"/>
          <p:nvPr/>
        </p:nvSpPr>
        <p:spPr>
          <a:xfrm>
            <a:off x="731520" y="4892040"/>
            <a:ext cx="2286000" cy="1234440"/>
          </a:xfrm>
          <a:prstGeom prst="rect">
            <a:avLst/>
          </a:prstGeom>
          <a:noFill/>
          <a:ln/>
        </p:spPr>
        <p:txBody>
          <a:bodyPr wrap="square" lIns="0" tIns="0" rIns="0" bIns="0" rtlCol="0" anchor="t"/>
          <a:lstStyle/>
          <a:p>
            <a:pPr indent="0" marL="0">
              <a:buNone/>
            </a:pPr>
            <a:r>
              <a:rPr lang="en-US" sz="1300" dirty="0">
                <a:solidFill>
                  <a:srgbClr val="3C4A57"/>
                </a:solidFill>
              </a:rPr>
              <a:t>B4-style trainer on the Cpi-pool pi0 labels (+0.064 solved over v2), after a held-out check</a:t>
            </a:r>
            <a:endParaRPr lang="en-US" sz="1300" dirty="0"/>
          </a:p>
        </p:txBody>
      </p:sp>
      <p:sp>
        <p:nvSpPr>
          <p:cNvPr id="9" name="nx1"/>
          <p:cNvSpPr/>
          <p:nvPr/>
        </p:nvSpPr>
        <p:spPr>
          <a:xfrm>
            <a:off x="3337560" y="4206240"/>
            <a:ext cx="2606040" cy="2011680"/>
          </a:xfrm>
          <a:prstGeom prst="roundRect">
            <a:avLst>
              <a:gd name="adj" fmla="val 3636"/>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10" name="badge"/>
          <p:cNvSpPr/>
          <p:nvPr/>
        </p:nvSpPr>
        <p:spPr>
          <a:xfrm>
            <a:off x="3502152" y="4370832"/>
            <a:ext cx="384048" cy="384048"/>
          </a:xfrm>
          <a:prstGeom prst="ellipse">
            <a:avLst/>
          </a:prstGeom>
          <a:solidFill>
            <a:srgbClr val="E8962E"/>
          </a:solidFill>
          <a:ln w="12700">
            <a:solidFill>
              <a:srgbClr val="E8962E"/>
            </a:solidFill>
            <a:prstDash val="solid"/>
          </a:ln>
        </p:spPr>
      </p:sp>
      <p:sp>
        <p:nvSpPr>
          <p:cNvPr id="11" name="Text 8"/>
          <p:cNvSpPr txBox="1"/>
          <p:nvPr/>
        </p:nvSpPr>
        <p:spPr>
          <a:xfrm>
            <a:off x="3502152" y="4370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2" name="Text 9"/>
          <p:cNvSpPr txBox="1"/>
          <p:nvPr/>
        </p:nvSpPr>
        <p:spPr>
          <a:xfrm>
            <a:off x="4023360" y="4389120"/>
            <a:ext cx="1828800" cy="347472"/>
          </a:xfrm>
          <a:prstGeom prst="rect">
            <a:avLst/>
          </a:prstGeom>
          <a:noFill/>
          <a:ln/>
        </p:spPr>
        <p:txBody>
          <a:bodyPr wrap="square" lIns="0" tIns="0" rIns="0" bIns="0" rtlCol="0" anchor="t"/>
          <a:lstStyle/>
          <a:p>
            <a:pPr indent="0" marL="0">
              <a:buNone/>
            </a:pPr>
            <a:r>
              <a:rPr lang="en-US" sz="1500" b="1" dirty="0">
                <a:solidFill>
                  <a:srgbClr val="23303B"/>
                </a:solidFill>
              </a:rPr>
              <a:t>More seeds</a:t>
            </a:r>
            <a:endParaRPr lang="en-US" sz="1500" dirty="0"/>
          </a:p>
        </p:txBody>
      </p:sp>
      <p:sp>
        <p:nvSpPr>
          <p:cNvPr id="13" name="Text 10"/>
          <p:cNvSpPr txBox="1"/>
          <p:nvPr/>
        </p:nvSpPr>
        <p:spPr>
          <a:xfrm>
            <a:off x="3520440" y="4892040"/>
            <a:ext cx="2286000" cy="1234440"/>
          </a:xfrm>
          <a:prstGeom prst="rect">
            <a:avLst/>
          </a:prstGeom>
          <a:noFill/>
          <a:ln/>
        </p:spPr>
        <p:txBody>
          <a:bodyPr wrap="square" lIns="0" tIns="0" rIns="0" bIns="0" rtlCol="0" anchor="t"/>
          <a:lstStyle/>
          <a:p>
            <a:pPr indent="0" marL="0">
              <a:buNone/>
            </a:pPr>
            <a:r>
              <a:rPr lang="en-US" sz="1300" dirty="0">
                <a:solidFill>
                  <a:srgbClr val="3C4A57"/>
                </a:solidFill>
              </a:rPr>
              <a:t>3 seeds for key 1-seed baselines and for Object (nominal eps-test)</a:t>
            </a:r>
            <a:endParaRPr lang="en-US" sz="1300" dirty="0"/>
          </a:p>
        </p:txBody>
      </p:sp>
      <p:sp>
        <p:nvSpPr>
          <p:cNvPr id="14" name="nx2"/>
          <p:cNvSpPr/>
          <p:nvPr/>
        </p:nvSpPr>
        <p:spPr>
          <a:xfrm>
            <a:off x="6126480" y="4206240"/>
            <a:ext cx="2606040" cy="2011680"/>
          </a:xfrm>
          <a:prstGeom prst="roundRect">
            <a:avLst>
              <a:gd name="adj" fmla="val 3636"/>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15" name="badge"/>
          <p:cNvSpPr/>
          <p:nvPr/>
        </p:nvSpPr>
        <p:spPr>
          <a:xfrm>
            <a:off x="6291072" y="4370832"/>
            <a:ext cx="384048" cy="384048"/>
          </a:xfrm>
          <a:prstGeom prst="ellipse">
            <a:avLst/>
          </a:prstGeom>
          <a:solidFill>
            <a:srgbClr val="E8962E"/>
          </a:solidFill>
          <a:ln w="12700">
            <a:solidFill>
              <a:srgbClr val="E8962E"/>
            </a:solidFill>
            <a:prstDash val="solid"/>
          </a:ln>
        </p:spPr>
      </p:sp>
      <p:sp>
        <p:nvSpPr>
          <p:cNvPr id="16" name="Text 13"/>
          <p:cNvSpPr txBox="1"/>
          <p:nvPr/>
        </p:nvSpPr>
        <p:spPr>
          <a:xfrm>
            <a:off x="6291072" y="4370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7" name="Text 14"/>
          <p:cNvSpPr txBox="1"/>
          <p:nvPr/>
        </p:nvSpPr>
        <p:spPr>
          <a:xfrm>
            <a:off x="6812280" y="4389120"/>
            <a:ext cx="1828800" cy="347472"/>
          </a:xfrm>
          <a:prstGeom prst="rect">
            <a:avLst/>
          </a:prstGeom>
          <a:noFill/>
          <a:ln/>
        </p:spPr>
        <p:txBody>
          <a:bodyPr wrap="square" lIns="0" tIns="0" rIns="0" bIns="0" rtlCol="0" anchor="t"/>
          <a:lstStyle/>
          <a:p>
            <a:pPr indent="0" marL="0">
              <a:buNone/>
            </a:pPr>
            <a:r>
              <a:rPr lang="en-US" sz="1500" b="1" dirty="0">
                <a:solidFill>
                  <a:srgbClr val="23303B"/>
                </a:solidFill>
              </a:rPr>
              <a:t>Suites</a:t>
            </a:r>
            <a:endParaRPr lang="en-US" sz="1500" dirty="0"/>
          </a:p>
        </p:txBody>
      </p:sp>
      <p:sp>
        <p:nvSpPr>
          <p:cNvPr id="18" name="Text 15"/>
          <p:cNvSpPr txBox="1"/>
          <p:nvPr/>
        </p:nvSpPr>
        <p:spPr>
          <a:xfrm>
            <a:off x="6309360" y="4892040"/>
            <a:ext cx="2286000" cy="1234440"/>
          </a:xfrm>
          <a:prstGeom prst="rect">
            <a:avLst/>
          </a:prstGeom>
          <a:noFill/>
          <a:ln/>
        </p:spPr>
        <p:txBody>
          <a:bodyPr wrap="square" lIns="0" tIns="0" rIns="0" bIns="0" rtlCol="0" anchor="t"/>
          <a:lstStyle/>
          <a:p>
            <a:pPr indent="0" marL="0">
              <a:buNone/>
            </a:pPr>
            <a:r>
              <a:rPr lang="en-US" sz="1300" dirty="0">
                <a:solidFill>
                  <a:srgbClr val="3C4A57"/>
                </a:solidFill>
              </a:rPr>
              <a:t>LIBERO-Goal and LIBERO-10 with the frozen recipe; L1-L4 breakdown</a:t>
            </a:r>
            <a:endParaRPr lang="en-US" sz="1300" dirty="0"/>
          </a:p>
        </p:txBody>
      </p:sp>
      <p:sp>
        <p:nvSpPr>
          <p:cNvPr id="19" name="nx3"/>
          <p:cNvSpPr/>
          <p:nvPr/>
        </p:nvSpPr>
        <p:spPr>
          <a:xfrm>
            <a:off x="8915400" y="4206240"/>
            <a:ext cx="2606040" cy="2011680"/>
          </a:xfrm>
          <a:prstGeom prst="roundRect">
            <a:avLst>
              <a:gd name="adj" fmla="val 3636"/>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20" name="badge"/>
          <p:cNvSpPr/>
          <p:nvPr/>
        </p:nvSpPr>
        <p:spPr>
          <a:xfrm>
            <a:off x="9079992" y="4370832"/>
            <a:ext cx="384048" cy="384048"/>
          </a:xfrm>
          <a:prstGeom prst="ellipse">
            <a:avLst/>
          </a:prstGeom>
          <a:solidFill>
            <a:srgbClr val="C8553D"/>
          </a:solidFill>
          <a:ln w="12700">
            <a:solidFill>
              <a:srgbClr val="C8553D"/>
            </a:solidFill>
            <a:prstDash val="solid"/>
          </a:ln>
        </p:spPr>
      </p:sp>
      <p:sp>
        <p:nvSpPr>
          <p:cNvPr id="21" name="Text 18"/>
          <p:cNvSpPr txBox="1"/>
          <p:nvPr/>
        </p:nvSpPr>
        <p:spPr>
          <a:xfrm>
            <a:off x="9079992" y="437083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2" name="Text 19"/>
          <p:cNvSpPr txBox="1"/>
          <p:nvPr/>
        </p:nvSpPr>
        <p:spPr>
          <a:xfrm>
            <a:off x="9601200" y="4389120"/>
            <a:ext cx="1828800" cy="347472"/>
          </a:xfrm>
          <a:prstGeom prst="rect">
            <a:avLst/>
          </a:prstGeom>
          <a:noFill/>
          <a:ln/>
        </p:spPr>
        <p:txBody>
          <a:bodyPr wrap="square" lIns="0" tIns="0" rIns="0" bIns="0" rtlCol="0" anchor="t"/>
          <a:lstStyle/>
          <a:p>
            <a:pPr indent="0" marL="0">
              <a:buNone/>
            </a:pPr>
            <a:r>
              <a:rPr lang="en-US" sz="1500" b="1" dirty="0">
                <a:solidFill>
                  <a:srgbClr val="23303B"/>
                </a:solidFill>
              </a:rPr>
              <a:t>Real world</a:t>
            </a:r>
            <a:endParaRPr lang="en-US" sz="1500" dirty="0"/>
          </a:p>
        </p:txBody>
      </p:sp>
      <p:sp>
        <p:nvSpPr>
          <p:cNvPr id="23" name="Text 20"/>
          <p:cNvSpPr txBox="1"/>
          <p:nvPr/>
        </p:nvSpPr>
        <p:spPr>
          <a:xfrm>
            <a:off x="9098280" y="4892040"/>
            <a:ext cx="2286000" cy="1234440"/>
          </a:xfrm>
          <a:prstGeom prst="rect">
            <a:avLst/>
          </a:prstGeom>
          <a:noFill/>
          <a:ln/>
        </p:spPr>
        <p:txBody>
          <a:bodyPr wrap="square" lIns="0" tIns="0" rIns="0" bIns="0" rtlCol="0" anchor="t"/>
          <a:lstStyle/>
          <a:p>
            <a:pPr indent="0" marL="0">
              <a:buNone/>
            </a:pPr>
            <a:r>
              <a:rPr lang="en-US" sz="1300" dirty="0">
                <a:solidFill>
                  <a:srgbClr val="3C4A57"/>
                </a:solidFill>
              </a:rPr>
              <a:t>adaptation not decided</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Long-term plan</a:t>
            </a:r>
            <a:endParaRPr lang="en-US" sz="3000" dirty="0"/>
          </a:p>
        </p:txBody>
      </p:sp>
      <p:sp>
        <p:nvSpPr>
          <p:cNvPr id="3" name="phase0"/>
          <p:cNvSpPr/>
          <p:nvPr/>
        </p:nvSpPr>
        <p:spPr>
          <a:xfrm>
            <a:off x="548640" y="1234440"/>
            <a:ext cx="11064240" cy="841248"/>
          </a:xfrm>
          <a:prstGeom prst="roundRect">
            <a:avLst>
              <a:gd name="adj" fmla="val 869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Shape 2"/>
          <p:cNvSpPr/>
          <p:nvPr/>
        </p:nvSpPr>
        <p:spPr>
          <a:xfrm>
            <a:off x="685800" y="1353312"/>
            <a:ext cx="603504" cy="603504"/>
          </a:xfrm>
          <a:prstGeom prst="ellipse">
            <a:avLst/>
          </a:prstGeom>
          <a:solidFill>
            <a:srgbClr val="E8962E"/>
          </a:solidFill>
          <a:ln w="12700">
            <a:solidFill>
              <a:srgbClr val="E8962E"/>
            </a:solidFill>
            <a:prstDash val="solid"/>
          </a:ln>
        </p:spPr>
      </p:sp>
      <p:sp>
        <p:nvSpPr>
          <p:cNvPr id="5" name="Text 3"/>
          <p:cNvSpPr txBox="1"/>
          <p:nvPr/>
        </p:nvSpPr>
        <p:spPr>
          <a:xfrm>
            <a:off x="685800" y="1353312"/>
            <a:ext cx="603504" cy="603504"/>
          </a:xfrm>
          <a:prstGeom prst="rect">
            <a:avLst/>
          </a:prstGeom>
          <a:noFill/>
          <a:ln/>
        </p:spPr>
        <p:txBody>
          <a:bodyPr wrap="square" lIns="0" tIns="0" rIns="0" bIns="0" rtlCol="0" anchor="ctr"/>
          <a:lstStyle/>
          <a:p>
            <a:pPr algn="ctr" indent="0" marL="0">
              <a:buNone/>
            </a:pPr>
            <a:r>
              <a:rPr lang="en-US" sz="1000" b="1" dirty="0">
                <a:solidFill>
                  <a:srgbClr val="FFFFFF"/>
                </a:solidFill>
              </a:rPr>
              <a:t>PoC</a:t>
            </a:r>
            <a:endParaRPr lang="en-US" sz="1000" dirty="0"/>
          </a:p>
        </p:txBody>
      </p:sp>
      <p:sp>
        <p:nvSpPr>
          <p:cNvPr id="6" name="Text 4"/>
          <p:cNvSpPr txBox="1"/>
          <p:nvPr/>
        </p:nvSpPr>
        <p:spPr>
          <a:xfrm>
            <a:off x="1463040" y="1481328"/>
            <a:ext cx="1005840" cy="365760"/>
          </a:xfrm>
          <a:prstGeom prst="rect">
            <a:avLst/>
          </a:prstGeom>
          <a:noFill/>
          <a:ln/>
        </p:spPr>
        <p:txBody>
          <a:bodyPr wrap="square" lIns="0" tIns="0" rIns="0" bIns="0" rtlCol="0" anchor="t"/>
          <a:lstStyle/>
          <a:p>
            <a:pPr indent="0" marL="0">
              <a:buNone/>
            </a:pPr>
            <a:r>
              <a:rPr lang="en-US" sz="1600" b="1" dirty="0">
                <a:solidFill>
                  <a:srgbClr val="23303B"/>
                </a:solidFill>
              </a:rPr>
              <a:t>Now</a:t>
            </a:r>
            <a:endParaRPr lang="en-US" sz="1600" dirty="0"/>
          </a:p>
        </p:txBody>
      </p:sp>
      <p:sp>
        <p:nvSpPr>
          <p:cNvPr id="7" name="Text 5"/>
          <p:cNvSpPr txBox="1"/>
          <p:nvPr/>
        </p:nvSpPr>
        <p:spPr>
          <a:xfrm>
            <a:off x="2560320" y="1344168"/>
            <a:ext cx="8869680" cy="658368"/>
          </a:xfrm>
          <a:prstGeom prst="rect">
            <a:avLst/>
          </a:prstGeom>
          <a:noFill/>
          <a:ln/>
        </p:spPr>
        <p:txBody>
          <a:bodyPr wrap="square" lIns="0" tIns="0" rIns="0" bIns="0" rtlCol="0" anchor="ctr"/>
          <a:lstStyle/>
          <a:p>
            <a:pPr indent="0" marL="0">
              <a:buNone/>
            </a:pPr>
            <a:r>
              <a:rPr lang="en-US" sz="1400" dirty="0">
                <a:solidFill>
                  <a:srgbClr val="3C4A57"/>
                </a:solidFill>
              </a:rPr>
              <a:t>close out: P4 on Object (3 seeds), P5 cost accounting, more seeds, C^pi v3</a:t>
            </a:r>
            <a:endParaRPr lang="en-US" sz="1400" dirty="0"/>
          </a:p>
        </p:txBody>
      </p:sp>
      <p:sp>
        <p:nvSpPr>
          <p:cNvPr id="8" name="phase1"/>
          <p:cNvSpPr/>
          <p:nvPr/>
        </p:nvSpPr>
        <p:spPr>
          <a:xfrm>
            <a:off x="548640" y="2221992"/>
            <a:ext cx="11064240" cy="841248"/>
          </a:xfrm>
          <a:prstGeom prst="roundRect">
            <a:avLst>
              <a:gd name="adj" fmla="val 869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9" name="Shape 7"/>
          <p:cNvSpPr/>
          <p:nvPr/>
        </p:nvSpPr>
        <p:spPr>
          <a:xfrm>
            <a:off x="685800" y="2340864"/>
            <a:ext cx="603504" cy="603504"/>
          </a:xfrm>
          <a:prstGeom prst="ellipse">
            <a:avLst/>
          </a:prstGeom>
          <a:solidFill>
            <a:srgbClr val="1F8FE5"/>
          </a:solidFill>
          <a:ln w="12700">
            <a:solidFill>
              <a:srgbClr val="1F8FE5"/>
            </a:solidFill>
            <a:prstDash val="solid"/>
          </a:ln>
        </p:spPr>
      </p:sp>
      <p:sp>
        <p:nvSpPr>
          <p:cNvPr id="10" name="Text 8"/>
          <p:cNvSpPr txBox="1"/>
          <p:nvPr/>
        </p:nvSpPr>
        <p:spPr>
          <a:xfrm>
            <a:off x="685800" y="2340864"/>
            <a:ext cx="603504" cy="603504"/>
          </a:xfrm>
          <a:prstGeom prst="rect">
            <a:avLst/>
          </a:prstGeom>
          <a:noFill/>
          <a:ln/>
        </p:spPr>
        <p:txBody>
          <a:bodyPr wrap="square" lIns="0" tIns="0" rIns="0" bIns="0" rtlCol="0" anchor="ctr"/>
          <a:lstStyle/>
          <a:p>
            <a:pPr algn="ctr" indent="0" marL="0">
              <a:buNone/>
            </a:pPr>
            <a:r>
              <a:rPr lang="en-US" sz="1000" b="1" dirty="0">
                <a:solidFill>
                  <a:srgbClr val="FFFFFF"/>
                </a:solidFill>
              </a:rPr>
              <a:t>M-A</a:t>
            </a:r>
            <a:endParaRPr lang="en-US" sz="1000" dirty="0"/>
          </a:p>
        </p:txBody>
      </p:sp>
      <p:sp>
        <p:nvSpPr>
          <p:cNvPr id="11" name="Text 9"/>
          <p:cNvSpPr txBox="1"/>
          <p:nvPr/>
        </p:nvSpPr>
        <p:spPr>
          <a:xfrm>
            <a:off x="1463040" y="2468880"/>
            <a:ext cx="1005840" cy="365760"/>
          </a:xfrm>
          <a:prstGeom prst="rect">
            <a:avLst/>
          </a:prstGeom>
          <a:noFill/>
          <a:ln/>
        </p:spPr>
        <p:txBody>
          <a:bodyPr wrap="square" lIns="0" tIns="0" rIns="0" bIns="0" rtlCol="0" anchor="t"/>
          <a:lstStyle/>
          <a:p>
            <a:pPr indent="0" marL="0">
              <a:buNone/>
            </a:pPr>
            <a:r>
              <a:rPr lang="en-US" sz="1600" b="1" dirty="0">
                <a:solidFill>
                  <a:srgbClr val="23303B"/>
                </a:solidFill>
              </a:rPr>
              <a:t>Next</a:t>
            </a:r>
            <a:endParaRPr lang="en-US" sz="1600" dirty="0"/>
          </a:p>
        </p:txBody>
      </p:sp>
      <p:sp>
        <p:nvSpPr>
          <p:cNvPr id="12" name="Text 10"/>
          <p:cNvSpPr txBox="1"/>
          <p:nvPr/>
        </p:nvSpPr>
        <p:spPr>
          <a:xfrm>
            <a:off x="2560320" y="2331720"/>
            <a:ext cx="8869680" cy="658368"/>
          </a:xfrm>
          <a:prstGeom prst="rect">
            <a:avLst/>
          </a:prstGeom>
          <a:noFill/>
          <a:ln/>
        </p:spPr>
        <p:txBody>
          <a:bodyPr wrap="square" lIns="0" tIns="0" rIns="0" bIns="0" rtlCol="0" anchor="ctr"/>
          <a:lstStyle/>
          <a:p>
            <a:pPr indent="0" marL="0">
              <a:buNone/>
            </a:pPr>
            <a:r>
              <a:rPr lang="en-US" sz="1400" dirty="0">
                <a:solidFill>
                  <a:srgbClr val="3C4A57"/>
                </a:solidFill>
              </a:rPr>
              <a:t>generality of the planner: a second VLA backbone and / or a second (pixel / video) WM; claim 'general' only after</a:t>
            </a:r>
            <a:endParaRPr lang="en-US" sz="1400" dirty="0"/>
          </a:p>
        </p:txBody>
      </p:sp>
      <p:sp>
        <p:nvSpPr>
          <p:cNvPr id="13" name="phase2"/>
          <p:cNvSpPr/>
          <p:nvPr/>
        </p:nvSpPr>
        <p:spPr>
          <a:xfrm>
            <a:off x="548640" y="3209544"/>
            <a:ext cx="11064240" cy="841248"/>
          </a:xfrm>
          <a:prstGeom prst="roundRect">
            <a:avLst>
              <a:gd name="adj" fmla="val 869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4" name="Shape 12"/>
          <p:cNvSpPr/>
          <p:nvPr/>
        </p:nvSpPr>
        <p:spPr>
          <a:xfrm>
            <a:off x="685800" y="3328416"/>
            <a:ext cx="603504" cy="603504"/>
          </a:xfrm>
          <a:prstGeom prst="ellipse">
            <a:avLst/>
          </a:prstGeom>
          <a:solidFill>
            <a:srgbClr val="2A9D8F"/>
          </a:solidFill>
          <a:ln w="12700">
            <a:solidFill>
              <a:srgbClr val="2A9D8F"/>
            </a:solidFill>
            <a:prstDash val="solid"/>
          </a:ln>
        </p:spPr>
      </p:sp>
      <p:sp>
        <p:nvSpPr>
          <p:cNvPr id="15" name="Text 13"/>
          <p:cNvSpPr txBox="1"/>
          <p:nvPr/>
        </p:nvSpPr>
        <p:spPr>
          <a:xfrm>
            <a:off x="685800" y="3328416"/>
            <a:ext cx="603504" cy="603504"/>
          </a:xfrm>
          <a:prstGeom prst="rect">
            <a:avLst/>
          </a:prstGeom>
          <a:noFill/>
          <a:ln/>
        </p:spPr>
        <p:txBody>
          <a:bodyPr wrap="square" lIns="0" tIns="0" rIns="0" bIns="0" rtlCol="0" anchor="ctr"/>
          <a:lstStyle/>
          <a:p>
            <a:pPr algn="ctr" indent="0" marL="0">
              <a:buNone/>
            </a:pPr>
            <a:r>
              <a:rPr lang="en-US" sz="1000" b="1" dirty="0">
                <a:solidFill>
                  <a:srgbClr val="FFFFFF"/>
                </a:solidFill>
              </a:rPr>
              <a:t>Suites</a:t>
            </a:r>
            <a:endParaRPr lang="en-US" sz="1000" dirty="0"/>
          </a:p>
        </p:txBody>
      </p:sp>
      <p:sp>
        <p:nvSpPr>
          <p:cNvPr id="16" name="Text 14"/>
          <p:cNvSpPr txBox="1"/>
          <p:nvPr/>
        </p:nvSpPr>
        <p:spPr>
          <a:xfrm>
            <a:off x="1463040" y="3456432"/>
            <a:ext cx="1005840" cy="365760"/>
          </a:xfrm>
          <a:prstGeom prst="rect">
            <a:avLst/>
          </a:prstGeom>
          <a:noFill/>
          <a:ln/>
        </p:spPr>
        <p:txBody>
          <a:bodyPr wrap="square" lIns="0" tIns="0" rIns="0" bIns="0" rtlCol="0" anchor="t"/>
          <a:lstStyle/>
          <a:p>
            <a:pPr indent="0" marL="0">
              <a:buNone/>
            </a:pPr>
            <a:r>
              <a:rPr lang="en-US" sz="1600" b="1" dirty="0">
                <a:solidFill>
                  <a:srgbClr val="23303B"/>
                </a:solidFill>
              </a:rPr>
              <a:t>Then</a:t>
            </a:r>
            <a:endParaRPr lang="en-US" sz="1600" dirty="0"/>
          </a:p>
        </p:txBody>
      </p:sp>
      <p:sp>
        <p:nvSpPr>
          <p:cNvPr id="17" name="Text 15"/>
          <p:cNvSpPr txBox="1"/>
          <p:nvPr/>
        </p:nvSpPr>
        <p:spPr>
          <a:xfrm>
            <a:off x="2560320" y="3319272"/>
            <a:ext cx="8869680" cy="658368"/>
          </a:xfrm>
          <a:prstGeom prst="rect">
            <a:avLst/>
          </a:prstGeom>
          <a:noFill/>
          <a:ln/>
        </p:spPr>
        <p:txBody>
          <a:bodyPr wrap="square" lIns="0" tIns="0" rIns="0" bIns="0" rtlCol="0" anchor="ctr"/>
          <a:lstStyle/>
          <a:p>
            <a:pPr indent="0" marL="0">
              <a:buNone/>
            </a:pPr>
            <a:r>
              <a:rPr lang="en-US" sz="1400" dirty="0">
                <a:solidFill>
                  <a:srgbClr val="3C4A57"/>
                </a:solidFill>
              </a:rPr>
              <a:t>LIBERO-Goal and LIBERO-10 with the frozen recipe (Setting A), LIBERO-Recover L1-L4 breakdown</a:t>
            </a:r>
            <a:endParaRPr lang="en-US" sz="1400" dirty="0"/>
          </a:p>
        </p:txBody>
      </p:sp>
      <p:sp>
        <p:nvSpPr>
          <p:cNvPr id="18" name="phase3"/>
          <p:cNvSpPr/>
          <p:nvPr/>
        </p:nvSpPr>
        <p:spPr>
          <a:xfrm>
            <a:off x="548640" y="4197096"/>
            <a:ext cx="11064240" cy="841248"/>
          </a:xfrm>
          <a:prstGeom prst="roundRect">
            <a:avLst>
              <a:gd name="adj" fmla="val 869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9" name="Shape 17"/>
          <p:cNvSpPr/>
          <p:nvPr/>
        </p:nvSpPr>
        <p:spPr>
          <a:xfrm>
            <a:off x="685800" y="4315968"/>
            <a:ext cx="603504" cy="603504"/>
          </a:xfrm>
          <a:prstGeom prst="ellipse">
            <a:avLst/>
          </a:prstGeom>
          <a:solidFill>
            <a:srgbClr val="3C4A57"/>
          </a:solidFill>
          <a:ln w="12700">
            <a:solidFill>
              <a:srgbClr val="3C4A57"/>
            </a:solidFill>
            <a:prstDash val="solid"/>
          </a:ln>
        </p:spPr>
      </p:sp>
      <p:sp>
        <p:nvSpPr>
          <p:cNvPr id="20" name="Text 18"/>
          <p:cNvSpPr txBox="1"/>
          <p:nvPr/>
        </p:nvSpPr>
        <p:spPr>
          <a:xfrm>
            <a:off x="685800" y="4315968"/>
            <a:ext cx="603504" cy="603504"/>
          </a:xfrm>
          <a:prstGeom prst="rect">
            <a:avLst/>
          </a:prstGeom>
          <a:noFill/>
          <a:ln/>
        </p:spPr>
        <p:txBody>
          <a:bodyPr wrap="square" lIns="0" tIns="0" rIns="0" bIns="0" rtlCol="0" anchor="ctr"/>
          <a:lstStyle/>
          <a:p>
            <a:pPr algn="ctr" indent="0" marL="0">
              <a:buNone/>
            </a:pPr>
            <a:r>
              <a:rPr lang="en-US" sz="1000" b="1" dirty="0">
                <a:solidFill>
                  <a:srgbClr val="FFFFFF"/>
                </a:solidFill>
              </a:rPr>
              <a:t>Loop</a:t>
            </a:r>
            <a:endParaRPr lang="en-US" sz="1000" dirty="0"/>
          </a:p>
        </p:txBody>
      </p:sp>
      <p:sp>
        <p:nvSpPr>
          <p:cNvPr id="21" name="Text 19"/>
          <p:cNvSpPr txBox="1"/>
          <p:nvPr/>
        </p:nvSpPr>
        <p:spPr>
          <a:xfrm>
            <a:off x="1463040" y="4443984"/>
            <a:ext cx="1005840" cy="365760"/>
          </a:xfrm>
          <a:prstGeom prst="rect">
            <a:avLst/>
          </a:prstGeom>
          <a:noFill/>
          <a:ln/>
        </p:spPr>
        <p:txBody>
          <a:bodyPr wrap="square" lIns="0" tIns="0" rIns="0" bIns="0" rtlCol="0" anchor="t"/>
          <a:lstStyle/>
          <a:p>
            <a:pPr indent="0" marL="0">
              <a:buNone/>
            </a:pPr>
            <a:r>
              <a:rPr lang="en-US" sz="1600" b="1" dirty="0">
                <a:solidFill>
                  <a:srgbClr val="23303B"/>
                </a:solidFill>
              </a:rPr>
              <a:t>Later</a:t>
            </a:r>
            <a:endParaRPr lang="en-US" sz="1600" dirty="0"/>
          </a:p>
        </p:txBody>
      </p:sp>
      <p:sp>
        <p:nvSpPr>
          <p:cNvPr id="22" name="Text 20"/>
          <p:cNvSpPr txBox="1"/>
          <p:nvPr/>
        </p:nvSpPr>
        <p:spPr>
          <a:xfrm>
            <a:off x="2560320" y="4306824"/>
            <a:ext cx="8869680" cy="658368"/>
          </a:xfrm>
          <a:prstGeom prst="rect">
            <a:avLst/>
          </a:prstGeom>
          <a:noFill/>
          <a:ln/>
        </p:spPr>
        <p:txBody>
          <a:bodyPr wrap="square" lIns="0" tIns="0" rIns="0" bIns="0" rtlCol="0" anchor="ctr"/>
          <a:lstStyle/>
          <a:p>
            <a:pPr indent="0" marL="0">
              <a:buNone/>
            </a:pPr>
            <a:r>
              <a:rPr lang="en-US" sz="1400" dirty="0">
                <a:solidFill>
                  <a:srgbClr val="3C4A57"/>
                </a:solidFill>
              </a:rPr>
              <a:t>pi_k → C^{pi_k} → search → verified distillation → pi_{k+1}, critic re-grounded on pi_k each round</a:t>
            </a:r>
            <a:endParaRPr lang="en-US" sz="1400" dirty="0"/>
          </a:p>
        </p:txBody>
      </p:sp>
      <p:sp>
        <p:nvSpPr>
          <p:cNvPr id="23" name="phase4"/>
          <p:cNvSpPr/>
          <p:nvPr/>
        </p:nvSpPr>
        <p:spPr>
          <a:xfrm>
            <a:off x="548640" y="5184648"/>
            <a:ext cx="11064240" cy="841248"/>
          </a:xfrm>
          <a:prstGeom prst="roundRect">
            <a:avLst>
              <a:gd name="adj" fmla="val 869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24" name="Shape 22"/>
          <p:cNvSpPr/>
          <p:nvPr/>
        </p:nvSpPr>
        <p:spPr>
          <a:xfrm>
            <a:off x="685800" y="5303520"/>
            <a:ext cx="603504" cy="603504"/>
          </a:xfrm>
          <a:prstGeom prst="ellipse">
            <a:avLst/>
          </a:prstGeom>
          <a:solidFill>
            <a:srgbClr val="C8553D"/>
          </a:solidFill>
          <a:ln w="12700">
            <a:solidFill>
              <a:srgbClr val="C8553D"/>
            </a:solidFill>
            <a:prstDash val="solid"/>
          </a:ln>
        </p:spPr>
      </p:sp>
      <p:sp>
        <p:nvSpPr>
          <p:cNvPr id="25" name="Text 23"/>
          <p:cNvSpPr txBox="1"/>
          <p:nvPr/>
        </p:nvSpPr>
        <p:spPr>
          <a:xfrm>
            <a:off x="685800" y="5303520"/>
            <a:ext cx="603504" cy="603504"/>
          </a:xfrm>
          <a:prstGeom prst="rect">
            <a:avLst/>
          </a:prstGeom>
          <a:noFill/>
          <a:ln/>
        </p:spPr>
        <p:txBody>
          <a:bodyPr wrap="square" lIns="0" tIns="0" rIns="0" bIns="0" rtlCol="0" anchor="ctr"/>
          <a:lstStyle/>
          <a:p>
            <a:pPr algn="ctr" indent="0" marL="0">
              <a:buNone/>
            </a:pPr>
            <a:r>
              <a:rPr lang="en-US" sz="1000" b="1" dirty="0">
                <a:solidFill>
                  <a:srgbClr val="FFFFFF"/>
                </a:solidFill>
              </a:rPr>
              <a:t>Analysis</a:t>
            </a:r>
            <a:endParaRPr lang="en-US" sz="1000" dirty="0"/>
          </a:p>
        </p:txBody>
      </p:sp>
      <p:sp>
        <p:nvSpPr>
          <p:cNvPr id="26" name="Text 24"/>
          <p:cNvSpPr txBox="1"/>
          <p:nvPr/>
        </p:nvSpPr>
        <p:spPr>
          <a:xfrm>
            <a:off x="1463040" y="5431536"/>
            <a:ext cx="1005840" cy="365760"/>
          </a:xfrm>
          <a:prstGeom prst="rect">
            <a:avLst/>
          </a:prstGeom>
          <a:noFill/>
          <a:ln/>
        </p:spPr>
        <p:txBody>
          <a:bodyPr wrap="square" lIns="0" tIns="0" rIns="0" bIns="0" rtlCol="0" anchor="t"/>
          <a:lstStyle/>
          <a:p>
            <a:pPr indent="0" marL="0">
              <a:buNone/>
            </a:pPr>
            <a:r>
              <a:rPr lang="en-US" sz="1600" b="1" dirty="0">
                <a:solidFill>
                  <a:srgbClr val="23303B"/>
                </a:solidFill>
              </a:rPr>
              <a:t>Open</a:t>
            </a:r>
            <a:endParaRPr lang="en-US" sz="1600" dirty="0"/>
          </a:p>
        </p:txBody>
      </p:sp>
      <p:sp>
        <p:nvSpPr>
          <p:cNvPr id="27" name="Text 25"/>
          <p:cNvSpPr txBox="1"/>
          <p:nvPr/>
        </p:nvSpPr>
        <p:spPr>
          <a:xfrm>
            <a:off x="2560320" y="5294376"/>
            <a:ext cx="8869680" cy="658368"/>
          </a:xfrm>
          <a:prstGeom prst="rect">
            <a:avLst/>
          </a:prstGeom>
          <a:noFill/>
          <a:ln/>
        </p:spPr>
        <p:txBody>
          <a:bodyPr wrap="square" lIns="0" tIns="0" rIns="0" bIns="0" rtlCol="0" anchor="ctr"/>
          <a:lstStyle/>
          <a:p>
            <a:pPr indent="0" marL="0">
              <a:buNone/>
            </a:pPr>
            <a:r>
              <a:rPr lang="en-US" sz="1400" dirty="0">
                <a:solidFill>
                  <a:srgbClr val="3C4A57"/>
                </a:solidFill>
              </a:rPr>
              <a:t>action coverage of verified bridges vs pi0 proposals; learned proposal head only if coverage is the bottleneck; real world not decided</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Next decisions</a:t>
            </a:r>
            <a:endParaRPr lang="en-US" sz="4000" dirty="0"/>
          </a:p>
        </p:txBody>
      </p:sp>
      <p:sp>
        <p:nvSpPr>
          <p:cNvPr id="3" name="Text 1"/>
          <p:cNvSpPr txBox="1"/>
          <p:nvPr/>
        </p:nvSpPr>
        <p:spPr>
          <a:xfrm>
            <a:off x="731520" y="3703320"/>
            <a:ext cx="10698480" cy="2286000"/>
          </a:xfrm>
          <a:prstGeom prst="rect">
            <a:avLst/>
          </a:prstGeom>
          <a:noFill/>
          <a:ln/>
        </p:spPr>
        <p:txBody>
          <a:bodyPr wrap="square" lIns="0" tIns="0" rIns="0" bIns="0" rtlCol="0" anchor="t"/>
          <a:lstStyle/>
          <a:p>
            <a:pPr marL="342900" indent="-342900">
              <a:spcAft>
                <a:spcPts val="600"/>
              </a:spcAft>
              <a:buSzPct val="100000"/>
              <a:buFont typeface="+mj-lt"/>
              <a:buAutoNum type="arabicPeriod" startAt="1"/>
            </a:pPr>
            <a:r>
              <a:rPr lang="en-US" sz="1800" dirty="0">
                <a:solidFill>
                  <a:srgbClr val="F3C98B"/>
                </a:solidFill>
              </a:rPr>
              <a:t>adopt C^pi v3 (Cpi-pool labels, B4 trainer) for all future search, after a held-out check?</a:t>
            </a:r>
            <a:endParaRPr lang="en-US" sz="1800" dirty="0"/>
          </a:p>
          <a:p>
            <a:pPr marL="342900" indent="-342900">
              <a:spcAft>
                <a:spcPts val="600"/>
              </a:spcAft>
              <a:buSzPct val="100000"/>
              <a:buFont typeface="+mj-lt"/>
              <a:buAutoNum type="arabicPeriod" startAt="1"/>
            </a:pPr>
            <a:r>
              <a:rPr lang="en-US" sz="1800" dirty="0">
                <a:solidFill>
                  <a:srgbClr val="F3C98B"/>
                </a:solidFill>
              </a:rPr>
              <a:t>run P4 on Object with 3 seeds before scaling to LIBERO-Goal / LIBERO-10?</a:t>
            </a:r>
            <a:endParaRPr lang="en-US" sz="1800" dirty="0"/>
          </a:p>
          <a:p>
            <a:pPr marL="342900" indent="-342900">
              <a:spcAft>
                <a:spcPts val="600"/>
              </a:spcAft>
              <a:buSzPct val="100000"/>
              <a:buFont typeface="+mj-lt"/>
              <a:buAutoNum type="arabicPeriod" startAt="1"/>
            </a:pPr>
            <a:r>
              <a:rPr lang="en-US" sz="1800" dirty="0">
                <a:solidFill>
                  <a:srgbClr val="F3C98B"/>
                </a:solidFill>
              </a:rPr>
              <a:t>WM as planner: invest further, or report the WM honestly as an efficient filter?</a:t>
            </a:r>
            <a:endParaRPr lang="en-US" sz="1800" dirty="0"/>
          </a:p>
          <a:p>
            <a:pPr marL="342900" indent="-342900">
              <a:spcAft>
                <a:spcPts val="600"/>
              </a:spcAft>
              <a:buSzPct val="100000"/>
              <a:buFont typeface="+mj-lt"/>
              <a:buAutoNum type="arabicPeriod" startAt="1"/>
            </a:pPr>
            <a:r>
              <a:rPr lang="en-US" sz="1800" dirty="0">
                <a:solidFill>
                  <a:srgbClr val="F3C98B"/>
                </a:solidFill>
              </a:rPr>
              <a:t>real-world adaptation: not decided</a:t>
            </a:r>
            <a:endParaRPr lang="en-US" sz="1800" dirty="0"/>
          </a:p>
        </p:txBody>
      </p:sp>
      <p:sp>
        <p:nvSpPr>
          <p:cNvPr id="4"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Appendix: M0-M5 details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the earlier progress slides, kept as reference · single seed, Spatial split · current numbers are in the main part</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M0: SmolVLA is decent at nominal tasks, bad at recovery</a:t>
            </a:r>
            <a:endParaRPr lang="en-US" sz="3000" dirty="0"/>
          </a:p>
        </p:txBody>
      </p:sp>
      <p:sp>
        <p:nvSpPr>
          <p:cNvPr id="3" name="Text 1"/>
          <p:cNvSpPr txBox="1"/>
          <p:nvPr/>
        </p:nvSpPr>
        <p:spPr>
          <a:xfrm>
            <a:off x="731520" y="1463040"/>
            <a:ext cx="3291840" cy="685800"/>
          </a:xfrm>
          <a:prstGeom prst="rect">
            <a:avLst/>
          </a:prstGeom>
          <a:noFill/>
          <a:ln/>
        </p:spPr>
        <p:txBody>
          <a:bodyPr wrap="square" lIns="0" tIns="0" rIns="0" bIns="0" rtlCol="0" anchor="t"/>
          <a:lstStyle/>
          <a:p>
            <a:pPr indent="0" marL="0">
              <a:buNone/>
            </a:pPr>
            <a:r>
              <a:rPr lang="en-US" sz="4000" b="1" dirty="0">
                <a:solidFill>
                  <a:srgbClr val="23303B"/>
                </a:solidFill>
                <a:latin typeface="Times New Roman" pitchFamily="34" charset="0"/>
                <a:ea typeface="Times New Roman" pitchFamily="34" charset="-122"/>
                <a:cs typeface="Times New Roman" pitchFamily="34" charset="-120"/>
              </a:rPr>
              <a:t>0.66</a:t>
            </a:r>
            <a:endParaRPr lang="en-US" sz="4000" dirty="0"/>
          </a:p>
        </p:txBody>
      </p:sp>
      <p:sp>
        <p:nvSpPr>
          <p:cNvPr id="4" name="Text 2"/>
          <p:cNvSpPr txBox="1"/>
          <p:nvPr/>
        </p:nvSpPr>
        <p:spPr>
          <a:xfrm>
            <a:off x="731520" y="2176272"/>
            <a:ext cx="3291840" cy="548640"/>
          </a:xfrm>
          <a:prstGeom prst="rect">
            <a:avLst/>
          </a:prstGeom>
          <a:noFill/>
          <a:ln/>
        </p:spPr>
        <p:txBody>
          <a:bodyPr wrap="square" lIns="0" tIns="0" rIns="0" bIns="0" rtlCol="0" anchor="t"/>
          <a:lstStyle/>
          <a:p>
            <a:pPr indent="0" marL="0">
              <a:buNone/>
            </a:pPr>
            <a:r>
              <a:rPr lang="en-US" sz="1200" dirty="0">
                <a:solidFill>
                  <a:srgbClr val="6B7785"/>
                </a:solidFill>
              </a:rPr>
              <a:t>nominal LIBERO-Spatial success (500 ep)</a:t>
            </a:r>
            <a:endParaRPr lang="en-US" sz="1200" dirty="0"/>
          </a:p>
          <a:p>
            <a:pPr indent="0" marL="0">
              <a:buNone/>
            </a:pPr>
            <a:r>
              <a:rPr lang="en-US" sz="1200" dirty="0">
                <a:solidFill>
                  <a:srgbClr val="6B7785"/>
                </a:solidFill>
              </a:rPr>
              <a:t>lerobot-eval cross-check: 0.68</a:t>
            </a:r>
            <a:endParaRPr lang="en-US" sz="1200" dirty="0"/>
          </a:p>
        </p:txBody>
      </p:sp>
      <p:sp>
        <p:nvSpPr>
          <p:cNvPr id="5" name="Text 3"/>
          <p:cNvSpPr txBox="1"/>
          <p:nvPr/>
        </p:nvSpPr>
        <p:spPr>
          <a:xfrm>
            <a:off x="731520" y="3017520"/>
            <a:ext cx="3291840" cy="685800"/>
          </a:xfrm>
          <a:prstGeom prst="rect">
            <a:avLst/>
          </a:prstGeom>
          <a:noFill/>
          <a:ln/>
        </p:spPr>
        <p:txBody>
          <a:bodyPr wrap="square" lIns="0" tIns="0" rIns="0" bIns="0" rtlCol="0" anchor="t"/>
          <a:lstStyle/>
          <a:p>
            <a:pPr indent="0" marL="0">
              <a:buNone/>
            </a:pPr>
            <a:r>
              <a:rPr lang="en-US" sz="4000" b="1" dirty="0">
                <a:solidFill>
                  <a:srgbClr val="C8553D"/>
                </a:solidFill>
                <a:latin typeface="Times New Roman" pitchFamily="34" charset="0"/>
                <a:ea typeface="Times New Roman" pitchFamily="34" charset="-122"/>
                <a:cs typeface="Times New Roman" pitchFamily="34" charset="-120"/>
              </a:rPr>
              <a:t>0.12</a:t>
            </a:r>
            <a:endParaRPr lang="en-US" sz="4000" dirty="0"/>
          </a:p>
        </p:txBody>
      </p:sp>
      <p:sp>
        <p:nvSpPr>
          <p:cNvPr id="6" name="Text 4"/>
          <p:cNvSpPr txBox="1"/>
          <p:nvPr/>
        </p:nvSpPr>
        <p:spPr>
          <a:xfrm>
            <a:off x="731520" y="3730752"/>
            <a:ext cx="3291840" cy="548640"/>
          </a:xfrm>
          <a:prstGeom prst="rect">
            <a:avLst/>
          </a:prstGeom>
          <a:noFill/>
          <a:ln/>
        </p:spPr>
        <p:txBody>
          <a:bodyPr wrap="square" lIns="0" tIns="0" rIns="0" bIns="0" rtlCol="0" anchor="t"/>
          <a:lstStyle/>
          <a:p>
            <a:pPr indent="0" marL="0">
              <a:buNone/>
            </a:pPr>
            <a:r>
              <a:rPr lang="en-US" sz="1200" dirty="0">
                <a:solidFill>
                  <a:srgbClr val="6B7785"/>
                </a:solidFill>
              </a:rPr>
              <a:t>recovery success (RSR) on 56 held-out failure scenes, 560 ep</a:t>
            </a:r>
            <a:endParaRPr lang="en-US" sz="1200" dirty="0"/>
          </a:p>
        </p:txBody>
      </p:sp>
      <p:sp>
        <p:nvSpPr>
          <p:cNvPr id="7" name="Text 5"/>
          <p:cNvSpPr txBox="1"/>
          <p:nvPr/>
        </p:nvSpPr>
        <p:spPr>
          <a:xfrm>
            <a:off x="731520" y="4572000"/>
            <a:ext cx="3291840" cy="685800"/>
          </a:xfrm>
          <a:prstGeom prst="rect">
            <a:avLst/>
          </a:prstGeom>
          <a:noFill/>
          <a:ln/>
        </p:spPr>
        <p:txBody>
          <a:bodyPr wrap="square" lIns="0" tIns="0" rIns="0" bIns="0" rtlCol="0" anchor="t"/>
          <a:lstStyle/>
          <a:p>
            <a:pPr indent="0" marL="0">
              <a:buNone/>
            </a:pPr>
            <a:r>
              <a:rPr lang="en-US" sz="4000" b="1" dirty="0">
                <a:solidFill>
                  <a:srgbClr val="C8553D"/>
                </a:solidFill>
                <a:latin typeface="Times New Roman" pitchFamily="34" charset="0"/>
                <a:ea typeface="Times New Roman" pitchFamily="34" charset="-122"/>
                <a:cs typeface="Times New Roman" pitchFamily="34" charset="-120"/>
              </a:rPr>
              <a:t>5 / 160</a:t>
            </a:r>
            <a:endParaRPr lang="en-US" sz="4000" dirty="0"/>
          </a:p>
        </p:txBody>
      </p:sp>
      <p:sp>
        <p:nvSpPr>
          <p:cNvPr id="8" name="Text 6"/>
          <p:cNvSpPr txBox="1"/>
          <p:nvPr/>
        </p:nvSpPr>
        <p:spPr>
          <a:xfrm>
            <a:off x="731520" y="5285232"/>
            <a:ext cx="3291840" cy="548640"/>
          </a:xfrm>
          <a:prstGeom prst="rect">
            <a:avLst/>
          </a:prstGeom>
          <a:noFill/>
          <a:ln/>
        </p:spPr>
        <p:txBody>
          <a:bodyPr wrap="square" lIns="0" tIns="0" rIns="0" bIns="0" rtlCol="0" anchor="t"/>
          <a:lstStyle/>
          <a:p>
            <a:pPr indent="0" marL="0">
              <a:buNone/>
            </a:pPr>
            <a:r>
              <a:rPr lang="en-US" sz="1200" dirty="0">
                <a:solidFill>
                  <a:srgbClr val="6B7785"/>
                </a:solidFill>
              </a:rPr>
              <a:t>drawer-task failures recovered</a:t>
            </a:r>
            <a:endParaRPr lang="en-US" sz="1200" dirty="0"/>
          </a:p>
        </p:txBody>
      </p:sp>
      <p:pic>
        <p:nvPicPr>
          <p:cNvPr id="9" name="strip_demo.png" descr="nominal LIBERO demo strip">    </p:cNvPr>
          <p:cNvPicPr>
            <a:picLocks noChangeAspect="1"/>
          </p:cNvPicPr>
          <p:nvPr/>
        </p:nvPicPr>
        <p:blipFill>
          <a:blip r:embed="rId1"/>
          <a:stretch>
            <a:fillRect/>
          </a:stretch>
        </p:blipFill>
        <p:spPr>
          <a:xfrm>
            <a:off x="4297680" y="1482291"/>
            <a:ext cx="7315200" cy="2156059"/>
          </a:xfrm>
          <a:prstGeom prst="rect">
            <a:avLst/>
          </a:prstGeom>
        </p:spPr>
      </p:pic>
      <p:sp>
        <p:nvSpPr>
          <p:cNvPr id="10" name="Text 7"/>
          <p:cNvSpPr txBox="1"/>
          <p:nvPr/>
        </p:nvSpPr>
        <p:spPr>
          <a:xfrm>
            <a:off x="4297680" y="3886200"/>
            <a:ext cx="7315200" cy="274320"/>
          </a:xfrm>
          <a:prstGeom prst="rect">
            <a:avLst/>
          </a:prstGeom>
          <a:noFill/>
          <a:ln/>
        </p:spPr>
        <p:txBody>
          <a:bodyPr wrap="square" lIns="0" tIns="0" rIns="0" bIns="0" rtlCol="0" anchor="t"/>
          <a:lstStyle/>
          <a:p>
            <a:pPr indent="0" marL="0">
              <a:buNone/>
            </a:pPr>
            <a:r>
              <a:rPr lang="en-US" sz="1100" i="1" dirty="0">
                <a:solidFill>
                  <a:srgbClr val="6B7785"/>
                </a:solidFill>
              </a:rPr>
              <a:t>Training data SmolVLA learned from: a nominal LIBERO-Spatial demo (agent + wrist camera, action per step)</a:t>
            </a:r>
            <a:endParaRPr lang="en-US" sz="1100" dirty="0"/>
          </a:p>
        </p:txBody>
      </p:sp>
      <p:sp>
        <p:nvSpPr>
          <p:cNvPr id="11" name="m0notes"/>
          <p:cNvSpPr/>
          <p:nvPr/>
        </p:nvSpPr>
        <p:spPr>
          <a:xfrm>
            <a:off x="4297680" y="4343400"/>
            <a:ext cx="7315200" cy="1737360"/>
          </a:xfrm>
          <a:prstGeom prst="roundRect">
            <a:avLst>
              <a:gd name="adj" fmla="val 421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2" name="Text 9"/>
          <p:cNvSpPr txBox="1"/>
          <p:nvPr/>
        </p:nvSpPr>
        <p:spPr>
          <a:xfrm>
            <a:off x="4526280" y="4480560"/>
            <a:ext cx="6858000" cy="15544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checkpoint is weaker than the ~0.90 reported for SmolVLA, but our engine matches lerobot-eval, so the interface is correct</a:t>
            </a:r>
            <a:endParaRPr lang="en-US" sz="1300" dirty="0"/>
          </a:p>
          <a:p>
            <a:pPr marL="342900" indent="-342900">
              <a:spcAft>
                <a:spcPts val="600"/>
              </a:spcAft>
              <a:buSzPct val="100000"/>
              <a:buChar char="•"/>
            </a:pPr>
            <a:r>
              <a:rPr lang="en-US" sz="1300" dirty="0">
                <a:solidFill>
                  <a:srgbClr val="3C4A57"/>
                </a:solidFill>
              </a:rPr>
              <a:t>fine-tuning on the Spatial demos alone reaches 0.80 nominal. That checkpoint (pi1-nominal) becomes the control and the stronger base</a:t>
            </a:r>
            <a:endParaRPr lang="en-US" sz="1300" dirty="0"/>
          </a:p>
          <a:p>
            <a:pPr marL="342900" indent="-342900">
              <a:spcAft>
                <a:spcPts val="600"/>
              </a:spcAft>
              <a:buSzPct val="100000"/>
              <a:buChar char="•"/>
            </a:pPr>
            <a:r>
              <a:rPr lang="en-US" sz="1300" dirty="0">
                <a:solidFill>
                  <a:srgbClr val="3C4A57"/>
                </a:solidFill>
              </a:rPr>
              <a:t>replanning every step (n_action_steps=1) gives +5 points at 10x the cost, so we keep 10</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SmolVLA on held-out failure states</a:t>
            </a:r>
            <a:endParaRPr lang="en-US" sz="3000" dirty="0"/>
          </a:p>
        </p:txBody>
      </p:sp>
      <p:pic>
        <p:nvPicPr>
          <p:cNvPr id="3" name="video_m0_pi0_fail_drawe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234440" y="1234440"/>
            <a:ext cx="4114800" cy="4114800"/>
          </a:xfrm>
          <a:prstGeom prst="rect">
            <a:avLst/>
          </a:prstGeom>
        </p:spPr>
      </p:pic>
      <p:pic>
        <p:nvPicPr>
          <p:cNvPr id="6" name="video_m0_pi0_fail_ramekin">
            <a:hlinkClick r:id="" action="ppaction://media"/>
          </p:cNvPr>
          <p:cNvPicPr>
            <a:picLocks noChangeAspect="1"/>
          </p:cNvPicPr>
          <p:nvPr>
            <a:videoFile r:link="rId4"/>
            <p:extLst>
              <p:ext uri="{DAA4B4D4-6D71-4841-9C94-3DE7FCFB9230}">
                <p14:media xmlns:p14="http://schemas.microsoft.com/office/powerpoint/2010/main" r:embed="rId5"/>
              </p:ext>
            </p:extLst>
          </p:nvPr>
        </p:nvPicPr>
        <p:blipFill>
          <a:blip r:embed="rId6"/>
          <a:stretch>
            <a:fillRect/>
          </a:stretch>
        </p:blipFill>
        <p:spPr>
          <a:xfrm>
            <a:off x="6812280" y="1234440"/>
            <a:ext cx="4114800" cy="4114800"/>
          </a:xfrm>
          <a:prstGeom prst="rect">
            <a:avLst/>
          </a:prstGeom>
        </p:spPr>
      </p:pic>
      <p:sp>
        <p:nvSpPr>
          <p:cNvPr id="5" name="Shape 1"/>
          <p:cNvSpPr/>
          <p:nvPr/>
        </p:nvSpPr>
        <p:spPr>
          <a:xfrm>
            <a:off x="548640" y="1280160"/>
            <a:ext cx="1143000" cy="292608"/>
          </a:xfrm>
          <a:prstGeom prst="roundRect">
            <a:avLst>
              <a:gd name="adj" fmla="val 25000"/>
            </a:avLst>
          </a:prstGeom>
          <a:solidFill>
            <a:srgbClr val="3C4A57"/>
          </a:solidFill>
          <a:ln w="12700">
            <a:solidFill>
              <a:srgbClr val="3C4A57"/>
            </a:solidFill>
            <a:prstDash val="solid"/>
          </a:ln>
        </p:spPr>
      </p:sp>
      <p:sp>
        <p:nvSpPr>
          <p:cNvPr id="6" name="Text 2"/>
          <p:cNvSpPr txBox="1"/>
          <p:nvPr/>
        </p:nvSpPr>
        <p:spPr>
          <a:xfrm>
            <a:off x="548640" y="1280160"/>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VIDEO</a:t>
            </a:r>
            <a:endParaRPr lang="en-US" sz="1100" dirty="0"/>
          </a:p>
        </p:txBody>
      </p:sp>
      <p:sp>
        <p:nvSpPr>
          <p:cNvPr id="7" name="Shape 3"/>
          <p:cNvSpPr/>
          <p:nvPr/>
        </p:nvSpPr>
        <p:spPr>
          <a:xfrm>
            <a:off x="6126480" y="1280160"/>
            <a:ext cx="1143000" cy="292608"/>
          </a:xfrm>
          <a:prstGeom prst="roundRect">
            <a:avLst>
              <a:gd name="adj" fmla="val 25000"/>
            </a:avLst>
          </a:prstGeom>
          <a:solidFill>
            <a:srgbClr val="3C4A57"/>
          </a:solidFill>
          <a:ln w="12700">
            <a:solidFill>
              <a:srgbClr val="3C4A57"/>
            </a:solidFill>
            <a:prstDash val="solid"/>
          </a:ln>
        </p:spPr>
      </p:sp>
      <p:sp>
        <p:nvSpPr>
          <p:cNvPr id="8" name="Text 4"/>
          <p:cNvSpPr txBox="1"/>
          <p:nvPr/>
        </p:nvSpPr>
        <p:spPr>
          <a:xfrm>
            <a:off x="6126480" y="1280160"/>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VIDEO</a:t>
            </a:r>
            <a:endParaRPr lang="en-US" sz="1100" dirty="0"/>
          </a:p>
        </p:txBody>
      </p:sp>
      <p:sp>
        <p:nvSpPr>
          <p:cNvPr id="9" name="Text 5"/>
          <p:cNvSpPr txBox="1"/>
          <p:nvPr/>
        </p:nvSpPr>
        <p:spPr>
          <a:xfrm>
            <a:off x="548640" y="5440680"/>
            <a:ext cx="5486400" cy="274320"/>
          </a:xfrm>
          <a:prstGeom prst="rect">
            <a:avLst/>
          </a:prstGeom>
          <a:noFill/>
          <a:ln/>
        </p:spPr>
        <p:txBody>
          <a:bodyPr wrap="square" lIns="0" tIns="0" rIns="0" bIns="0" rtlCol="0" anchor="t"/>
          <a:lstStyle/>
          <a:p>
            <a:pPr indent="0" marL="0">
              <a:buNone/>
            </a:pPr>
            <a:r>
              <a:rPr lang="en-US" sz="1100" i="1" dirty="0">
                <a:solidFill>
                  <a:srgbClr val="6B7785"/>
                </a:solidFill>
              </a:rPr>
              <a:t>Drawer failure: pi0 never recovers (26 s)</a:t>
            </a:r>
            <a:endParaRPr lang="en-US" sz="1100" dirty="0"/>
          </a:p>
        </p:txBody>
      </p:sp>
      <p:sp>
        <p:nvSpPr>
          <p:cNvPr id="10" name="Text 6"/>
          <p:cNvSpPr txBox="1"/>
          <p:nvPr/>
        </p:nvSpPr>
        <p:spPr>
          <a:xfrm>
            <a:off x="6126480" y="5440680"/>
            <a:ext cx="5486400" cy="274320"/>
          </a:xfrm>
          <a:prstGeom prst="rect">
            <a:avLst/>
          </a:prstGeom>
          <a:noFill/>
          <a:ln/>
        </p:spPr>
        <p:txBody>
          <a:bodyPr wrap="square" lIns="0" tIns="0" rIns="0" bIns="0" rtlCol="0" anchor="t"/>
          <a:lstStyle/>
          <a:p>
            <a:pPr indent="0" marL="0">
              <a:buNone/>
            </a:pPr>
            <a:r>
              <a:rPr lang="en-US" sz="1100" i="1" dirty="0">
                <a:solidFill>
                  <a:srgbClr val="6B7785"/>
                </a:solidFill>
              </a:rPr>
              <a:t>Ramekin failure: pi0 keeps trying the same grasp (26 s)</a:t>
            </a:r>
            <a:endParaRPr lang="en-US" sz="1100" dirty="0"/>
          </a:p>
        </p:txBody>
      </p:sp>
      <p:sp>
        <p:nvSpPr>
          <p:cNvPr id="11" name="Text 7"/>
          <p:cNvSpPr txBox="1"/>
          <p:nvPr/>
        </p:nvSpPr>
        <p:spPr>
          <a:xfrm>
            <a:off x="548640" y="5852160"/>
            <a:ext cx="11064240" cy="365760"/>
          </a:xfrm>
          <a:prstGeom prst="rect">
            <a:avLst/>
          </a:prstGeom>
          <a:noFill/>
          <a:ln/>
        </p:spPr>
        <p:txBody>
          <a:bodyPr wrap="square" lIns="0" tIns="0" rIns="0" bIns="0" rtlCol="0" anchor="t"/>
          <a:lstStyle/>
          <a:p>
            <a:pPr indent="0" marL="0">
              <a:buNone/>
            </a:pPr>
            <a:r>
              <a:rPr lang="en-US" sz="1400" dirty="0">
                <a:solidFill>
                  <a:srgbClr val="3C4A57"/>
                </a:solidFill>
              </a:rPr>
              <a:t>Official protocol, 520 steps. These are the 88% of test episodes we want to fix.</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M1: how one recovery candidate is tried</a:t>
            </a:r>
            <a:endParaRPr lang="en-US" sz="3000" dirty="0"/>
          </a:p>
        </p:txBody>
      </p:sp>
      <p:sp>
        <p:nvSpPr>
          <p:cNvPr id="3" name="ph0"/>
          <p:cNvSpPr/>
          <p:nvPr/>
        </p:nvSpPr>
        <p:spPr>
          <a:xfrm>
            <a:off x="548640" y="1280160"/>
            <a:ext cx="2606040" cy="1828800"/>
          </a:xfrm>
          <a:prstGeom prst="roundRect">
            <a:avLst>
              <a:gd name="adj" fmla="val 4000"/>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Shape 2"/>
          <p:cNvSpPr/>
          <p:nvPr/>
        </p:nvSpPr>
        <p:spPr>
          <a:xfrm>
            <a:off x="749808" y="1463040"/>
            <a:ext cx="292608" cy="292608"/>
          </a:xfrm>
          <a:prstGeom prst="ellipse">
            <a:avLst/>
          </a:prstGeom>
          <a:solidFill>
            <a:srgbClr val="3C4A57"/>
          </a:solidFill>
          <a:ln w="12700">
            <a:solidFill>
              <a:srgbClr val="3C4A57"/>
            </a:solidFill>
            <a:prstDash val="solid"/>
          </a:ln>
        </p:spPr>
      </p:sp>
      <p:sp>
        <p:nvSpPr>
          <p:cNvPr id="5" name="Text 3"/>
          <p:cNvSpPr txBox="1"/>
          <p:nvPr/>
        </p:nvSpPr>
        <p:spPr>
          <a:xfrm>
            <a:off x="1143000" y="1444752"/>
            <a:ext cx="1920240" cy="365760"/>
          </a:xfrm>
          <a:prstGeom prst="rect">
            <a:avLst/>
          </a:prstGeom>
          <a:noFill/>
          <a:ln/>
        </p:spPr>
        <p:txBody>
          <a:bodyPr wrap="square" lIns="0" tIns="0" rIns="0" bIns="0" rtlCol="0" anchor="t"/>
          <a:lstStyle/>
          <a:p>
            <a:pPr indent="0" marL="0">
              <a:buNone/>
            </a:pPr>
            <a:r>
              <a:rPr lang="en-US" sz="1600" b="1" dirty="0">
                <a:solidFill>
                  <a:srgbClr val="23303B"/>
                </a:solidFill>
              </a:rPr>
              <a:t>Restore</a:t>
            </a:r>
            <a:endParaRPr lang="en-US" sz="1600" dirty="0"/>
          </a:p>
        </p:txBody>
      </p:sp>
      <p:sp>
        <p:nvSpPr>
          <p:cNvPr id="6" name="Text 4"/>
          <p:cNvSpPr txBox="1"/>
          <p:nvPr/>
        </p:nvSpPr>
        <p:spPr>
          <a:xfrm>
            <a:off x="749808" y="1920240"/>
            <a:ext cx="2240280" cy="1097280"/>
          </a:xfrm>
          <a:prstGeom prst="rect">
            <a:avLst/>
          </a:prstGeom>
          <a:noFill/>
          <a:ln/>
        </p:spPr>
        <p:txBody>
          <a:bodyPr wrap="square" lIns="0" tIns="0" rIns="0" bIns="0" rtlCol="0" anchor="t"/>
          <a:lstStyle/>
          <a:p>
            <a:pPr indent="0" marL="0">
              <a:buNone/>
            </a:pPr>
            <a:r>
              <a:rPr lang="en-US" sz="1300" dirty="0">
                <a:solidFill>
                  <a:srgbClr val="3C4A57"/>
                </a:solidFill>
              </a:rPr>
              <a:t>load the exact failure snapshot</a:t>
            </a:r>
            <a:endParaRPr lang="en-US" sz="1300" dirty="0"/>
          </a:p>
        </p:txBody>
      </p:sp>
      <p:sp>
        <p:nvSpPr>
          <p:cNvPr id="7" name="ph1"/>
          <p:cNvSpPr/>
          <p:nvPr/>
        </p:nvSpPr>
        <p:spPr>
          <a:xfrm>
            <a:off x="3383280" y="1280160"/>
            <a:ext cx="2606040" cy="1828800"/>
          </a:xfrm>
          <a:prstGeom prst="roundRect">
            <a:avLst>
              <a:gd name="adj" fmla="val 4000"/>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8" name="Shape 6"/>
          <p:cNvSpPr/>
          <p:nvPr/>
        </p:nvSpPr>
        <p:spPr>
          <a:xfrm>
            <a:off x="3584448" y="1463040"/>
            <a:ext cx="292608" cy="292608"/>
          </a:xfrm>
          <a:prstGeom prst="ellipse">
            <a:avLst/>
          </a:prstGeom>
          <a:solidFill>
            <a:srgbClr val="E8962E"/>
          </a:solidFill>
          <a:ln w="12700">
            <a:solidFill>
              <a:srgbClr val="E8962E"/>
            </a:solidFill>
            <a:prstDash val="solid"/>
          </a:ln>
        </p:spPr>
      </p:sp>
      <p:sp>
        <p:nvSpPr>
          <p:cNvPr id="9" name="Text 7"/>
          <p:cNvSpPr txBox="1"/>
          <p:nvPr/>
        </p:nvSpPr>
        <p:spPr>
          <a:xfrm>
            <a:off x="3977640" y="1444752"/>
            <a:ext cx="1920240" cy="365760"/>
          </a:xfrm>
          <a:prstGeom prst="rect">
            <a:avLst/>
          </a:prstGeom>
          <a:noFill/>
          <a:ln/>
        </p:spPr>
        <p:txBody>
          <a:bodyPr wrap="square" lIns="0" tIns="0" rIns="0" bIns="0" rtlCol="0" anchor="t"/>
          <a:lstStyle/>
          <a:p>
            <a:pPr indent="0" marL="0">
              <a:buNone/>
            </a:pPr>
            <a:r>
              <a:rPr lang="en-US" sz="1600" b="1" dirty="0">
                <a:solidFill>
                  <a:srgbClr val="23303B"/>
                </a:solidFill>
              </a:rPr>
              <a:t>Segment (50 steps)</a:t>
            </a:r>
            <a:endParaRPr lang="en-US" sz="1600" dirty="0"/>
          </a:p>
        </p:txBody>
      </p:sp>
      <p:sp>
        <p:nvSpPr>
          <p:cNvPr id="10" name="Text 8"/>
          <p:cNvSpPr txBox="1"/>
          <p:nvPr/>
        </p:nvSpPr>
        <p:spPr>
          <a:xfrm>
            <a:off x="3584448" y="1920240"/>
            <a:ext cx="2240280" cy="1097280"/>
          </a:xfrm>
          <a:prstGeom prst="rect">
            <a:avLst/>
          </a:prstGeom>
          <a:noFill/>
          <a:ln/>
        </p:spPr>
        <p:txBody>
          <a:bodyPr wrap="square" lIns="0" tIns="0" rIns="0" bIns="0" rtlCol="0" anchor="t"/>
          <a:lstStyle/>
          <a:p>
            <a:pPr indent="0" marL="0">
              <a:buNone/>
            </a:pPr>
            <a:r>
              <a:rPr lang="en-US" sz="1300" dirty="0">
                <a:solidFill>
                  <a:srgbClr val="3C4A57"/>
                </a:solidFill>
              </a:rPr>
              <a:t>open-loop actions from search: SmolVLA samples, smooth perturbations, primitives</a:t>
            </a:r>
            <a:endParaRPr lang="en-US" sz="1300" dirty="0"/>
          </a:p>
        </p:txBody>
      </p:sp>
      <p:sp>
        <p:nvSpPr>
          <p:cNvPr id="11" name="ph2"/>
          <p:cNvSpPr/>
          <p:nvPr/>
        </p:nvSpPr>
        <p:spPr>
          <a:xfrm>
            <a:off x="6217920" y="1280160"/>
            <a:ext cx="2606040" cy="1828800"/>
          </a:xfrm>
          <a:prstGeom prst="roundRect">
            <a:avLst>
              <a:gd name="adj" fmla="val 4000"/>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2" name="Shape 10"/>
          <p:cNvSpPr/>
          <p:nvPr/>
        </p:nvSpPr>
        <p:spPr>
          <a:xfrm>
            <a:off x="6419088" y="1463040"/>
            <a:ext cx="292608" cy="292608"/>
          </a:xfrm>
          <a:prstGeom prst="ellipse">
            <a:avLst/>
          </a:prstGeom>
          <a:solidFill>
            <a:srgbClr val="1F8FE5"/>
          </a:solidFill>
          <a:ln w="12700">
            <a:solidFill>
              <a:srgbClr val="1F8FE5"/>
            </a:solidFill>
            <a:prstDash val="solid"/>
          </a:ln>
        </p:spPr>
      </p:sp>
      <p:sp>
        <p:nvSpPr>
          <p:cNvPr id="13" name="Text 11"/>
          <p:cNvSpPr txBox="1"/>
          <p:nvPr/>
        </p:nvSpPr>
        <p:spPr>
          <a:xfrm>
            <a:off x="6812280" y="1444752"/>
            <a:ext cx="1920240" cy="365760"/>
          </a:xfrm>
          <a:prstGeom prst="rect">
            <a:avLst/>
          </a:prstGeom>
          <a:noFill/>
          <a:ln/>
        </p:spPr>
        <p:txBody>
          <a:bodyPr wrap="square" lIns="0" tIns="0" rIns="0" bIns="0" rtlCol="0" anchor="t"/>
          <a:lstStyle/>
          <a:p>
            <a:pPr indent="0" marL="0">
              <a:buNone/>
            </a:pPr>
            <a:r>
              <a:rPr lang="en-US" sz="1600" b="1" dirty="0">
                <a:solidFill>
                  <a:srgbClr val="23303B"/>
                </a:solidFill>
              </a:rPr>
              <a:t>SmolVLA continues</a:t>
            </a:r>
            <a:endParaRPr lang="en-US" sz="1600" dirty="0"/>
          </a:p>
        </p:txBody>
      </p:sp>
      <p:sp>
        <p:nvSpPr>
          <p:cNvPr id="14" name="Text 12"/>
          <p:cNvSpPr txBox="1"/>
          <p:nvPr/>
        </p:nvSpPr>
        <p:spPr>
          <a:xfrm>
            <a:off x="6419088" y="1920240"/>
            <a:ext cx="2240280" cy="1097280"/>
          </a:xfrm>
          <a:prstGeom prst="rect">
            <a:avLst/>
          </a:prstGeom>
          <a:noFill/>
          <a:ln/>
        </p:spPr>
        <p:txBody>
          <a:bodyPr wrap="square" lIns="0" tIns="0" rIns="0" bIns="0" rtlCol="0" anchor="t"/>
          <a:lstStyle/>
          <a:p>
            <a:pPr indent="0" marL="0">
              <a:buNone/>
            </a:pPr>
            <a:r>
              <a:rPr lang="en-US" sz="1300" dirty="0">
                <a:solidFill>
                  <a:srgbClr val="3C4A57"/>
                </a:solidFill>
              </a:rPr>
              <a:t>frozen pi0 drives closed-loop up to 300 steps</a:t>
            </a:r>
            <a:endParaRPr lang="en-US" sz="1300" dirty="0"/>
          </a:p>
        </p:txBody>
      </p:sp>
      <p:sp>
        <p:nvSpPr>
          <p:cNvPr id="15" name="ph3"/>
          <p:cNvSpPr/>
          <p:nvPr/>
        </p:nvSpPr>
        <p:spPr>
          <a:xfrm>
            <a:off x="9052560" y="1280160"/>
            <a:ext cx="2606040" cy="1828800"/>
          </a:xfrm>
          <a:prstGeom prst="roundRect">
            <a:avLst>
              <a:gd name="adj" fmla="val 4000"/>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6" name="Shape 14"/>
          <p:cNvSpPr/>
          <p:nvPr/>
        </p:nvSpPr>
        <p:spPr>
          <a:xfrm>
            <a:off x="9253728" y="1463040"/>
            <a:ext cx="292608" cy="292608"/>
          </a:xfrm>
          <a:prstGeom prst="ellipse">
            <a:avLst/>
          </a:prstGeom>
          <a:solidFill>
            <a:srgbClr val="2A9D8F"/>
          </a:solidFill>
          <a:ln w="12700">
            <a:solidFill>
              <a:srgbClr val="2A9D8F"/>
            </a:solidFill>
            <a:prstDash val="solid"/>
          </a:ln>
        </p:spPr>
      </p:sp>
      <p:sp>
        <p:nvSpPr>
          <p:cNvPr id="17" name="Text 15"/>
          <p:cNvSpPr txBox="1"/>
          <p:nvPr/>
        </p:nvSpPr>
        <p:spPr>
          <a:xfrm>
            <a:off x="9646920" y="1444752"/>
            <a:ext cx="1920240" cy="365760"/>
          </a:xfrm>
          <a:prstGeom prst="rect">
            <a:avLst/>
          </a:prstGeom>
          <a:noFill/>
          <a:ln/>
        </p:spPr>
        <p:txBody>
          <a:bodyPr wrap="square" lIns="0" tIns="0" rIns="0" bIns="0" rtlCol="0" anchor="t"/>
          <a:lstStyle/>
          <a:p>
            <a:pPr indent="0" marL="0">
              <a:buNone/>
            </a:pPr>
            <a:r>
              <a:rPr lang="en-US" sz="1600" b="1" dirty="0">
                <a:solidFill>
                  <a:srgbClr val="23303B"/>
                </a:solidFill>
              </a:rPr>
              <a:t>Judge</a:t>
            </a:r>
            <a:endParaRPr lang="en-US" sz="1600" dirty="0"/>
          </a:p>
        </p:txBody>
      </p:sp>
      <p:sp>
        <p:nvSpPr>
          <p:cNvPr id="18" name="Text 16"/>
          <p:cNvSpPr txBox="1"/>
          <p:nvPr/>
        </p:nvSpPr>
        <p:spPr>
          <a:xfrm>
            <a:off x="9253728" y="1920240"/>
            <a:ext cx="2240280" cy="1097280"/>
          </a:xfrm>
          <a:prstGeom prst="rect">
            <a:avLst/>
          </a:prstGeom>
          <a:noFill/>
          <a:ln/>
        </p:spPr>
        <p:txBody>
          <a:bodyPr wrap="square" lIns="0" tIns="0" rIns="0" bIns="0" rtlCol="0" anchor="t"/>
          <a:lstStyle/>
          <a:p>
            <a:pPr indent="0" marL="0">
              <a:buNone/>
            </a:pPr>
            <a:r>
              <a:rPr lang="en-US" sz="1300" dirty="0">
                <a:solidFill>
                  <a:srgbClr val="3C4A57"/>
                </a:solidFill>
              </a:rPr>
              <a:t>simulator checks the BDDL goal: bowl on plate?</a:t>
            </a:r>
            <a:endParaRPr lang="en-US" sz="1300" dirty="0"/>
          </a:p>
        </p:txBody>
      </p:sp>
      <p:pic>
        <p:nvPicPr>
          <p:cNvPr id="19" name="strip_primitive.png" descr="primitive recovery then SmolVLA">    </p:cNvPr>
          <p:cNvPicPr>
            <a:picLocks noChangeAspect="1"/>
          </p:cNvPicPr>
          <p:nvPr/>
        </p:nvPicPr>
        <p:blipFill>
          <a:blip r:embed="rId1"/>
          <a:stretch>
            <a:fillRect/>
          </a:stretch>
        </p:blipFill>
        <p:spPr>
          <a:xfrm>
            <a:off x="551386" y="3337560"/>
            <a:ext cx="11058748" cy="2606040"/>
          </a:xfrm>
          <a:prstGeom prst="rect">
            <a:avLst/>
          </a:prstGeom>
        </p:spPr>
      </p:pic>
      <p:sp>
        <p:nvSpPr>
          <p:cNvPr id="20" name="Text 17"/>
          <p:cNvSpPr txBox="1"/>
          <p:nvPr/>
        </p:nvSpPr>
        <p:spPr>
          <a:xfrm>
            <a:off x="548640" y="5989320"/>
            <a:ext cx="11064240" cy="274320"/>
          </a:xfrm>
          <a:prstGeom prst="rect">
            <a:avLst/>
          </a:prstGeom>
          <a:noFill/>
          <a:ln/>
        </p:spPr>
        <p:txBody>
          <a:bodyPr wrap="square" lIns="0" tIns="0" rIns="0" bIns="0" rtlCol="0" anchor="t"/>
          <a:lstStyle/>
          <a:p>
            <a:pPr indent="0" marL="0">
              <a:buNone/>
            </a:pPr>
            <a:r>
              <a:rPr lang="en-US" sz="1100" i="1" dirty="0">
                <a:solidFill>
                  <a:srgbClr val="6B7785"/>
                </a:solidFill>
              </a:rPr>
              <a:t>Orange = searched segment (here a hand-written 'open + lift' primitive). Blue = SmolVLA takes over and places the bowl. Competence-targeted: the segment does not solve the task, it returns the robot to a state SmolVLA can finish from.</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oracle-search recoveries</a:t>
            </a:r>
            <a:endParaRPr lang="en-US" sz="3000" dirty="0"/>
          </a:p>
        </p:txBody>
      </p:sp>
      <p:pic>
        <p:nvPicPr>
          <p:cNvPr id="3" name="video_m1_trio">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3311667" y="1188720"/>
            <a:ext cx="5538186" cy="4343400"/>
          </a:xfrm>
          <a:prstGeom prst="rect">
            <a:avLst/>
          </a:prstGeom>
        </p:spPr>
      </p:pic>
      <p:sp>
        <p:nvSpPr>
          <p:cNvPr id="4" name="Shape 1"/>
          <p:cNvSpPr/>
          <p:nvPr/>
        </p:nvSpPr>
        <p:spPr>
          <a:xfrm>
            <a:off x="548640" y="1188720"/>
            <a:ext cx="1143000" cy="292608"/>
          </a:xfrm>
          <a:prstGeom prst="roundRect">
            <a:avLst>
              <a:gd name="adj" fmla="val 25000"/>
            </a:avLst>
          </a:prstGeom>
          <a:solidFill>
            <a:srgbClr val="3C4A57"/>
          </a:solidFill>
          <a:ln w="12700">
            <a:solidFill>
              <a:srgbClr val="3C4A57"/>
            </a:solidFill>
            <a:prstDash val="solid"/>
          </a:ln>
        </p:spPr>
      </p:sp>
      <p:sp>
        <p:nvSpPr>
          <p:cNvPr id="5" name="Text 2"/>
          <p:cNvSpPr txBox="1"/>
          <p:nvPr/>
        </p:nvSpPr>
        <p:spPr>
          <a:xfrm>
            <a:off x="548640" y="1188720"/>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VIDEO</a:t>
            </a:r>
            <a:endParaRPr lang="en-US" sz="1100" dirty="0"/>
          </a:p>
        </p:txBody>
      </p:sp>
      <p:sp>
        <p:nvSpPr>
          <p:cNvPr id="6" name="Text 3"/>
          <p:cNvSpPr txBox="1"/>
          <p:nvPr/>
        </p:nvSpPr>
        <p:spPr>
          <a:xfrm>
            <a:off x="548640" y="5669280"/>
            <a:ext cx="11064240" cy="548640"/>
          </a:xfrm>
          <a:prstGeom prst="rect">
            <a:avLst/>
          </a:prstGeom>
          <a:noFill/>
          <a:ln/>
        </p:spPr>
        <p:txBody>
          <a:bodyPr wrap="square" lIns="0" tIns="0" rIns="0" bIns="0" rtlCol="0" anchor="t"/>
          <a:lstStyle/>
          <a:p>
            <a:pPr indent="0" marL="0">
              <a:buNone/>
            </a:pPr>
            <a:r>
              <a:rPr lang="en-US" sz="1400" dirty="0">
                <a:solidFill>
                  <a:srgbClr val="3C4A57"/>
                </a:solidFill>
              </a:rPr>
              <a:t>Orange bar = searched 50-step segment, blue = SmolVLA continuing, green = nominal demo. Overlay: step, segment, action given to the policy, finger opening.</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M1: search = propose, score in the simulator, refine</a:t>
            </a:r>
            <a:endParaRPr lang="en-US" sz="3000" dirty="0"/>
          </a:p>
        </p:txBody>
      </p:sp>
      <p:sp>
        <p:nvSpPr>
          <p:cNvPr id="3" name="badge"/>
          <p:cNvSpPr/>
          <p:nvPr/>
        </p:nvSpPr>
        <p:spPr>
          <a:xfrm>
            <a:off x="548640" y="1325880"/>
            <a:ext cx="384048" cy="384048"/>
          </a:xfrm>
          <a:prstGeom prst="ellipse">
            <a:avLst/>
          </a:prstGeom>
          <a:solidFill>
            <a:srgbClr val="E8962E"/>
          </a:solidFill>
          <a:ln w="12700">
            <a:solidFill>
              <a:srgbClr val="E8962E"/>
            </a:solidFill>
            <a:prstDash val="solid"/>
          </a:ln>
        </p:spPr>
      </p:sp>
      <p:sp>
        <p:nvSpPr>
          <p:cNvPr id="4" name="Text 2"/>
          <p:cNvSpPr txBox="1"/>
          <p:nvPr/>
        </p:nvSpPr>
        <p:spPr>
          <a:xfrm>
            <a:off x="548640" y="13258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5" name="Text 3"/>
          <p:cNvSpPr txBox="1"/>
          <p:nvPr/>
        </p:nvSpPr>
        <p:spPr>
          <a:xfrm>
            <a:off x="1097280" y="1280160"/>
            <a:ext cx="4206240" cy="365760"/>
          </a:xfrm>
          <a:prstGeom prst="rect">
            <a:avLst/>
          </a:prstGeom>
          <a:noFill/>
          <a:ln/>
        </p:spPr>
        <p:txBody>
          <a:bodyPr wrap="square" lIns="0" tIns="0" rIns="0" bIns="0" rtlCol="0" anchor="t"/>
          <a:lstStyle/>
          <a:p>
            <a:pPr indent="0" marL="0">
              <a:buNone/>
            </a:pPr>
            <a:r>
              <a:rPr lang="en-US" sz="1700" b="1" dirty="0">
                <a:solidFill>
                  <a:srgbClr val="23303B"/>
                </a:solidFill>
              </a:rPr>
              <a:t>Propose 64</a:t>
            </a:r>
            <a:endParaRPr lang="en-US" sz="1700" dirty="0"/>
          </a:p>
        </p:txBody>
      </p:sp>
      <p:sp>
        <p:nvSpPr>
          <p:cNvPr id="6" name="Text 4"/>
          <p:cNvSpPr txBox="1"/>
          <p:nvPr/>
        </p:nvSpPr>
        <p:spPr>
          <a:xfrm>
            <a:off x="1097280" y="1664208"/>
            <a:ext cx="4206240" cy="685800"/>
          </a:xfrm>
          <a:prstGeom prst="rect">
            <a:avLst/>
          </a:prstGeom>
          <a:noFill/>
          <a:ln/>
        </p:spPr>
        <p:txBody>
          <a:bodyPr wrap="square" lIns="0" tIns="0" rIns="0" bIns="0" rtlCol="0" anchor="t"/>
          <a:lstStyle/>
          <a:p>
            <a:pPr indent="0" marL="0">
              <a:buNone/>
            </a:pPr>
            <a:r>
              <a:rPr lang="en-US" sz="1300" dirty="0">
                <a:solidFill>
                  <a:srgbClr val="3C4A57"/>
                </a:solidFill>
              </a:rPr>
              <a:t>24 SmolVLA samples (different noise), 24 smooth perturbations, 16 primitives</a:t>
            </a:r>
            <a:endParaRPr lang="en-US" sz="1300" dirty="0"/>
          </a:p>
        </p:txBody>
      </p:sp>
      <p:sp>
        <p:nvSpPr>
          <p:cNvPr id="7" name="badge"/>
          <p:cNvSpPr/>
          <p:nvPr/>
        </p:nvSpPr>
        <p:spPr>
          <a:xfrm>
            <a:off x="548640" y="2468880"/>
            <a:ext cx="384048" cy="384048"/>
          </a:xfrm>
          <a:prstGeom prst="ellipse">
            <a:avLst/>
          </a:prstGeom>
          <a:solidFill>
            <a:srgbClr val="E8962E"/>
          </a:solidFill>
          <a:ln w="12700">
            <a:solidFill>
              <a:srgbClr val="E8962E"/>
            </a:solidFill>
            <a:prstDash val="solid"/>
          </a:ln>
        </p:spPr>
      </p:sp>
      <p:sp>
        <p:nvSpPr>
          <p:cNvPr id="8" name="Text 6"/>
          <p:cNvSpPr txBox="1"/>
          <p:nvPr/>
        </p:nvSpPr>
        <p:spPr>
          <a:xfrm>
            <a:off x="548640" y="24688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9" name="Text 7"/>
          <p:cNvSpPr txBox="1"/>
          <p:nvPr/>
        </p:nvSpPr>
        <p:spPr>
          <a:xfrm>
            <a:off x="1097280" y="2423160"/>
            <a:ext cx="4206240" cy="365760"/>
          </a:xfrm>
          <a:prstGeom prst="rect">
            <a:avLst/>
          </a:prstGeom>
          <a:noFill/>
          <a:ln/>
        </p:spPr>
        <p:txBody>
          <a:bodyPr wrap="square" lIns="0" tIns="0" rIns="0" bIns="0" rtlCol="0" anchor="t"/>
          <a:lstStyle/>
          <a:p>
            <a:pPr indent="0" marL="0">
              <a:buNone/>
            </a:pPr>
            <a:r>
              <a:rPr lang="en-US" sz="1700" b="1" dirty="0">
                <a:solidFill>
                  <a:srgbClr val="23303B"/>
                </a:solidFill>
              </a:rPr>
              <a:t>Score</a:t>
            </a:r>
            <a:endParaRPr lang="en-US" sz="1700" dirty="0"/>
          </a:p>
        </p:txBody>
      </p:sp>
      <p:sp>
        <p:nvSpPr>
          <p:cNvPr id="10" name="Text 8"/>
          <p:cNvSpPr txBox="1"/>
          <p:nvPr/>
        </p:nvSpPr>
        <p:spPr>
          <a:xfrm>
            <a:off x="1097280" y="2807208"/>
            <a:ext cx="4206240" cy="685800"/>
          </a:xfrm>
          <a:prstGeom prst="rect">
            <a:avLst/>
          </a:prstGeom>
          <a:noFill/>
          <a:ln/>
        </p:spPr>
        <p:txBody>
          <a:bodyPr wrap="square" lIns="0" tIns="0" rIns="0" bIns="0" rtlCol="0" anchor="t"/>
          <a:lstStyle/>
          <a:p>
            <a:pPr indent="0" marL="0">
              <a:buNone/>
            </a:pPr>
            <a:r>
              <a:rPr lang="en-US" sz="1300" dirty="0">
                <a:solidFill>
                  <a:srgbClr val="3C4A57"/>
                </a:solidFill>
              </a:rPr>
              <a:t>simulate each: success × speed + small goal-progress shaping − jerk</a:t>
            </a:r>
            <a:endParaRPr lang="en-US" sz="1300" dirty="0"/>
          </a:p>
        </p:txBody>
      </p:sp>
      <p:sp>
        <p:nvSpPr>
          <p:cNvPr id="11" name="badge"/>
          <p:cNvSpPr/>
          <p:nvPr/>
        </p:nvSpPr>
        <p:spPr>
          <a:xfrm>
            <a:off x="548640" y="3611880"/>
            <a:ext cx="384048" cy="384048"/>
          </a:xfrm>
          <a:prstGeom prst="ellipse">
            <a:avLst/>
          </a:prstGeom>
          <a:solidFill>
            <a:srgbClr val="E8962E"/>
          </a:solidFill>
          <a:ln w="12700">
            <a:solidFill>
              <a:srgbClr val="E8962E"/>
            </a:solidFill>
            <a:prstDash val="solid"/>
          </a:ln>
        </p:spPr>
      </p:sp>
      <p:sp>
        <p:nvSpPr>
          <p:cNvPr id="12" name="Text 10"/>
          <p:cNvSpPr txBox="1"/>
          <p:nvPr/>
        </p:nvSpPr>
        <p:spPr>
          <a:xfrm>
            <a:off x="548640" y="36118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3" name="Text 11"/>
          <p:cNvSpPr txBox="1"/>
          <p:nvPr/>
        </p:nvSpPr>
        <p:spPr>
          <a:xfrm>
            <a:off x="1097280" y="3566160"/>
            <a:ext cx="4206240" cy="365760"/>
          </a:xfrm>
          <a:prstGeom prst="rect">
            <a:avLst/>
          </a:prstGeom>
          <a:noFill/>
          <a:ln/>
        </p:spPr>
        <p:txBody>
          <a:bodyPr wrap="square" lIns="0" tIns="0" rIns="0" bIns="0" rtlCol="0" anchor="t"/>
          <a:lstStyle/>
          <a:p>
            <a:pPr indent="0" marL="0">
              <a:buNone/>
            </a:pPr>
            <a:r>
              <a:rPr lang="en-US" sz="1700" b="1" dirty="0">
                <a:solidFill>
                  <a:srgbClr val="23303B"/>
                </a:solidFill>
              </a:rPr>
              <a:t>Keep elites</a:t>
            </a:r>
            <a:endParaRPr lang="en-US" sz="1700" dirty="0"/>
          </a:p>
        </p:txBody>
      </p:sp>
      <p:sp>
        <p:nvSpPr>
          <p:cNvPr id="14" name="Text 12"/>
          <p:cNvSpPr txBox="1"/>
          <p:nvPr/>
        </p:nvSpPr>
        <p:spPr>
          <a:xfrm>
            <a:off x="1097280" y="3950208"/>
            <a:ext cx="4206240" cy="685800"/>
          </a:xfrm>
          <a:prstGeom prst="rect">
            <a:avLst/>
          </a:prstGeom>
          <a:noFill/>
          <a:ln/>
        </p:spPr>
        <p:txBody>
          <a:bodyPr wrap="square" lIns="0" tIns="0" rIns="0" bIns="0" rtlCol="0" anchor="t"/>
          <a:lstStyle/>
          <a:p>
            <a:pPr indent="0" marL="0">
              <a:buNone/>
            </a:pPr>
            <a:r>
              <a:rPr lang="en-US" sz="1300" dirty="0">
                <a:solidFill>
                  <a:srgbClr val="3C4A57"/>
                </a:solidFill>
              </a:rPr>
              <a:t>8 best candidates</a:t>
            </a:r>
            <a:endParaRPr lang="en-US" sz="1300" dirty="0"/>
          </a:p>
        </p:txBody>
      </p:sp>
      <p:sp>
        <p:nvSpPr>
          <p:cNvPr id="15" name="badge"/>
          <p:cNvSpPr/>
          <p:nvPr/>
        </p:nvSpPr>
        <p:spPr>
          <a:xfrm>
            <a:off x="548640" y="4754880"/>
            <a:ext cx="384048" cy="384048"/>
          </a:xfrm>
          <a:prstGeom prst="ellipse">
            <a:avLst/>
          </a:prstGeom>
          <a:solidFill>
            <a:srgbClr val="E8962E"/>
          </a:solidFill>
          <a:ln w="12700">
            <a:solidFill>
              <a:srgbClr val="E8962E"/>
            </a:solidFill>
            <a:prstDash val="solid"/>
          </a:ln>
        </p:spPr>
      </p:sp>
      <p:sp>
        <p:nvSpPr>
          <p:cNvPr id="16" name="Text 14"/>
          <p:cNvSpPr txBox="1"/>
          <p:nvPr/>
        </p:nvSpPr>
        <p:spPr>
          <a:xfrm>
            <a:off x="548640" y="4754880"/>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17" name="Text 15"/>
          <p:cNvSpPr txBox="1"/>
          <p:nvPr/>
        </p:nvSpPr>
        <p:spPr>
          <a:xfrm>
            <a:off x="1097280" y="4709160"/>
            <a:ext cx="4206240" cy="365760"/>
          </a:xfrm>
          <a:prstGeom prst="rect">
            <a:avLst/>
          </a:prstGeom>
          <a:noFill/>
          <a:ln/>
        </p:spPr>
        <p:txBody>
          <a:bodyPr wrap="square" lIns="0" tIns="0" rIns="0" bIns="0" rtlCol="0" anchor="t"/>
          <a:lstStyle/>
          <a:p>
            <a:pPr indent="0" marL="0">
              <a:buNone/>
            </a:pPr>
            <a:r>
              <a:rPr lang="en-US" sz="1700" b="1" dirty="0">
                <a:solidFill>
                  <a:srgbClr val="23303B"/>
                </a:solidFill>
              </a:rPr>
              <a:t>Refine</a:t>
            </a:r>
            <a:endParaRPr lang="en-US" sz="1700" dirty="0"/>
          </a:p>
        </p:txBody>
      </p:sp>
      <p:sp>
        <p:nvSpPr>
          <p:cNvPr id="18" name="Text 16"/>
          <p:cNvSpPr txBox="1"/>
          <p:nvPr/>
        </p:nvSpPr>
        <p:spPr>
          <a:xfrm>
            <a:off x="1097280" y="5093208"/>
            <a:ext cx="4206240" cy="685800"/>
          </a:xfrm>
          <a:prstGeom prst="rect">
            <a:avLst/>
          </a:prstGeom>
          <a:noFill/>
          <a:ln/>
        </p:spPr>
        <p:txBody>
          <a:bodyPr wrap="square" lIns="0" tIns="0" rIns="0" bIns="0" rtlCol="0" anchor="t"/>
          <a:lstStyle/>
          <a:p>
            <a:pPr indent="0" marL="0">
              <a:buNone/>
            </a:pPr>
            <a:r>
              <a:rPr lang="en-US" sz="1300" dirty="0">
                <a:solidFill>
                  <a:srgbClr val="3C4A57"/>
                </a:solidFill>
              </a:rPr>
              <a:t>CEM: sample around elites, up to 4 rounds (≤256 sims / instance)</a:t>
            </a:r>
            <a:endParaRPr lang="en-US" sz="1300" dirty="0"/>
          </a:p>
        </p:txBody>
      </p:sp>
      <p:pic>
        <p:nvPicPr>
          <p:cNvPr id="19" name="m1_search_overview.png" descr="M1 search overview">    </p:cNvPr>
          <p:cNvPicPr>
            <a:picLocks noChangeAspect="1"/>
          </p:cNvPicPr>
          <p:nvPr/>
        </p:nvPicPr>
        <p:blipFill>
          <a:blip r:embed="rId1"/>
          <a:stretch>
            <a:fillRect/>
          </a:stretch>
        </p:blipFill>
        <p:spPr>
          <a:xfrm>
            <a:off x="5486400" y="1469136"/>
            <a:ext cx="6126480" cy="1633728"/>
          </a:xfrm>
          <a:prstGeom prst="rect">
            <a:avLst/>
          </a:prstGeom>
        </p:spPr>
      </p:pic>
      <p:sp>
        <p:nvSpPr>
          <p:cNvPr id="20" name="lesson"/>
          <p:cNvSpPr/>
          <p:nvPr/>
        </p:nvSpPr>
        <p:spPr>
          <a:xfrm>
            <a:off x="5486400" y="3611880"/>
            <a:ext cx="6126480" cy="2514600"/>
          </a:xfrm>
          <a:prstGeom prst="roundRect">
            <a:avLst>
              <a:gd name="adj" fmla="val 2909"/>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21" name="Text 18"/>
          <p:cNvSpPr txBox="1"/>
          <p:nvPr/>
        </p:nvSpPr>
        <p:spPr>
          <a:xfrm>
            <a:off x="5760720" y="3749040"/>
            <a:ext cx="5669280" cy="365760"/>
          </a:xfrm>
          <a:prstGeom prst="rect">
            <a:avLst/>
          </a:prstGeom>
          <a:noFill/>
          <a:ln/>
        </p:spPr>
        <p:txBody>
          <a:bodyPr wrap="square" lIns="0" tIns="0" rIns="0" bIns="0" rtlCol="0" anchor="t"/>
          <a:lstStyle/>
          <a:p>
            <a:pPr indent="0" marL="0">
              <a:buNone/>
            </a:pPr>
            <a:r>
              <a:rPr lang="en-US" sz="1700" b="1" dirty="0">
                <a:solidFill>
                  <a:srgbClr val="C8553D"/>
                </a:solidFill>
              </a:rPr>
              <a:t>What we learned</a:t>
            </a:r>
            <a:endParaRPr lang="en-US" sz="1700" dirty="0"/>
          </a:p>
        </p:txBody>
      </p:sp>
      <p:sp>
        <p:nvSpPr>
          <p:cNvPr id="22" name="Text 19"/>
          <p:cNvSpPr txBox="1"/>
          <p:nvPr/>
        </p:nvSpPr>
        <p:spPr>
          <a:xfrm>
            <a:off x="5760720" y="4160520"/>
            <a:ext cx="5669280" cy="19202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~70% of pilot failures have a recovery reachable in 50 steps</a:t>
            </a:r>
            <a:endParaRPr lang="en-US" sz="1300" dirty="0"/>
          </a:p>
          <a:p>
            <a:pPr marL="342900" indent="-342900">
              <a:spcAft>
                <a:spcPts val="600"/>
              </a:spcAft>
              <a:buSzPct val="100000"/>
              <a:buChar char="•"/>
            </a:pPr>
            <a:r>
              <a:rPr lang="en-US" sz="1300" dirty="0">
                <a:solidFill>
                  <a:srgbClr val="3C4A57"/>
                </a:solidFill>
              </a:rPr>
              <a:t>the first CEM was broken: averaging different strategies into one Gaussian drops success 11% → 1%</a:t>
            </a:r>
            <a:endParaRPr lang="en-US" sz="1300" dirty="0"/>
          </a:p>
          <a:p>
            <a:pPr marL="342900" indent="-342900">
              <a:spcAft>
                <a:spcPts val="600"/>
              </a:spcAft>
              <a:buSzPct val="100000"/>
              <a:buChar char="•"/>
            </a:pPr>
            <a:r>
              <a:rPr lang="en-US" sz="1300" dirty="0">
                <a:solidFill>
                  <a:srgbClr val="3C4A57"/>
                </a:solidFill>
              </a:rPr>
              <a:t>fix: refine around ONE elite at a time. On hard instances it then solves 68% vs 55% for random at equal budget</a:t>
            </a:r>
            <a:endParaRPr lang="en-US" sz="1300" dirty="0"/>
          </a:p>
          <a:p>
            <a:pPr marL="342900" indent="-342900">
              <a:spcAft>
                <a:spcPts val="600"/>
              </a:spcAft>
              <a:buSzPct val="100000"/>
              <a:buChar char="•"/>
            </a:pPr>
            <a:r>
              <a:rPr lang="en-US" sz="1300" dirty="0">
                <a:solidFill>
                  <a:srgbClr val="3C4A57"/>
                </a:solidFill>
              </a:rPr>
              <a:t>~1/3 of recoveries are trivial (bowl already over plate: just open)</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What the recovery training data looks like</a:t>
            </a:r>
            <a:endParaRPr lang="en-US" sz="3000" dirty="0"/>
          </a:p>
        </p:txBody>
      </p:sp>
      <p:pic>
        <p:nvPicPr>
          <p:cNvPr id="3" name="strip_trivial.png" descr="trivial recovery">    </p:cNvPr>
          <p:cNvPicPr>
            <a:picLocks noChangeAspect="1"/>
          </p:cNvPicPr>
          <p:nvPr/>
        </p:nvPicPr>
        <p:blipFill>
          <a:blip r:embed="rId1"/>
          <a:stretch>
            <a:fillRect/>
          </a:stretch>
        </p:blipFill>
        <p:spPr>
          <a:xfrm>
            <a:off x="548640" y="1209726"/>
            <a:ext cx="2194560" cy="2609747"/>
          </a:xfrm>
          <a:prstGeom prst="rect">
            <a:avLst/>
          </a:prstGeom>
        </p:spPr>
      </p:pic>
      <p:sp>
        <p:nvSpPr>
          <p:cNvPr id="4" name="Text 1"/>
          <p:cNvSpPr txBox="1"/>
          <p:nvPr/>
        </p:nvSpPr>
        <p:spPr>
          <a:xfrm>
            <a:off x="548640" y="3886200"/>
            <a:ext cx="2194560" cy="320040"/>
          </a:xfrm>
          <a:prstGeom prst="rect">
            <a:avLst/>
          </a:prstGeom>
          <a:noFill/>
          <a:ln/>
        </p:spPr>
        <p:txBody>
          <a:bodyPr wrap="square" lIns="0" tIns="0" rIns="0" bIns="0" rtlCol="0" anchor="t"/>
          <a:lstStyle/>
          <a:p>
            <a:pPr indent="0" marL="0">
              <a:buNone/>
            </a:pPr>
            <a:r>
              <a:rPr lang="en-US" sz="1500" b="1" dirty="0">
                <a:solidFill>
                  <a:srgbClr val="23303B"/>
                </a:solidFill>
              </a:rPr>
              <a:t>Trivial</a:t>
            </a:r>
            <a:endParaRPr lang="en-US" sz="1500" dirty="0"/>
          </a:p>
        </p:txBody>
      </p:sp>
      <p:sp>
        <p:nvSpPr>
          <p:cNvPr id="5" name="Text 2"/>
          <p:cNvSpPr txBox="1"/>
          <p:nvPr/>
        </p:nvSpPr>
        <p:spPr>
          <a:xfrm>
            <a:off x="548640" y="4206240"/>
            <a:ext cx="2194560" cy="1188720"/>
          </a:xfrm>
          <a:prstGeom prst="rect">
            <a:avLst/>
          </a:prstGeom>
          <a:noFill/>
          <a:ln/>
        </p:spPr>
        <p:txBody>
          <a:bodyPr wrap="square" lIns="0" tIns="0" rIns="0" bIns="0" rtlCol="0" anchor="t"/>
          <a:lstStyle/>
          <a:p>
            <a:pPr indent="0" marL="0">
              <a:buNone/>
            </a:pPr>
            <a:r>
              <a:rPr lang="en-US" sz="1200" dirty="0">
                <a:solidFill>
                  <a:srgbClr val="3C4A57"/>
                </a:solidFill>
              </a:rPr>
              <a:t>2 steps: release the bowl already above the plate. Removing these HURT RSR (0.254 → 0.220)</a:t>
            </a:r>
            <a:endParaRPr lang="en-US" sz="1200" dirty="0"/>
          </a:p>
        </p:txBody>
      </p:sp>
      <p:pic>
        <p:nvPicPr>
          <p:cNvPr id="6" name="strip_vla_sample.png" descr="vla sample recovery">    </p:cNvPr>
          <p:cNvPicPr>
            <a:picLocks noChangeAspect="1"/>
          </p:cNvPicPr>
          <p:nvPr/>
        </p:nvPicPr>
        <p:blipFill>
          <a:blip r:embed="rId2"/>
          <a:stretch>
            <a:fillRect/>
          </a:stretch>
        </p:blipFill>
        <p:spPr>
          <a:xfrm>
            <a:off x="3017520" y="1204654"/>
            <a:ext cx="8595360" cy="2025532"/>
          </a:xfrm>
          <a:prstGeom prst="rect">
            <a:avLst/>
          </a:prstGeom>
        </p:spPr>
      </p:pic>
      <p:sp>
        <p:nvSpPr>
          <p:cNvPr id="7" name="Text 3"/>
          <p:cNvSpPr txBox="1"/>
          <p:nvPr/>
        </p:nvSpPr>
        <p:spPr>
          <a:xfrm>
            <a:off x="3017520" y="3246120"/>
            <a:ext cx="8595360" cy="274320"/>
          </a:xfrm>
          <a:prstGeom prst="rect">
            <a:avLst/>
          </a:prstGeom>
          <a:noFill/>
          <a:ln/>
        </p:spPr>
        <p:txBody>
          <a:bodyPr wrap="square" lIns="0" tIns="0" rIns="0" bIns="0" rtlCol="0" anchor="t"/>
          <a:lstStyle/>
          <a:p>
            <a:pPr indent="0" marL="0">
              <a:buNone/>
            </a:pPr>
            <a:r>
              <a:rPr lang="en-US" sz="1100" i="1" dirty="0">
                <a:solidFill>
                  <a:srgbClr val="6B7785"/>
                </a:solidFill>
              </a:rPr>
              <a:t>One of 24 SmolVLA samples (different noise) happens to open and back off; continuation succeeds</a:t>
            </a:r>
            <a:endParaRPr lang="en-US" sz="1100" dirty="0"/>
          </a:p>
        </p:txBody>
      </p:sp>
      <p:pic>
        <p:nvPicPr>
          <p:cNvPr id="8" name="strip_cem_bad.png" descr="noisy CEM recovery">    </p:cNvPr>
          <p:cNvPicPr>
            <a:picLocks noChangeAspect="1"/>
          </p:cNvPicPr>
          <p:nvPr/>
        </p:nvPicPr>
        <p:blipFill>
          <a:blip r:embed="rId3"/>
          <a:stretch>
            <a:fillRect/>
          </a:stretch>
        </p:blipFill>
        <p:spPr>
          <a:xfrm>
            <a:off x="3017520" y="3673534"/>
            <a:ext cx="8595360" cy="2025532"/>
          </a:xfrm>
          <a:prstGeom prst="rect">
            <a:avLst/>
          </a:prstGeom>
        </p:spPr>
      </p:pic>
      <p:sp>
        <p:nvSpPr>
          <p:cNvPr id="9" name="Text 4"/>
          <p:cNvSpPr txBox="1"/>
          <p:nvPr/>
        </p:nvSpPr>
        <p:spPr>
          <a:xfrm>
            <a:off x="3017520" y="5715000"/>
            <a:ext cx="8595360" cy="274320"/>
          </a:xfrm>
          <a:prstGeom prst="rect">
            <a:avLst/>
          </a:prstGeom>
          <a:noFill/>
          <a:ln/>
        </p:spPr>
        <p:txBody>
          <a:bodyPr wrap="square" lIns="0" tIns="0" rIns="0" bIns="0" rtlCol="0" anchor="t"/>
          <a:lstStyle/>
          <a:p>
            <a:pPr indent="0" marL="0">
              <a:buNone/>
            </a:pPr>
            <a:r>
              <a:rPr lang="en-US" sz="1100" i="1" dirty="0">
                <a:solidFill>
                  <a:srgbClr val="6B7785"/>
                </a:solidFill>
              </a:rPr>
              <a:t>Old CEM on a hard instance: jerky, gripper chatter (3-4 flips / 50 steps vs 0.9 in demos). Searched segments are 4-6x jerkier than demos</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why random-noise search proves little</a:t>
            </a:r>
            <a:endParaRPr lang="en-US" sz="3000" dirty="0"/>
          </a:p>
        </p:txBody>
      </p:sp>
      <p:pic>
        <p:nvPicPr>
          <p:cNvPr id="3" name="video_m1_cem_bad">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446638" y="1234440"/>
            <a:ext cx="2056164" cy="4754880"/>
          </a:xfrm>
          <a:prstGeom prst="rect">
            <a:avLst/>
          </a:prstGeom>
        </p:spPr>
      </p:pic>
      <p:sp>
        <p:nvSpPr>
          <p:cNvPr id="4" name="Shape 1"/>
          <p:cNvSpPr/>
          <p:nvPr/>
        </p:nvSpPr>
        <p:spPr>
          <a:xfrm>
            <a:off x="548640" y="1280160"/>
            <a:ext cx="1143000" cy="292608"/>
          </a:xfrm>
          <a:prstGeom prst="roundRect">
            <a:avLst>
              <a:gd name="adj" fmla="val 25000"/>
            </a:avLst>
          </a:prstGeom>
          <a:solidFill>
            <a:srgbClr val="C8553D"/>
          </a:solidFill>
          <a:ln w="12700">
            <a:solidFill>
              <a:srgbClr val="C8553D"/>
            </a:solidFill>
            <a:prstDash val="solid"/>
          </a:ln>
        </p:spPr>
      </p:sp>
      <p:sp>
        <p:nvSpPr>
          <p:cNvPr id="5" name="Text 2"/>
          <p:cNvSpPr txBox="1"/>
          <p:nvPr/>
        </p:nvSpPr>
        <p:spPr>
          <a:xfrm>
            <a:off x="548640" y="1280160"/>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VIDEO</a:t>
            </a:r>
            <a:endParaRPr lang="en-US" sz="1100" dirty="0"/>
          </a:p>
        </p:txBody>
      </p:sp>
      <p:sp>
        <p:nvSpPr>
          <p:cNvPr id="6" name="bad"/>
          <p:cNvSpPr/>
          <p:nvPr/>
        </p:nvSpPr>
        <p:spPr>
          <a:xfrm>
            <a:off x="6766560" y="1234440"/>
            <a:ext cx="4846320" cy="4754880"/>
          </a:xfrm>
          <a:prstGeom prst="roundRect">
            <a:avLst>
              <a:gd name="adj" fmla="val 1538"/>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7" name="Text 4"/>
          <p:cNvSpPr txBox="1"/>
          <p:nvPr/>
        </p:nvSpPr>
        <p:spPr>
          <a:xfrm>
            <a:off x="6995160" y="1417320"/>
            <a:ext cx="4389120" cy="365760"/>
          </a:xfrm>
          <a:prstGeom prst="rect">
            <a:avLst/>
          </a:prstGeom>
          <a:noFill/>
          <a:ln/>
        </p:spPr>
        <p:txBody>
          <a:bodyPr wrap="square" lIns="0" tIns="0" rIns="0" bIns="0" rtlCol="0" anchor="t"/>
          <a:lstStyle/>
          <a:p>
            <a:pPr indent="0" marL="0">
              <a:buNone/>
            </a:pPr>
            <a:r>
              <a:rPr lang="en-US" sz="1700" b="1" dirty="0">
                <a:solidFill>
                  <a:srgbClr val="C8553D"/>
                </a:solidFill>
              </a:rPr>
              <a:t>Old CEM on a hard instance</a:t>
            </a:r>
            <a:endParaRPr lang="en-US" sz="1700" dirty="0"/>
          </a:p>
        </p:txBody>
      </p:sp>
      <p:sp>
        <p:nvSpPr>
          <p:cNvPr id="8" name="Text 5"/>
          <p:cNvSpPr txBox="1"/>
          <p:nvPr/>
        </p:nvSpPr>
        <p:spPr>
          <a:xfrm>
            <a:off x="6995160" y="1920240"/>
            <a:ext cx="4389120" cy="3931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arm thrashes, gripper flips open/closed with no effect on the fingers</a:t>
            </a:r>
            <a:endParaRPr lang="en-US" sz="1400" dirty="0"/>
          </a:p>
          <a:p>
            <a:pPr marL="342900" indent="-342900">
              <a:spcAft>
                <a:spcPts val="600"/>
              </a:spcAft>
              <a:buSzPct val="100000"/>
              <a:buChar char="•"/>
            </a:pPr>
            <a:r>
              <a:rPr lang="en-US" sz="1400" dirty="0">
                <a:solidFill>
                  <a:srgbClr val="3C4A57"/>
                </a:solidFill>
              </a:rPr>
              <a:t>it still 'succeeds' afterwards, so it lands in the training set</a:t>
            </a:r>
            <a:endParaRPr lang="en-US" sz="1400" dirty="0"/>
          </a:p>
          <a:p>
            <a:pPr marL="342900" indent="-342900">
              <a:spcAft>
                <a:spcPts val="600"/>
              </a:spcAft>
              <a:buSzPct val="100000"/>
              <a:buChar char="•"/>
            </a:pPr>
            <a:r>
              <a:rPr lang="en-US" sz="1400" dirty="0">
                <a:solidFill>
                  <a:srgbClr val="3C4A57"/>
                </a:solidFill>
              </a:rPr>
              <a:t>4-6× jerkier than demos: a likely reason recovery SFT costs nominal success</a:t>
            </a:r>
            <a:endParaRPr lang="en-US" sz="1400" dirty="0"/>
          </a:p>
          <a:p>
            <a:pPr marL="342900" indent="-342900">
              <a:spcAft>
                <a:spcPts val="600"/>
              </a:spcAft>
              <a:buSzPct val="100000"/>
              <a:buChar char="•"/>
            </a:pPr>
            <a:r>
              <a:rPr lang="en-US" sz="1400" dirty="0">
                <a:solidFill>
                  <a:srgbClr val="3C4A57"/>
                </a:solidFill>
              </a:rPr>
              <a:t>motivates: smoothness cost, elite-local refinement, and scoring by a model of what SmolVLA can finish</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Distilling simulator-verified recoveries works</a:t>
            </a:r>
            <a:endParaRPr lang="en-US" sz="3000" dirty="0"/>
          </a:p>
        </p:txBody>
      </p:sp>
      <p:pic>
        <p:nvPicPr>
          <p:cNvPr id="3" name="m1_policy_results.png" descr="M1 policy results">    </p:cNvPr>
          <p:cNvPicPr>
            <a:picLocks noChangeAspect="1"/>
          </p:cNvPicPr>
          <p:nvPr/>
        </p:nvPicPr>
        <p:blipFill>
          <a:blip r:embed="rId1"/>
          <a:stretch>
            <a:fillRect/>
          </a:stretch>
        </p:blipFill>
        <p:spPr>
          <a:xfrm>
            <a:off x="548640" y="1203960"/>
            <a:ext cx="7589520" cy="2529840"/>
          </a:xfrm>
          <a:prstGeom prst="rect">
            <a:avLst/>
          </a:prstGeom>
        </p:spPr>
      </p:pic>
      <p:graphicFrame>
        <p:nvGraphicFramePr>
          <p:cNvPr id="44" name="Table 0"/>
          <p:cNvGraphicFramePr>
            <a:graphicFrameLocks noGrp="1"/>
          </p:cNvGraphicFramePr>
          <p:nvPr>
            <p:extLst>
              <p:ext uri="{D42A27DB-BD31-4B8C-83A1-F6EECF244321}">
                <p14:modId xmlns:p14="http://schemas.microsoft.com/office/powerpoint/2010/main" val="1579011935"/>
              </p:ext>
            </p:extLst>
          </p:nvPr>
        </p:nvGraphicFramePr>
        <p:xfrm>
          <a:off x="548640" y="3931920"/>
          <a:ext cx="7589520" cy="914400"/>
        </p:xfrm>
        <a:graphic>
          <a:graphicData uri="http://schemas.openxmlformats.org/drawingml/2006/table">
            <a:tbl>
              <a:tblPr/>
              <a:tblGrid>
                <a:gridCol w="2377440"/>
                <a:gridCol w="2103120"/>
                <a:gridCol w="1554480"/>
                <a:gridCol w="1554480"/>
              </a:tblGrid>
              <a:tr h="274320">
                <a:tc>
                  <a:txBody>
                    <a:bodyPr/>
                    <a:lstStyle/>
                    <a:p>
                      <a:pPr indent="0" marL="0">
                        <a:buNone/>
                      </a:pPr>
                      <a:r>
                        <a:rPr lang="en-US" sz="1200" b="1" dirty="0">
                          <a:solidFill>
                            <a:srgbClr val="FFFFFF"/>
                          </a:solidFill>
                        </a:rPr>
                        <a:t>SFT arm</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rPr>
                        <a:t>recovery data</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rPr>
                        <a:t>test RSR</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200" b="1" dirty="0">
                          <a:solidFill>
                            <a:srgbClr val="FFFFFF"/>
                          </a:solidFill>
                        </a:rPr>
                        <a:t>nominal</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r>
              <a:tr h="274320">
                <a:tc>
                  <a:txBody>
                    <a:bodyPr/>
                    <a:lstStyle/>
                    <a:p>
                      <a:pPr indent="0" marL="0">
                        <a:buNone/>
                      </a:pPr>
                      <a:r>
                        <a:rPr lang="en-US" sz="1200" dirty="0">
                          <a:solidFill>
                            <a:srgbClr val="23303B"/>
                          </a:solidFill>
                        </a:rPr>
                        <a:t>pi0</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0.118</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0.656</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23303B"/>
                          </a:solidFill>
                        </a:rPr>
                        <a:t>pi1-nominal (control)</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demos only</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0.138</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0.796</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23303B"/>
                          </a:solidFill>
                        </a:rPr>
                        <a:t>pi1-random</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241 random-search</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0.279</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0.698</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23303B"/>
                          </a:solidFill>
                        </a:rPr>
                        <a:t>pi1-CEM</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241 CEM</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0.286</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0.690</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23303B"/>
                          </a:solidFill>
                        </a:rPr>
                        <a:t>ratio 0.25</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241 random</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0.254</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0.726</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274320">
                <a:tc>
                  <a:txBody>
                    <a:bodyPr/>
                    <a:lstStyle/>
                    <a:p>
                      <a:pPr indent="0" marL="0">
                        <a:buNone/>
                      </a:pPr>
                      <a:r>
                        <a:rPr lang="en-US" sz="1200" dirty="0">
                          <a:solidFill>
                            <a:srgbClr val="23303B"/>
                          </a:solidFill>
                        </a:rPr>
                        <a:t>ratio 0.25, no trivial</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170 random</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0.220</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200" dirty="0">
                          <a:solidFill>
                            <a:srgbClr val="23303B"/>
                          </a:solidFill>
                        </a:rPr>
                        <a:t>0.766</a:t>
                      </a:r>
                      <a:endParaRPr lang="en-US" sz="12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5" name="take"/>
          <p:cNvSpPr/>
          <p:nvPr/>
        </p:nvSpPr>
        <p:spPr>
          <a:xfrm>
            <a:off x="8503920" y="1188720"/>
            <a:ext cx="3108960" cy="4937760"/>
          </a:xfrm>
          <a:prstGeom prst="roundRect">
            <a:avLst>
              <a:gd name="adj" fmla="val 235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6" name="Text 2"/>
          <p:cNvSpPr txBox="1"/>
          <p:nvPr/>
        </p:nvSpPr>
        <p:spPr>
          <a:xfrm>
            <a:off x="8732520" y="1417320"/>
            <a:ext cx="2743200" cy="685800"/>
          </a:xfrm>
          <a:prstGeom prst="rect">
            <a:avLst/>
          </a:prstGeom>
          <a:noFill/>
          <a:ln/>
        </p:spPr>
        <p:txBody>
          <a:bodyPr wrap="square" lIns="0" tIns="0" rIns="0" bIns="0" rtlCol="0" anchor="t"/>
          <a:lstStyle/>
          <a:p>
            <a:pPr indent="0" marL="0">
              <a:buNone/>
            </a:pPr>
            <a:r>
              <a:rPr lang="en-US" sz="4000" b="1" dirty="0">
                <a:solidFill>
                  <a:srgbClr val="2A9D8F"/>
                </a:solidFill>
                <a:latin typeface="Times New Roman" pitchFamily="34" charset="0"/>
                <a:ea typeface="Times New Roman" pitchFamily="34" charset="-122"/>
                <a:cs typeface="Times New Roman" pitchFamily="34" charset="-120"/>
              </a:rPr>
              <a:t>2.4×</a:t>
            </a:r>
            <a:endParaRPr lang="en-US" sz="4000" dirty="0"/>
          </a:p>
        </p:txBody>
      </p:sp>
      <p:sp>
        <p:nvSpPr>
          <p:cNvPr id="7" name="Text 3"/>
          <p:cNvSpPr txBox="1"/>
          <p:nvPr/>
        </p:nvSpPr>
        <p:spPr>
          <a:xfrm>
            <a:off x="8732520" y="2130552"/>
            <a:ext cx="2743200" cy="548640"/>
          </a:xfrm>
          <a:prstGeom prst="rect">
            <a:avLst/>
          </a:prstGeom>
          <a:noFill/>
          <a:ln/>
        </p:spPr>
        <p:txBody>
          <a:bodyPr wrap="square" lIns="0" tIns="0" rIns="0" bIns="0" rtlCol="0" anchor="t"/>
          <a:lstStyle/>
          <a:p>
            <a:pPr indent="0" marL="0">
              <a:buNone/>
            </a:pPr>
            <a:r>
              <a:rPr lang="en-US" sz="1200" dirty="0">
                <a:solidFill>
                  <a:srgbClr val="6B7785"/>
                </a:solidFill>
              </a:rPr>
              <a:t>test RSR vs pi0 (0.118 → 0.28), +14 pts over the fine-tune-only control</a:t>
            </a:r>
            <a:endParaRPr lang="en-US" sz="1200" dirty="0"/>
          </a:p>
        </p:txBody>
      </p:sp>
      <p:sp>
        <p:nvSpPr>
          <p:cNvPr id="8" name="Text 4"/>
          <p:cNvSpPr txBox="1"/>
          <p:nvPr/>
        </p:nvSpPr>
        <p:spPr>
          <a:xfrm>
            <a:off x="8732520" y="3063240"/>
            <a:ext cx="2743200" cy="29260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CEM ≈ random here: the old CEM's useful data all came from its random first round</a:t>
            </a:r>
            <a:endParaRPr lang="en-US" sz="1300" dirty="0"/>
          </a:p>
          <a:p>
            <a:pPr marL="342900" indent="-342900">
              <a:spcAft>
                <a:spcPts val="600"/>
              </a:spcAft>
              <a:buSzPct val="100000"/>
              <a:buChar char="•"/>
            </a:pPr>
            <a:r>
              <a:rPr lang="en-US" sz="1300" dirty="0">
                <a:solidFill>
                  <a:srgbClr val="3C4A57"/>
                </a:solidFill>
              </a:rPr>
              <a:t>cost: nominal 0.80 → 0.70 at a 50% mix. Trade-off set by the ratio</a:t>
            </a:r>
            <a:endParaRPr lang="en-US" sz="1300" dirty="0"/>
          </a:p>
          <a:p>
            <a:pPr marL="342900" indent="-342900">
              <a:spcAft>
                <a:spcPts val="600"/>
              </a:spcAft>
              <a:buSzPct val="100000"/>
              <a:buChar char="•"/>
            </a:pPr>
            <a:r>
              <a:rPr lang="en-US" sz="1300" dirty="0">
                <a:solidFill>
                  <a:srgbClr val="3C4A57"/>
                </a:solidFill>
              </a:rPr>
              <a:t>trivial recoveries are useful supervision</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Replacing the simulator with a world model</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M2: latent world model + competence critic   ·   M3: search in imagination</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Why a world model if we already have a simulator?</a:t>
            </a:r>
            <a:endParaRPr lang="en-US" sz="3000" dirty="0"/>
          </a:p>
        </p:txBody>
      </p:sp>
      <p:sp>
        <p:nvSpPr>
          <p:cNvPr id="3" name="oracle"/>
          <p:cNvSpPr/>
          <p:nvPr/>
        </p:nvSpPr>
        <p:spPr>
          <a:xfrm>
            <a:off x="548640" y="1280160"/>
            <a:ext cx="5303520" cy="4480560"/>
          </a:xfrm>
          <a:prstGeom prst="roundRect">
            <a:avLst>
              <a:gd name="adj" fmla="val 1633"/>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Text 2"/>
          <p:cNvSpPr txBox="1"/>
          <p:nvPr/>
        </p:nvSpPr>
        <p:spPr>
          <a:xfrm>
            <a:off x="822960" y="1463040"/>
            <a:ext cx="4846320" cy="411480"/>
          </a:xfrm>
          <a:prstGeom prst="rect">
            <a:avLst/>
          </a:prstGeom>
          <a:noFill/>
          <a:ln/>
        </p:spPr>
        <p:txBody>
          <a:bodyPr wrap="square" lIns="0" tIns="0" rIns="0" bIns="0" rtlCol="0" anchor="t"/>
          <a:lstStyle/>
          <a:p>
            <a:pPr indent="0" marL="0">
              <a:buNone/>
            </a:pPr>
            <a:r>
              <a:rPr lang="en-US" sz="2000" b="1" dirty="0">
                <a:solidFill>
                  <a:srgbClr val="23303B"/>
                </a:solidFill>
              </a:rPr>
              <a:t>Oracle search (M1)</a:t>
            </a:r>
            <a:endParaRPr lang="en-US" sz="2000" dirty="0"/>
          </a:p>
        </p:txBody>
      </p:sp>
      <p:sp>
        <p:nvSpPr>
          <p:cNvPr id="5" name="Text 3"/>
          <p:cNvSpPr txBox="1"/>
          <p:nvPr/>
        </p:nvSpPr>
        <p:spPr>
          <a:xfrm>
            <a:off x="822960" y="2057400"/>
            <a:ext cx="4846320" cy="3474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3C4A57"/>
                </a:solidFill>
              </a:rPr>
              <a:t>scores a candidate by running it for real</a:t>
            </a:r>
            <a:endParaRPr lang="en-US" sz="1500" dirty="0"/>
          </a:p>
          <a:p>
            <a:pPr marL="342900" indent="-342900">
              <a:spcAft>
                <a:spcPts val="600"/>
              </a:spcAft>
              <a:buSzPct val="100000"/>
              <a:buChar char="•"/>
            </a:pPr>
            <a:r>
              <a:rPr lang="en-US" sz="1500" dirty="0">
                <a:solidFill>
                  <a:srgbClr val="3C4A57"/>
                </a:solidFill>
              </a:rPr>
              <a:t>up to 256 simulator rollouts per failure</a:t>
            </a:r>
            <a:endParaRPr lang="en-US" sz="1500" dirty="0"/>
          </a:p>
          <a:p>
            <a:pPr marL="342900" indent="-342900">
              <a:spcAft>
                <a:spcPts val="600"/>
              </a:spcAft>
              <a:buSzPct val="100000"/>
              <a:buChar char="•"/>
            </a:pPr>
            <a:r>
              <a:rPr lang="en-US" sz="1500" dirty="0">
                <a:solidFill>
                  <a:srgbClr val="3C4A57"/>
                </a:solidFill>
              </a:rPr>
              <a:t>exact, but only exists where a simulator of THIS scene exists</a:t>
            </a:r>
            <a:endParaRPr lang="en-US" sz="1500" dirty="0"/>
          </a:p>
          <a:p>
            <a:pPr marL="342900" indent="-342900">
              <a:spcAft>
                <a:spcPts val="600"/>
              </a:spcAft>
              <a:buSzPct val="100000"/>
              <a:buChar char="•"/>
            </a:pPr>
            <a:r>
              <a:rPr lang="en-US" sz="1500" dirty="0">
                <a:solidFill>
                  <a:srgbClr val="3C4A57"/>
                </a:solidFill>
              </a:rPr>
              <a:t>upper bound on what search can find</a:t>
            </a:r>
            <a:endParaRPr lang="en-US" sz="1500" dirty="0"/>
          </a:p>
        </p:txBody>
      </p:sp>
      <p:sp>
        <p:nvSpPr>
          <p:cNvPr id="6" name="wm"/>
          <p:cNvSpPr/>
          <p:nvPr/>
        </p:nvSpPr>
        <p:spPr>
          <a:xfrm>
            <a:off x="6309360" y="1280160"/>
            <a:ext cx="5303520" cy="4480560"/>
          </a:xfrm>
          <a:prstGeom prst="roundRect">
            <a:avLst>
              <a:gd name="adj" fmla="val 1633"/>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7" name="Text 5"/>
          <p:cNvSpPr txBox="1"/>
          <p:nvPr/>
        </p:nvSpPr>
        <p:spPr>
          <a:xfrm>
            <a:off x="6583680" y="1463040"/>
            <a:ext cx="4846320" cy="411480"/>
          </a:xfrm>
          <a:prstGeom prst="rect">
            <a:avLst/>
          </a:prstGeom>
          <a:noFill/>
          <a:ln/>
        </p:spPr>
        <p:txBody>
          <a:bodyPr wrap="square" lIns="0" tIns="0" rIns="0" bIns="0" rtlCol="0" anchor="t"/>
          <a:lstStyle/>
          <a:p>
            <a:pPr indent="0" marL="0">
              <a:buNone/>
            </a:pPr>
            <a:r>
              <a:rPr lang="en-US" sz="2000" b="1" dirty="0">
                <a:solidFill>
                  <a:srgbClr val="23303B"/>
                </a:solidFill>
              </a:rPr>
              <a:t>World-model search (M3)</a:t>
            </a:r>
            <a:endParaRPr lang="en-US" sz="2000" dirty="0"/>
          </a:p>
        </p:txBody>
      </p:sp>
      <p:sp>
        <p:nvSpPr>
          <p:cNvPr id="8" name="Text 6"/>
          <p:cNvSpPr txBox="1"/>
          <p:nvPr/>
        </p:nvSpPr>
        <p:spPr>
          <a:xfrm>
            <a:off x="6583680" y="2057400"/>
            <a:ext cx="4846320" cy="3474720"/>
          </a:xfrm>
          <a:prstGeom prst="rect">
            <a:avLst/>
          </a:prstGeom>
          <a:noFill/>
          <a:ln/>
        </p:spPr>
        <p:txBody>
          <a:bodyPr wrap="square" lIns="0" tIns="0" rIns="0" bIns="0" rtlCol="0" anchor="t"/>
          <a:lstStyle/>
          <a:p>
            <a:pPr marL="342900" indent="-342900">
              <a:spcAft>
                <a:spcPts val="600"/>
              </a:spcAft>
              <a:buSzPct val="100000"/>
              <a:buChar char="•"/>
            </a:pPr>
            <a:r>
              <a:rPr lang="en-US" sz="1500" dirty="0">
                <a:solidFill>
                  <a:srgbClr val="3C4A57"/>
                </a:solidFill>
              </a:rPr>
              <a:t>scores a candidate by imagining it in latent space</a:t>
            </a:r>
            <a:endParaRPr lang="en-US" sz="1500" dirty="0"/>
          </a:p>
          <a:p>
            <a:pPr marL="342900" indent="-342900">
              <a:spcAft>
                <a:spcPts val="600"/>
              </a:spcAft>
              <a:buSzPct val="100000"/>
              <a:buChar char="•"/>
            </a:pPr>
            <a:r>
              <a:rPr lang="en-US" sz="1500" dirty="0">
                <a:solidFill>
                  <a:srgbClr val="3C4A57"/>
                </a:solidFill>
              </a:rPr>
              <a:t>~800 candidates in a few GPU seconds</a:t>
            </a:r>
            <a:endParaRPr lang="en-US" sz="1500" dirty="0"/>
          </a:p>
          <a:p>
            <a:pPr marL="342900" indent="-342900">
              <a:spcAft>
                <a:spcPts val="600"/>
              </a:spcAft>
              <a:buSzPct val="100000"/>
              <a:buChar char="•"/>
            </a:pPr>
            <a:r>
              <a:rPr lang="en-US" sz="1500" dirty="0">
                <a:solidFill>
                  <a:srgbClr val="3C4A57"/>
                </a:solidFill>
              </a:rPr>
              <a:t>simulator only to verify the top 16 (later: real robot, or none)</a:t>
            </a:r>
            <a:endParaRPr lang="en-US" sz="1500" dirty="0"/>
          </a:p>
          <a:p>
            <a:pPr marL="342900" indent="-342900">
              <a:spcAft>
                <a:spcPts val="600"/>
              </a:spcAft>
              <a:buSzPct val="100000"/>
              <a:buChar char="•"/>
            </a:pPr>
            <a:r>
              <a:rPr lang="en-US" sz="1500" dirty="0">
                <a:solidFill>
                  <a:srgbClr val="3C4A57"/>
                </a:solidFill>
              </a:rPr>
              <a:t>needs: accurate dynamics on failure states + a critic that knows what SmolVLA can finish</a:t>
            </a:r>
            <a:endParaRPr lang="en-US" sz="1500" dirty="0"/>
          </a:p>
        </p:txBody>
      </p:sp>
      <p:sp>
        <p:nvSpPr>
          <p:cNvPr id="9" name="Text 7"/>
          <p:cNvSpPr txBox="1"/>
          <p:nvPr/>
        </p:nvSpPr>
        <p:spPr>
          <a:xfrm>
            <a:off x="548640" y="5897880"/>
            <a:ext cx="11064240" cy="411480"/>
          </a:xfrm>
          <a:prstGeom prst="rect">
            <a:avLst/>
          </a:prstGeom>
          <a:noFill/>
          <a:ln/>
        </p:spPr>
        <p:txBody>
          <a:bodyPr wrap="square" lIns="0" tIns="0" rIns="0" bIns="0" rtlCol="0" anchor="t"/>
          <a:lstStyle/>
          <a:p>
            <a:pPr indent="0" marL="0">
              <a:buNone/>
            </a:pPr>
            <a:r>
              <a:rPr lang="en-US" sz="1400" i="1" dirty="0">
                <a:solidFill>
                  <a:srgbClr val="3C4A57"/>
                </a:solidFill>
              </a:rPr>
              <a:t>Claim to test: at a fixed number of real rollouts, WM-guided search finds more recoveries than proposing at random.</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State = frozen DINOv2 patch tokens + robot state</a:t>
            </a:r>
            <a:endParaRPr lang="en-US" sz="3000" dirty="0"/>
          </a:p>
        </p:txBody>
      </p:sp>
      <p:pic>
        <p:nvPicPr>
          <p:cNvPr id="3" name="dino_tokens.png" descr="DINOv2 tokens PCA">    </p:cNvPr>
          <p:cNvPicPr>
            <a:picLocks noChangeAspect="1"/>
          </p:cNvPicPr>
          <p:nvPr/>
        </p:nvPicPr>
        <p:blipFill>
          <a:blip r:embed="rId1"/>
          <a:stretch>
            <a:fillRect/>
          </a:stretch>
        </p:blipFill>
        <p:spPr>
          <a:xfrm>
            <a:off x="548640" y="1206355"/>
            <a:ext cx="7498080" cy="2570770"/>
          </a:xfrm>
          <a:prstGeom prst="rect">
            <a:avLst/>
          </a:prstGeom>
        </p:spPr>
      </p:pic>
      <p:sp>
        <p:nvSpPr>
          <p:cNvPr id="4" name="Text 1"/>
          <p:cNvSpPr txBox="1"/>
          <p:nvPr/>
        </p:nvSpPr>
        <p:spPr>
          <a:xfrm>
            <a:off x="548640" y="3794760"/>
            <a:ext cx="7498080" cy="274320"/>
          </a:xfrm>
          <a:prstGeom prst="rect">
            <a:avLst/>
          </a:prstGeom>
          <a:noFill/>
          <a:ln/>
        </p:spPr>
        <p:txBody>
          <a:bodyPr wrap="square" lIns="0" tIns="0" rIns="0" bIns="0" rtlCol="0" anchor="t"/>
          <a:lstStyle/>
          <a:p>
            <a:pPr indent="0" marL="0">
              <a:buNone/>
            </a:pPr>
            <a:r>
              <a:rPr lang="en-US" sz="1100" i="1" dirty="0">
                <a:solidFill>
                  <a:srgbClr val="6B7785"/>
                </a:solidFill>
              </a:rPr>
              <a:t>Same drawer failure state. Token colors = first 3 PCA components: bowl, drawer, arm and table separate without any training</a:t>
            </a:r>
            <a:endParaRPr lang="en-US" sz="1100" dirty="0"/>
          </a:p>
        </p:txBody>
      </p:sp>
      <p:sp>
        <p:nvSpPr>
          <p:cNvPr id="5" name="state"/>
          <p:cNvSpPr/>
          <p:nvPr/>
        </p:nvSpPr>
        <p:spPr>
          <a:xfrm>
            <a:off x="8321040" y="1188720"/>
            <a:ext cx="3291840" cy="4937760"/>
          </a:xfrm>
          <a:prstGeom prst="roundRect">
            <a:avLst>
              <a:gd name="adj" fmla="val 2222"/>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6" name="Text 3"/>
          <p:cNvSpPr txBox="1"/>
          <p:nvPr/>
        </p:nvSpPr>
        <p:spPr>
          <a:xfrm>
            <a:off x="8549640" y="1371600"/>
            <a:ext cx="2834640" cy="365760"/>
          </a:xfrm>
          <a:prstGeom prst="rect">
            <a:avLst/>
          </a:prstGeom>
          <a:noFill/>
          <a:ln/>
        </p:spPr>
        <p:txBody>
          <a:bodyPr wrap="square" lIns="0" tIns="0" rIns="0" bIns="0" rtlCol="0" anchor="t"/>
          <a:lstStyle/>
          <a:p>
            <a:pPr indent="0" marL="0">
              <a:buNone/>
            </a:pPr>
            <a:r>
              <a:rPr lang="en-US" sz="1700" b="1" dirty="0">
                <a:solidFill>
                  <a:srgbClr val="23303B"/>
                </a:solidFill>
              </a:rPr>
              <a:t>h_t (per time step)</a:t>
            </a:r>
            <a:endParaRPr lang="en-US" sz="1700" dirty="0"/>
          </a:p>
        </p:txBody>
      </p:sp>
      <p:sp>
        <p:nvSpPr>
          <p:cNvPr id="7" name="Text 4"/>
          <p:cNvSpPr txBox="1"/>
          <p:nvPr/>
        </p:nvSpPr>
        <p:spPr>
          <a:xfrm>
            <a:off x="8549640" y="1828800"/>
            <a:ext cx="2834640" cy="41148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agent cam 6×6 tokens</a:t>
            </a:r>
            <a:endParaRPr lang="en-US" sz="1300" dirty="0"/>
          </a:p>
          <a:p>
            <a:pPr marL="342900" indent="-342900">
              <a:spcAft>
                <a:spcPts val="600"/>
              </a:spcAft>
              <a:buSzPct val="100000"/>
              <a:buChar char="•"/>
            </a:pPr>
            <a:r>
              <a:rPr lang="en-US" sz="1300" dirty="0">
                <a:solidFill>
                  <a:srgbClr val="3C4A57"/>
                </a:solidFill>
              </a:rPr>
              <a:t>wrist cam 6×6 tokens</a:t>
            </a:r>
            <a:endParaRPr lang="en-US" sz="1300" dirty="0"/>
          </a:p>
          <a:p>
            <a:pPr marL="342900" indent="-342900">
              <a:spcAft>
                <a:spcPts val="600"/>
              </a:spcAft>
              <a:buSzPct val="100000"/>
              <a:buChar char="•"/>
            </a:pPr>
            <a:r>
              <a:rPr lang="en-US" sz="1300" dirty="0">
                <a:solidFill>
                  <a:srgbClr val="3C4A57"/>
                </a:solidFill>
              </a:rPr>
              <a:t>robot state q (8-D): eef pos, axis-angle, finger</a:t>
            </a:r>
            <a:endParaRPr lang="en-US" sz="1300" dirty="0"/>
          </a:p>
          <a:p>
            <a:pPr marL="342900" indent="-342900">
              <a:spcAft>
                <a:spcPts val="600"/>
              </a:spcAft>
              <a:buSzPct val="100000"/>
              <a:buChar char="•"/>
            </a:pPr>
            <a:r>
              <a:rPr lang="en-US" sz="1300" dirty="0">
                <a:solidFill>
                  <a:srgbClr val="3C4A57"/>
                </a:solidFill>
              </a:rPr>
              <a:t>= 72 tokens × 384-D + 1 state token</a:t>
            </a:r>
            <a:endParaRPr lang="en-US" sz="1300" dirty="0"/>
          </a:p>
          <a:p>
            <a:pPr marL="342900" indent="-342900">
              <a:spcAft>
                <a:spcPts val="600"/>
              </a:spcAft>
              <a:buSzPct val="100000"/>
              <a:buChar char="•"/>
            </a:pPr>
            <a:r>
              <a:rPr lang="en-US" sz="1300" dirty="0">
                <a:solidFill>
                  <a:srgbClr val="3C4A57"/>
                </a:solidFill>
              </a:rPr>
              <a:t>spatial tokens, not one global vector: L3/L4 failures depend on where things are</a:t>
            </a:r>
            <a:endParaRPr lang="en-US" sz="1300" dirty="0"/>
          </a:p>
        </p:txBody>
      </p:sp>
      <p:sp>
        <p:nvSpPr>
          <p:cNvPr id="8" name="c1"/>
          <p:cNvSpPr/>
          <p:nvPr/>
        </p:nvSpPr>
        <p:spPr>
          <a:xfrm>
            <a:off x="548640" y="4206240"/>
            <a:ext cx="7498080" cy="1920240"/>
          </a:xfrm>
          <a:prstGeom prst="roundRect">
            <a:avLst>
              <a:gd name="adj" fmla="val 3810"/>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9" name="Text 6"/>
          <p:cNvSpPr txBox="1"/>
          <p:nvPr/>
        </p:nvSpPr>
        <p:spPr>
          <a:xfrm>
            <a:off x="777240" y="4343400"/>
            <a:ext cx="7040880" cy="365760"/>
          </a:xfrm>
          <a:prstGeom prst="rect">
            <a:avLst/>
          </a:prstGeom>
          <a:noFill/>
          <a:ln/>
        </p:spPr>
        <p:txBody>
          <a:bodyPr wrap="square" lIns="0" tIns="0" rIns="0" bIns="0" rtlCol="0" anchor="t"/>
          <a:lstStyle/>
          <a:p>
            <a:pPr indent="0" marL="0">
              <a:buNone/>
            </a:pPr>
            <a:r>
              <a:rPr lang="en-US" sz="1600" b="1" dirty="0">
                <a:solidFill>
                  <a:srgbClr val="23303B"/>
                </a:solidFill>
              </a:rPr>
              <a:t>C1 training data for the WM and critic</a:t>
            </a:r>
            <a:endParaRPr lang="en-US" sz="1600" dirty="0"/>
          </a:p>
        </p:txBody>
      </p:sp>
      <p:sp>
        <p:nvSpPr>
          <p:cNvPr id="10" name="Text 7"/>
          <p:cNvSpPr txBox="1"/>
          <p:nvPr/>
        </p:nvSpPr>
        <p:spPr>
          <a:xfrm>
            <a:off x="777240" y="4754880"/>
            <a:ext cx="7040880" cy="13258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144 TRAIN failure instances × 32 candidate segments = 4,608 simulated trajectories</a:t>
            </a:r>
            <a:endParaRPr lang="en-US" sz="1300" dirty="0"/>
          </a:p>
          <a:p>
            <a:pPr marL="342900" indent="-342900">
              <a:spcAft>
                <a:spcPts val="600"/>
              </a:spcAft>
              <a:buSzPct val="100000"/>
              <a:buChar char="•"/>
            </a:pPr>
            <a:r>
              <a:rPr lang="en-US" sz="1300" dirty="0">
                <a:solidFill>
                  <a:srgbClr val="3C4A57"/>
                </a:solidFill>
              </a:rPr>
              <a:t>latents every 5 env steps + the actions + outcome label (did SmolVLA finish afterwards?)</a:t>
            </a:r>
            <a:endParaRPr lang="en-US" sz="1300" dirty="0"/>
          </a:p>
          <a:p>
            <a:pPr marL="342900" indent="-342900">
              <a:spcAft>
                <a:spcPts val="600"/>
              </a:spcAft>
              <a:buSzPct val="100000"/>
              <a:buChar char="•"/>
            </a:pPr>
            <a:r>
              <a:rPr lang="en-US" sz="1300" dirty="0">
                <a:solidFill>
                  <a:srgbClr val="3C4A57"/>
                </a:solidFill>
              </a:rPr>
              <a:t>the failure episodes containing the 53 hard search targets are excluded: those failures stay UNSEEN</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One failure state, two candidates, two labels</a:t>
            </a:r>
            <a:endParaRPr lang="en-US" sz="3000" dirty="0"/>
          </a:p>
        </p:txBody>
      </p:sp>
      <p:pic>
        <p:nvPicPr>
          <p:cNvPr id="3" name="strip_c1_success.png" descr="C1 success sample">    </p:cNvPr>
          <p:cNvPicPr>
            <a:picLocks noChangeAspect="1"/>
          </p:cNvPicPr>
          <p:nvPr/>
        </p:nvPicPr>
        <p:blipFill>
          <a:blip r:embed="rId1"/>
          <a:stretch>
            <a:fillRect/>
          </a:stretch>
        </p:blipFill>
        <p:spPr>
          <a:xfrm>
            <a:off x="2435406" y="1188720"/>
            <a:ext cx="7290707" cy="2148840"/>
          </a:xfrm>
          <a:prstGeom prst="rect">
            <a:avLst/>
          </a:prstGeom>
        </p:spPr>
      </p:pic>
      <p:sp>
        <p:nvSpPr>
          <p:cNvPr id="4" name="Text 1"/>
          <p:cNvSpPr txBox="1"/>
          <p:nvPr/>
        </p:nvSpPr>
        <p:spPr>
          <a:xfrm>
            <a:off x="548640" y="3337560"/>
            <a:ext cx="11064240" cy="274320"/>
          </a:xfrm>
          <a:prstGeom prst="rect">
            <a:avLst/>
          </a:prstGeom>
          <a:noFill/>
          <a:ln/>
        </p:spPr>
        <p:txBody>
          <a:bodyPr wrap="square" lIns="0" tIns="0" rIns="0" bIns="0" rtlCol="0" anchor="t"/>
          <a:lstStyle/>
          <a:p>
            <a:pPr indent="0" marL="0">
              <a:buNone/>
            </a:pPr>
            <a:r>
              <a:rPr lang="en-US" sz="1100" i="1" dirty="0">
                <a:solidFill>
                  <a:srgbClr val="6B7785"/>
                </a:solidFill>
              </a:rPr>
              <a:t>Label 1: opens at t=21 and lifts. The bowl stays on the plate and SmolVLA finishes</a:t>
            </a:r>
            <a:endParaRPr lang="en-US" sz="1100" dirty="0"/>
          </a:p>
        </p:txBody>
      </p:sp>
      <p:pic>
        <p:nvPicPr>
          <p:cNvPr id="5" name="strip_c1_fail.png" descr="C1 failure sample">    </p:cNvPr>
          <p:cNvPicPr>
            <a:picLocks noChangeAspect="1"/>
          </p:cNvPicPr>
          <p:nvPr/>
        </p:nvPicPr>
        <p:blipFill>
          <a:blip r:embed="rId2"/>
          <a:stretch>
            <a:fillRect/>
          </a:stretch>
        </p:blipFill>
        <p:spPr>
          <a:xfrm>
            <a:off x="2435406" y="3703320"/>
            <a:ext cx="7290707" cy="2148840"/>
          </a:xfrm>
          <a:prstGeom prst="rect">
            <a:avLst/>
          </a:prstGeom>
        </p:spPr>
      </p:pic>
      <p:sp>
        <p:nvSpPr>
          <p:cNvPr id="6" name="Text 2"/>
          <p:cNvSpPr txBox="1"/>
          <p:nvPr/>
        </p:nvSpPr>
        <p:spPr>
          <a:xfrm>
            <a:off x="548640" y="5852160"/>
            <a:ext cx="11064240" cy="274320"/>
          </a:xfrm>
          <a:prstGeom prst="rect">
            <a:avLst/>
          </a:prstGeom>
          <a:noFill/>
          <a:ln/>
        </p:spPr>
        <p:txBody>
          <a:bodyPr wrap="square" lIns="0" tIns="0" rIns="0" bIns="0" rtlCol="0" anchor="t"/>
          <a:lstStyle/>
          <a:p>
            <a:pPr indent="0" marL="0">
              <a:buNone/>
            </a:pPr>
            <a:r>
              <a:rPr lang="en-US" sz="1100" i="1" dirty="0">
                <a:solidFill>
                  <a:srgbClr val="6B7785"/>
                </a:solidFill>
              </a:rPr>
              <a:t>Label 0: also opens, but drags the bowl off the plate (t≥35), so SmolVLA cannot finish. The critic must tell these apart from latents alone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WM data, same state, opposite labels</a:t>
            </a:r>
            <a:endParaRPr lang="en-US" sz="3000" dirty="0"/>
          </a:p>
        </p:txBody>
      </p:sp>
      <p:pic>
        <p:nvPicPr>
          <p:cNvPr id="3" name="video_c1_pai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37995" y="1188720"/>
            <a:ext cx="4170729" cy="4937760"/>
          </a:xfrm>
          <a:prstGeom prst="rect">
            <a:avLst/>
          </a:prstGeom>
        </p:spPr>
      </p:pic>
      <p:sp>
        <p:nvSpPr>
          <p:cNvPr id="4" name="c1v"/>
          <p:cNvSpPr/>
          <p:nvPr/>
        </p:nvSpPr>
        <p:spPr>
          <a:xfrm>
            <a:off x="7863840" y="1188720"/>
            <a:ext cx="3749040" cy="4937760"/>
          </a:xfrm>
          <a:prstGeom prst="roundRect">
            <a:avLst>
              <a:gd name="adj" fmla="val 195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8092440" y="1371600"/>
            <a:ext cx="3291840" cy="685800"/>
          </a:xfrm>
          <a:prstGeom prst="rect">
            <a:avLst/>
          </a:prstGeom>
          <a:noFill/>
          <a:ln/>
        </p:spPr>
        <p:txBody>
          <a:bodyPr wrap="square" lIns="0" tIns="0" rIns="0" bIns="0" rtlCol="0" anchor="t"/>
          <a:lstStyle/>
          <a:p>
            <a:pPr indent="0" marL="0">
              <a:buNone/>
            </a:pPr>
            <a:r>
              <a:rPr lang="en-US" sz="1600" b="1" dirty="0">
                <a:solidFill>
                  <a:srgbClr val="23303B"/>
                </a:solidFill>
              </a:rPr>
              <a:t>Same failure state, two candidate segments</a:t>
            </a:r>
            <a:endParaRPr lang="en-US" sz="1600" dirty="0"/>
          </a:p>
        </p:txBody>
      </p:sp>
      <p:sp>
        <p:nvSpPr>
          <p:cNvPr id="6" name="Text 3"/>
          <p:cNvSpPr txBox="1"/>
          <p:nvPr/>
        </p:nvSpPr>
        <p:spPr>
          <a:xfrm>
            <a:off x="8092440" y="2194560"/>
            <a:ext cx="3291840"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left: opens and lifts, bowl stays on the plate, so SmolVLA can finish (label 1)</a:t>
            </a:r>
            <a:endParaRPr lang="en-US" sz="1300" dirty="0"/>
          </a:p>
          <a:p>
            <a:pPr marL="342900" indent="-342900">
              <a:spcAft>
                <a:spcPts val="600"/>
              </a:spcAft>
              <a:buSzPct val="100000"/>
              <a:buChar char="•"/>
            </a:pPr>
            <a:r>
              <a:rPr lang="en-US" sz="1300" dirty="0">
                <a:solidFill>
                  <a:srgbClr val="3C4A57"/>
                </a:solidFill>
              </a:rPr>
              <a:t>right: opens but drags the bowl off the plate, so SmolVLA cannot (label 0)</a:t>
            </a:r>
            <a:endParaRPr lang="en-US" sz="1300" dirty="0"/>
          </a:p>
          <a:p>
            <a:pPr marL="342900" indent="-342900">
              <a:spcAft>
                <a:spcPts val="600"/>
              </a:spcAft>
              <a:buSzPct val="100000"/>
              <a:buChar char="•"/>
            </a:pPr>
            <a:r>
              <a:rPr lang="en-US" sz="1300" dirty="0">
                <a:solidFill>
                  <a:srgbClr val="3C4A57"/>
                </a:solidFill>
              </a:rPr>
              <a:t>4,608 such segments teach the WM how latents move and the critic which end states are recoverable</a:t>
            </a:r>
            <a:endParaRPr lang="en-US" sz="1300" dirty="0"/>
          </a:p>
          <a:p>
            <a:pPr marL="342900" indent="-342900">
              <a:spcAft>
                <a:spcPts val="600"/>
              </a:spcAft>
              <a:buSzPct val="100000"/>
              <a:buChar char="•"/>
            </a:pPr>
            <a:r>
              <a:rPr lang="en-US" sz="1300" dirty="0">
                <a:solidFill>
                  <a:srgbClr val="3C4A57"/>
                </a:solidFill>
              </a:rPr>
              <a:t>replayed from the stored actions: bit-exact</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M2: latent dynamics h(t+1) = h(t) + F(h(t), 5 actions)</a:t>
            </a:r>
            <a:endParaRPr lang="en-US" sz="3000" dirty="0"/>
          </a:p>
        </p:txBody>
      </p:sp>
      <p:sp>
        <p:nvSpPr>
          <p:cNvPr id="3" name="arch0"/>
          <p:cNvSpPr/>
          <p:nvPr/>
        </p:nvSpPr>
        <p:spPr>
          <a:xfrm>
            <a:off x="548640" y="1325880"/>
            <a:ext cx="1600200" cy="1554480"/>
          </a:xfrm>
          <a:prstGeom prst="roundRect">
            <a:avLst>
              <a:gd name="adj" fmla="val 4706"/>
            </a:avLst>
          </a:prstGeom>
          <a:solidFill>
            <a:srgbClr val="3C4A57"/>
          </a:solidFill>
          <a:ln w="12700">
            <a:solidFill>
              <a:srgbClr val="3C4A57"/>
            </a:solidFill>
            <a:prstDash val="solid"/>
          </a:ln>
          <a:effectLst>
            <a:outerShdw sx="100000" sy="100000" kx="0" ky="0" algn="bl" rotWithShape="0" blurRad="76200" dist="25400" dir="5400000">
              <a:srgbClr val="23303B">
                <a:alpha val="12000"/>
              </a:srgbClr>
            </a:outerShdw>
          </a:effectLst>
        </p:spPr>
      </p:sp>
      <p:sp>
        <p:nvSpPr>
          <p:cNvPr id="4" name="Text 2"/>
          <p:cNvSpPr txBox="1"/>
          <p:nvPr/>
        </p:nvSpPr>
        <p:spPr>
          <a:xfrm>
            <a:off x="685800" y="1463040"/>
            <a:ext cx="1325880" cy="411480"/>
          </a:xfrm>
          <a:prstGeom prst="rect">
            <a:avLst/>
          </a:prstGeom>
          <a:noFill/>
          <a:ln/>
        </p:spPr>
        <p:txBody>
          <a:bodyPr wrap="square" lIns="0" tIns="0" rIns="0" bIns="0" rtlCol="0" anchor="t"/>
          <a:lstStyle/>
          <a:p>
            <a:pPr indent="0" marL="0">
              <a:buNone/>
            </a:pPr>
            <a:r>
              <a:rPr lang="en-US" sz="1500" b="1" dirty="0">
                <a:solidFill>
                  <a:srgbClr val="FFFFFF"/>
                </a:solidFill>
              </a:rPr>
              <a:t>h_t</a:t>
            </a:r>
            <a:endParaRPr lang="en-US" sz="1500" dirty="0"/>
          </a:p>
        </p:txBody>
      </p:sp>
      <p:sp>
        <p:nvSpPr>
          <p:cNvPr id="5" name="Text 3"/>
          <p:cNvSpPr txBox="1"/>
          <p:nvPr/>
        </p:nvSpPr>
        <p:spPr>
          <a:xfrm>
            <a:off x="685800" y="1920240"/>
            <a:ext cx="1325880" cy="914400"/>
          </a:xfrm>
          <a:prstGeom prst="rect">
            <a:avLst/>
          </a:prstGeom>
          <a:noFill/>
          <a:ln/>
        </p:spPr>
        <p:txBody>
          <a:bodyPr wrap="square" lIns="0" tIns="0" rIns="0" bIns="0" rtlCol="0" anchor="t"/>
          <a:lstStyle/>
          <a:p>
            <a:pPr indent="0" marL="0">
              <a:buNone/>
            </a:pPr>
            <a:r>
              <a:rPr lang="en-US" sz="1100" dirty="0">
                <a:solidFill>
                  <a:srgbClr val="E8ECEF"/>
                </a:solidFill>
              </a:rPr>
              <a:t>72 patch + 1 state token</a:t>
            </a:r>
            <a:endParaRPr lang="en-US" sz="1100" dirty="0"/>
          </a:p>
        </p:txBody>
      </p:sp>
      <p:sp>
        <p:nvSpPr>
          <p:cNvPr id="6" name="arch1"/>
          <p:cNvSpPr/>
          <p:nvPr/>
        </p:nvSpPr>
        <p:spPr>
          <a:xfrm>
            <a:off x="2331720" y="1325880"/>
            <a:ext cx="1600200" cy="1554480"/>
          </a:xfrm>
          <a:prstGeom prst="roundRect">
            <a:avLst>
              <a:gd name="adj" fmla="val 4706"/>
            </a:avLst>
          </a:prstGeom>
          <a:solidFill>
            <a:srgbClr val="E8962E"/>
          </a:solidFill>
          <a:ln w="12700">
            <a:solidFill>
              <a:srgbClr val="E8962E"/>
            </a:solidFill>
            <a:prstDash val="solid"/>
          </a:ln>
          <a:effectLst>
            <a:outerShdw sx="100000" sy="100000" kx="0" ky="0" algn="bl" rotWithShape="0" blurRad="76200" dist="25400" dir="5400000">
              <a:srgbClr val="23303B">
                <a:alpha val="12000"/>
              </a:srgbClr>
            </a:outerShdw>
          </a:effectLst>
        </p:spPr>
      </p:sp>
      <p:sp>
        <p:nvSpPr>
          <p:cNvPr id="7" name="Text 5"/>
          <p:cNvSpPr txBox="1"/>
          <p:nvPr/>
        </p:nvSpPr>
        <p:spPr>
          <a:xfrm>
            <a:off x="2468880" y="1463040"/>
            <a:ext cx="1325880" cy="411480"/>
          </a:xfrm>
          <a:prstGeom prst="rect">
            <a:avLst/>
          </a:prstGeom>
          <a:noFill/>
          <a:ln/>
        </p:spPr>
        <p:txBody>
          <a:bodyPr wrap="square" lIns="0" tIns="0" rIns="0" bIns="0" rtlCol="0" anchor="t"/>
          <a:lstStyle/>
          <a:p>
            <a:pPr indent="0" marL="0">
              <a:buNone/>
            </a:pPr>
            <a:r>
              <a:rPr lang="en-US" sz="1500" b="1" dirty="0">
                <a:solidFill>
                  <a:srgbClr val="FFFFFF"/>
                </a:solidFill>
              </a:rPr>
              <a:t>+ action token</a:t>
            </a:r>
            <a:endParaRPr lang="en-US" sz="1500" dirty="0"/>
          </a:p>
        </p:txBody>
      </p:sp>
      <p:sp>
        <p:nvSpPr>
          <p:cNvPr id="8" name="Text 6"/>
          <p:cNvSpPr txBox="1"/>
          <p:nvPr/>
        </p:nvSpPr>
        <p:spPr>
          <a:xfrm>
            <a:off x="2468880" y="1920240"/>
            <a:ext cx="1325880" cy="914400"/>
          </a:xfrm>
          <a:prstGeom prst="rect">
            <a:avLst/>
          </a:prstGeom>
          <a:noFill/>
          <a:ln/>
        </p:spPr>
        <p:txBody>
          <a:bodyPr wrap="square" lIns="0" tIns="0" rIns="0" bIns="0" rtlCol="0" anchor="t"/>
          <a:lstStyle/>
          <a:p>
            <a:pPr indent="0" marL="0">
              <a:buNone/>
            </a:pPr>
            <a:r>
              <a:rPr lang="en-US" sz="1100" dirty="0">
                <a:solidFill>
                  <a:srgbClr val="E8ECEF"/>
                </a:solidFill>
              </a:rPr>
              <a:t>MLP(5 × 7-D actions)</a:t>
            </a:r>
            <a:endParaRPr lang="en-US" sz="1100" dirty="0"/>
          </a:p>
        </p:txBody>
      </p:sp>
      <p:sp>
        <p:nvSpPr>
          <p:cNvPr id="9" name="arch2"/>
          <p:cNvSpPr/>
          <p:nvPr/>
        </p:nvSpPr>
        <p:spPr>
          <a:xfrm>
            <a:off x="4114800" y="1325880"/>
            <a:ext cx="1600200" cy="1554480"/>
          </a:xfrm>
          <a:prstGeom prst="roundRect">
            <a:avLst>
              <a:gd name="adj" fmla="val 4706"/>
            </a:avLst>
          </a:prstGeom>
          <a:solidFill>
            <a:srgbClr val="23303B"/>
          </a:solidFill>
          <a:ln w="12700">
            <a:solidFill>
              <a:srgbClr val="23303B"/>
            </a:solidFill>
            <a:prstDash val="solid"/>
          </a:ln>
          <a:effectLst>
            <a:outerShdw sx="100000" sy="100000" kx="0" ky="0" algn="bl" rotWithShape="0" blurRad="76200" dist="25400" dir="5400000">
              <a:srgbClr val="23303B">
                <a:alpha val="12000"/>
              </a:srgbClr>
            </a:outerShdw>
          </a:effectLst>
        </p:spPr>
      </p:sp>
      <p:sp>
        <p:nvSpPr>
          <p:cNvPr id="10" name="Text 8"/>
          <p:cNvSpPr txBox="1"/>
          <p:nvPr/>
        </p:nvSpPr>
        <p:spPr>
          <a:xfrm>
            <a:off x="4251960" y="1463040"/>
            <a:ext cx="1325880" cy="411480"/>
          </a:xfrm>
          <a:prstGeom prst="rect">
            <a:avLst/>
          </a:prstGeom>
          <a:noFill/>
          <a:ln/>
        </p:spPr>
        <p:txBody>
          <a:bodyPr wrap="square" lIns="0" tIns="0" rIns="0" bIns="0" rtlCol="0" anchor="t"/>
          <a:lstStyle/>
          <a:p>
            <a:pPr indent="0" marL="0">
              <a:buNone/>
            </a:pPr>
            <a:r>
              <a:rPr lang="en-US" sz="1500" b="1" dirty="0">
                <a:solidFill>
                  <a:srgbClr val="FFFFFF"/>
                </a:solidFill>
              </a:rPr>
              <a:t>Transformer</a:t>
            </a:r>
            <a:endParaRPr lang="en-US" sz="1500" dirty="0"/>
          </a:p>
        </p:txBody>
      </p:sp>
      <p:sp>
        <p:nvSpPr>
          <p:cNvPr id="11" name="Text 9"/>
          <p:cNvSpPr txBox="1"/>
          <p:nvPr/>
        </p:nvSpPr>
        <p:spPr>
          <a:xfrm>
            <a:off x="4251960" y="1920240"/>
            <a:ext cx="1325880" cy="914400"/>
          </a:xfrm>
          <a:prstGeom prst="rect">
            <a:avLst/>
          </a:prstGeom>
          <a:noFill/>
          <a:ln/>
        </p:spPr>
        <p:txBody>
          <a:bodyPr wrap="square" lIns="0" tIns="0" rIns="0" bIns="0" rtlCol="0" anchor="t"/>
          <a:lstStyle/>
          <a:p>
            <a:pPr indent="0" marL="0">
              <a:buNone/>
            </a:pPr>
            <a:r>
              <a:rPr lang="en-US" sz="1100" dirty="0">
                <a:solidFill>
                  <a:srgbClr val="E8ECEF"/>
                </a:solidFill>
              </a:rPr>
              <a:t>6 layers, width 384</a:t>
            </a:r>
            <a:endParaRPr lang="en-US" sz="1100" dirty="0"/>
          </a:p>
        </p:txBody>
      </p:sp>
      <p:sp>
        <p:nvSpPr>
          <p:cNvPr id="12" name="arch3"/>
          <p:cNvSpPr/>
          <p:nvPr/>
        </p:nvSpPr>
        <p:spPr>
          <a:xfrm>
            <a:off x="5897880" y="1325880"/>
            <a:ext cx="1600200" cy="1554480"/>
          </a:xfrm>
          <a:prstGeom prst="roundRect">
            <a:avLst>
              <a:gd name="adj" fmla="val 4706"/>
            </a:avLst>
          </a:prstGeom>
          <a:solidFill>
            <a:srgbClr val="1F8FE5"/>
          </a:solidFill>
          <a:ln w="12700">
            <a:solidFill>
              <a:srgbClr val="1F8FE5"/>
            </a:solidFill>
            <a:prstDash val="solid"/>
          </a:ln>
          <a:effectLst>
            <a:outerShdw sx="100000" sy="100000" kx="0" ky="0" algn="bl" rotWithShape="0" blurRad="76200" dist="25400" dir="5400000">
              <a:srgbClr val="23303B">
                <a:alpha val="12000"/>
              </a:srgbClr>
            </a:outerShdw>
          </a:effectLst>
        </p:spPr>
      </p:sp>
      <p:sp>
        <p:nvSpPr>
          <p:cNvPr id="13" name="Text 11"/>
          <p:cNvSpPr txBox="1"/>
          <p:nvPr/>
        </p:nvSpPr>
        <p:spPr>
          <a:xfrm>
            <a:off x="6035040" y="1463040"/>
            <a:ext cx="1325880" cy="411480"/>
          </a:xfrm>
          <a:prstGeom prst="rect">
            <a:avLst/>
          </a:prstGeom>
          <a:noFill/>
          <a:ln/>
        </p:spPr>
        <p:txBody>
          <a:bodyPr wrap="square" lIns="0" tIns="0" rIns="0" bIns="0" rtlCol="0" anchor="t"/>
          <a:lstStyle/>
          <a:p>
            <a:pPr indent="0" marL="0">
              <a:buNone/>
            </a:pPr>
            <a:r>
              <a:rPr lang="en-US" sz="1500" b="1" dirty="0">
                <a:solidFill>
                  <a:srgbClr val="FFFFFF"/>
                </a:solidFill>
              </a:rPr>
              <a:t>4 heads</a:t>
            </a:r>
            <a:endParaRPr lang="en-US" sz="1500" dirty="0"/>
          </a:p>
        </p:txBody>
      </p:sp>
      <p:sp>
        <p:nvSpPr>
          <p:cNvPr id="14" name="Text 12"/>
          <p:cNvSpPr txBox="1"/>
          <p:nvPr/>
        </p:nvSpPr>
        <p:spPr>
          <a:xfrm>
            <a:off x="6035040" y="1920240"/>
            <a:ext cx="1325880" cy="914400"/>
          </a:xfrm>
          <a:prstGeom prst="rect">
            <a:avLst/>
          </a:prstGeom>
          <a:noFill/>
          <a:ln/>
        </p:spPr>
        <p:txBody>
          <a:bodyPr wrap="square" lIns="0" tIns="0" rIns="0" bIns="0" rtlCol="0" anchor="t"/>
          <a:lstStyle/>
          <a:p>
            <a:pPr indent="0" marL="0">
              <a:buNone/>
            </a:pPr>
            <a:r>
              <a:rPr lang="en-US" sz="1100" dirty="0">
                <a:solidFill>
                  <a:srgbClr val="E8ECEF"/>
                </a:solidFill>
              </a:rPr>
              <a:t>ensemble Δh: mean = prediction, spread = uncertainty</a:t>
            </a:r>
            <a:endParaRPr lang="en-US" sz="1100" dirty="0"/>
          </a:p>
        </p:txBody>
      </p:sp>
      <p:sp>
        <p:nvSpPr>
          <p:cNvPr id="15" name="Text 13"/>
          <p:cNvSpPr txBox="1"/>
          <p:nvPr/>
        </p:nvSpPr>
        <p:spPr>
          <a:xfrm>
            <a:off x="548640" y="3108960"/>
            <a:ext cx="6949440" cy="8229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loss = 1-step teacher-forced + 10-step open-loop rollout (search needs 50-step imagination)</a:t>
            </a:r>
            <a:endParaRPr lang="en-US" sz="1300" dirty="0"/>
          </a:p>
          <a:p>
            <a:pPr marL="342900" indent="-342900">
              <a:spcAft>
                <a:spcPts val="600"/>
              </a:spcAft>
              <a:buSzPct val="100000"/>
              <a:buChar char="•"/>
            </a:pPr>
            <a:r>
              <a:rPr lang="en-US" sz="1300" dirty="0">
                <a:solidFill>
                  <a:srgbClr val="3C4A57"/>
                </a:solidFill>
              </a:rPr>
              <a:t>11.6M params, 20k steps, ~1.5 h on one A100</a:t>
            </a:r>
            <a:endParaRPr lang="en-US" sz="1300" dirty="0"/>
          </a:p>
        </p:txBody>
      </p:sp>
      <p:pic>
        <p:nvPicPr>
          <p:cNvPr id="16" name="wm_horizon.png" descr="WM error vs horizon">    </p:cNvPr>
          <p:cNvPicPr>
            <a:picLocks noChangeAspect="1"/>
          </p:cNvPicPr>
          <p:nvPr/>
        </p:nvPicPr>
        <p:blipFill>
          <a:blip r:embed="rId1"/>
          <a:stretch>
            <a:fillRect/>
          </a:stretch>
        </p:blipFill>
        <p:spPr>
          <a:xfrm>
            <a:off x="7680960" y="1320981"/>
            <a:ext cx="3931920" cy="2387237"/>
          </a:xfrm>
          <a:prstGeom prst="rect">
            <a:avLst/>
          </a:prstGeom>
        </p:spPr>
      </p:pic>
      <p:pic>
        <p:nvPicPr>
          <p:cNvPr id="17" name="wm_imagination.png" descr="imagined vs real gripper height">    </p:cNvPr>
          <p:cNvPicPr>
            <a:picLocks noChangeAspect="1"/>
          </p:cNvPicPr>
          <p:nvPr/>
        </p:nvPicPr>
        <p:blipFill>
          <a:blip r:embed="rId2"/>
          <a:stretch>
            <a:fillRect/>
          </a:stretch>
        </p:blipFill>
        <p:spPr>
          <a:xfrm>
            <a:off x="2028305" y="3977640"/>
            <a:ext cx="8104909" cy="2057400"/>
          </a:xfrm>
          <a:prstGeom prst="rect">
            <a:avLst/>
          </a:prstGeom>
        </p:spPr>
      </p:pic>
      <p:sp>
        <p:nvSpPr>
          <p:cNvPr id="18" name="Text 14"/>
          <p:cNvSpPr txBox="1"/>
          <p:nvPr/>
        </p:nvSpPr>
        <p:spPr>
          <a:xfrm>
            <a:off x="548640" y="6035040"/>
            <a:ext cx="11064240" cy="274320"/>
          </a:xfrm>
          <a:prstGeom prst="rect">
            <a:avLst/>
          </a:prstGeom>
          <a:noFill/>
          <a:ln/>
        </p:spPr>
        <p:txBody>
          <a:bodyPr wrap="square" lIns="0" tIns="0" rIns="0" bIns="0" rtlCol="0" anchor="t"/>
          <a:lstStyle/>
          <a:p>
            <a:pPr indent="0" marL="0">
              <a:buNone/>
            </a:pPr>
            <a:r>
              <a:rPr lang="en-US" sz="1100" i="1" dirty="0">
                <a:solidFill>
                  <a:srgbClr val="6B7785"/>
                </a:solidFill>
              </a:rPr>
              <a:t>Held-out failures: gripper height, real (black) vs imagined from the start frame + actions only (amber). Error is 0.36-0.63× the copy-last-frame baseline</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M2: the competence critic V(z, q, task)</a:t>
            </a:r>
            <a:endParaRPr lang="en-US" sz="3000" dirty="0"/>
          </a:p>
        </p:txBody>
      </p:sp>
      <p:sp>
        <p:nvSpPr>
          <p:cNvPr id="3" name="q"/>
          <p:cNvSpPr/>
          <p:nvPr/>
        </p:nvSpPr>
        <p:spPr>
          <a:xfrm>
            <a:off x="548640" y="1280160"/>
            <a:ext cx="5486400" cy="1188720"/>
          </a:xfrm>
          <a:prstGeom prst="roundRect">
            <a:avLst>
              <a:gd name="adj" fmla="val 6154"/>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4" name="Text 2"/>
          <p:cNvSpPr txBox="1"/>
          <p:nvPr/>
        </p:nvSpPr>
        <p:spPr>
          <a:xfrm>
            <a:off x="777240" y="1417320"/>
            <a:ext cx="5029200" cy="914400"/>
          </a:xfrm>
          <a:prstGeom prst="rect">
            <a:avLst/>
          </a:prstGeom>
          <a:noFill/>
          <a:ln/>
        </p:spPr>
        <p:txBody>
          <a:bodyPr wrap="square" lIns="0" tIns="0" rIns="0" bIns="0" rtlCol="0" anchor="t"/>
          <a:lstStyle/>
          <a:p>
            <a:pPr indent="0" marL="0">
              <a:buNone/>
            </a:pPr>
            <a:r>
              <a:rPr lang="en-US" sz="1700" i="1" dirty="0">
                <a:solidFill>
                  <a:srgbClr val="23303B"/>
                </a:solidFill>
                <a:latin typeface="Times New Roman" pitchFamily="34" charset="0"/>
                <a:ea typeface="Times New Roman" pitchFamily="34" charset="-122"/>
                <a:cs typeface="Times New Roman" pitchFamily="34" charset="-120"/>
              </a:rPr>
              <a:t>“From this (possibly imagined) state, will frozen SmolVLA finish the task?”</a:t>
            </a:r>
            <a:endParaRPr lang="en-US" sz="1700" dirty="0"/>
          </a:p>
        </p:txBody>
      </p:sp>
      <p:sp>
        <p:nvSpPr>
          <p:cNvPr id="5" name="Text 3"/>
          <p:cNvSpPr txBox="1"/>
          <p:nvPr/>
        </p:nvSpPr>
        <p:spPr>
          <a:xfrm>
            <a:off x="548640" y="2697480"/>
            <a:ext cx="5486400" cy="329184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small transformer over the same tokens + learned task embedding</a:t>
            </a:r>
            <a:endParaRPr lang="en-US" sz="1400" dirty="0"/>
          </a:p>
          <a:p>
            <a:pPr marL="342900" indent="-342900">
              <a:spcAft>
                <a:spcPts val="600"/>
              </a:spcAft>
              <a:buSzPct val="100000"/>
              <a:buChar char="•"/>
            </a:pPr>
            <a:r>
              <a:rPr lang="en-US" sz="1400" dirty="0">
                <a:solidFill>
                  <a:srgbClr val="3C4A57"/>
                </a:solidFill>
              </a:rPr>
              <a:t>trained on real AND WM-imagined end states (50/50), so it is calibrated for what search feeds it</a:t>
            </a:r>
            <a:endParaRPr lang="en-US" sz="1400" dirty="0"/>
          </a:p>
          <a:p>
            <a:pPr marL="342900" indent="-342900">
              <a:spcAft>
                <a:spcPts val="600"/>
              </a:spcAft>
              <a:buSzPct val="100000"/>
              <a:buChar char="•"/>
            </a:pPr>
            <a:r>
              <a:rPr lang="en-US" sz="1400" dirty="0">
                <a:solidFill>
                  <a:srgbClr val="3C4A57"/>
                </a:solidFill>
              </a:rPr>
              <a:t>competence-targeted: lifting out of a drawer scores high even though the bowl gets no closer to the plate</a:t>
            </a:r>
            <a:endParaRPr lang="en-US" sz="1400" dirty="0"/>
          </a:p>
          <a:p>
            <a:pPr marL="342900" indent="-342900">
              <a:spcAft>
                <a:spcPts val="600"/>
              </a:spcAft>
              <a:buSzPct val="100000"/>
              <a:buChar char="•"/>
            </a:pPr>
            <a:r>
              <a:rPr lang="en-US" sz="1400" dirty="0">
                <a:solidFill>
                  <a:srgbClr val="3C4A57"/>
                </a:solidFill>
              </a:rPr>
              <a:t>held-out AUC 0.71 real / 0.67 imagined; top-4 picks succeed 2.1× the base rate</a:t>
            </a:r>
            <a:endParaRPr lang="en-US" sz="1400" dirty="0"/>
          </a:p>
        </p:txBody>
      </p:sp>
      <p:pic>
        <p:nvPicPr>
          <p:cNvPr id="6" name="critic_scores.png" descr="critic score histogram">    </p:cNvPr>
          <p:cNvPicPr>
            <a:picLocks noChangeAspect="1"/>
          </p:cNvPicPr>
          <p:nvPr/>
        </p:nvPicPr>
        <p:blipFill>
          <a:blip r:embed="rId1"/>
          <a:stretch>
            <a:fillRect/>
          </a:stretch>
        </p:blipFill>
        <p:spPr>
          <a:xfrm>
            <a:off x="6309360" y="1270363"/>
            <a:ext cx="5303520" cy="3219994"/>
          </a:xfrm>
          <a:prstGeom prst="rect">
            <a:avLst/>
          </a:prstGeom>
        </p:spPr>
      </p:pic>
      <p:sp>
        <p:nvSpPr>
          <p:cNvPr id="7" name="calib"/>
          <p:cNvSpPr/>
          <p:nvPr/>
        </p:nvSpPr>
        <p:spPr>
          <a:xfrm>
            <a:off x="6309360" y="4709160"/>
            <a:ext cx="5303520" cy="1417320"/>
          </a:xfrm>
          <a:prstGeom prst="roundRect">
            <a:avLst>
              <a:gd name="adj" fmla="val 5161"/>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8" name="Text 5"/>
          <p:cNvSpPr txBox="1"/>
          <p:nvPr/>
        </p:nvSpPr>
        <p:spPr>
          <a:xfrm>
            <a:off x="6537960" y="4828032"/>
            <a:ext cx="4846320" cy="320040"/>
          </a:xfrm>
          <a:prstGeom prst="rect">
            <a:avLst/>
          </a:prstGeom>
          <a:noFill/>
          <a:ln/>
        </p:spPr>
        <p:txBody>
          <a:bodyPr wrap="square" lIns="0" tIns="0" rIns="0" bIns="0" rtlCol="0" anchor="t"/>
          <a:lstStyle/>
          <a:p>
            <a:pPr indent="0" marL="0">
              <a:buNone/>
            </a:pPr>
            <a:r>
              <a:rPr lang="en-US" sz="1500" b="1" dirty="0">
                <a:solidFill>
                  <a:srgbClr val="C8553D"/>
                </a:solidFill>
              </a:rPr>
              <a:t>Ranks well, calibrated badly</a:t>
            </a:r>
            <a:endParaRPr lang="en-US" sz="1500" dirty="0"/>
          </a:p>
        </p:txBody>
      </p:sp>
      <p:sp>
        <p:nvSpPr>
          <p:cNvPr id="9" name="Text 6"/>
          <p:cNvSpPr txBox="1"/>
          <p:nvPr/>
        </p:nvSpPr>
        <p:spPr>
          <a:xfrm>
            <a:off x="6537960" y="5193792"/>
            <a:ext cx="4846320" cy="868680"/>
          </a:xfrm>
          <a:prstGeom prst="rect">
            <a:avLst/>
          </a:prstGeom>
          <a:noFill/>
          <a:ln/>
        </p:spPr>
        <p:txBody>
          <a:bodyPr wrap="square" lIns="0" tIns="0" rIns="0" bIns="0" rtlCol="0" anchor="t"/>
          <a:lstStyle/>
          <a:p>
            <a:pPr indent="0" marL="0">
              <a:buNone/>
            </a:pPr>
            <a:r>
              <a:rPr lang="en-US" sz="1200" dirty="0">
                <a:solidFill>
                  <a:srgbClr val="3C4A57"/>
                </a:solidFill>
              </a:rPr>
              <a:t>Almost every pick gets V≈1 while ~12% verify. Fine for ranking. Needs fixing before V can weight training (AWR).</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M3: how the world model searches</a:t>
            </a:r>
            <a:endParaRPr lang="en-US" sz="3000" dirty="0"/>
          </a:p>
        </p:txBody>
      </p:sp>
      <p:sp>
        <p:nvSpPr>
          <p:cNvPr id="3" name="flow0"/>
          <p:cNvSpPr/>
          <p:nvPr/>
        </p:nvSpPr>
        <p:spPr>
          <a:xfrm>
            <a:off x="548640" y="1280160"/>
            <a:ext cx="2834640" cy="1417320"/>
          </a:xfrm>
          <a:prstGeom prst="roundRect">
            <a:avLst>
              <a:gd name="adj" fmla="val 516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4" name="badge"/>
          <p:cNvSpPr/>
          <p:nvPr/>
        </p:nvSpPr>
        <p:spPr>
          <a:xfrm>
            <a:off x="713232" y="1444752"/>
            <a:ext cx="384048" cy="384048"/>
          </a:xfrm>
          <a:prstGeom prst="ellipse">
            <a:avLst/>
          </a:prstGeom>
          <a:solidFill>
            <a:srgbClr val="E8962E"/>
          </a:solidFill>
          <a:ln w="12700">
            <a:solidFill>
              <a:srgbClr val="E8962E"/>
            </a:solidFill>
            <a:prstDash val="solid"/>
          </a:ln>
        </p:spPr>
      </p:sp>
      <p:sp>
        <p:nvSpPr>
          <p:cNvPr id="5" name="Text 3"/>
          <p:cNvSpPr txBox="1"/>
          <p:nvPr/>
        </p:nvSpPr>
        <p:spPr>
          <a:xfrm>
            <a:off x="713232" y="14447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1</a:t>
            </a:r>
            <a:endParaRPr lang="en-US" sz="1400" dirty="0"/>
          </a:p>
        </p:txBody>
      </p:sp>
      <p:sp>
        <p:nvSpPr>
          <p:cNvPr id="6" name="Text 4"/>
          <p:cNvSpPr txBox="1"/>
          <p:nvPr/>
        </p:nvSpPr>
        <p:spPr>
          <a:xfrm>
            <a:off x="1207008" y="1463040"/>
            <a:ext cx="2057400" cy="365760"/>
          </a:xfrm>
          <a:prstGeom prst="rect">
            <a:avLst/>
          </a:prstGeom>
          <a:noFill/>
          <a:ln/>
        </p:spPr>
        <p:txBody>
          <a:bodyPr wrap="square" lIns="0" tIns="0" rIns="0" bIns="0" rtlCol="0" anchor="t"/>
          <a:lstStyle/>
          <a:p>
            <a:pPr indent="0" marL="0">
              <a:buNone/>
            </a:pPr>
            <a:r>
              <a:rPr lang="en-US" sz="1500" b="1" dirty="0">
                <a:solidFill>
                  <a:srgbClr val="23303B"/>
                </a:solidFill>
              </a:rPr>
              <a:t>Encode</a:t>
            </a:r>
            <a:endParaRPr lang="en-US" sz="1500" dirty="0"/>
          </a:p>
        </p:txBody>
      </p:sp>
      <p:sp>
        <p:nvSpPr>
          <p:cNvPr id="7" name="Text 5"/>
          <p:cNvSpPr txBox="1"/>
          <p:nvPr/>
        </p:nvSpPr>
        <p:spPr>
          <a:xfrm>
            <a:off x="731520" y="1920240"/>
            <a:ext cx="2514600" cy="731520"/>
          </a:xfrm>
          <a:prstGeom prst="rect">
            <a:avLst/>
          </a:prstGeom>
          <a:noFill/>
          <a:ln/>
        </p:spPr>
        <p:txBody>
          <a:bodyPr wrap="square" lIns="0" tIns="0" rIns="0" bIns="0" rtlCol="0" anchor="t"/>
          <a:lstStyle/>
          <a:p>
            <a:pPr indent="0" marL="0">
              <a:buNone/>
            </a:pPr>
            <a:r>
              <a:rPr lang="en-US" sz="1200" dirty="0">
                <a:solidFill>
                  <a:srgbClr val="3C4A57"/>
                </a:solidFill>
              </a:rPr>
              <a:t>real failure frame → DINOv2 latent z0, robot state q0</a:t>
            </a:r>
            <a:endParaRPr lang="en-US" sz="1200" dirty="0"/>
          </a:p>
        </p:txBody>
      </p:sp>
      <p:sp>
        <p:nvSpPr>
          <p:cNvPr id="8" name="flow1"/>
          <p:cNvSpPr/>
          <p:nvPr/>
        </p:nvSpPr>
        <p:spPr>
          <a:xfrm>
            <a:off x="3566160" y="1280160"/>
            <a:ext cx="2834640" cy="1417320"/>
          </a:xfrm>
          <a:prstGeom prst="roundRect">
            <a:avLst>
              <a:gd name="adj" fmla="val 516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9" name="badge"/>
          <p:cNvSpPr/>
          <p:nvPr/>
        </p:nvSpPr>
        <p:spPr>
          <a:xfrm>
            <a:off x="3730752" y="1444752"/>
            <a:ext cx="384048" cy="384048"/>
          </a:xfrm>
          <a:prstGeom prst="ellipse">
            <a:avLst/>
          </a:prstGeom>
          <a:solidFill>
            <a:srgbClr val="E8962E"/>
          </a:solidFill>
          <a:ln w="12700">
            <a:solidFill>
              <a:srgbClr val="E8962E"/>
            </a:solidFill>
            <a:prstDash val="solid"/>
          </a:ln>
        </p:spPr>
      </p:sp>
      <p:sp>
        <p:nvSpPr>
          <p:cNvPr id="10" name="Text 8"/>
          <p:cNvSpPr txBox="1"/>
          <p:nvPr/>
        </p:nvSpPr>
        <p:spPr>
          <a:xfrm>
            <a:off x="3730752" y="14447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2</a:t>
            </a:r>
            <a:endParaRPr lang="en-US" sz="1400" dirty="0"/>
          </a:p>
        </p:txBody>
      </p:sp>
      <p:sp>
        <p:nvSpPr>
          <p:cNvPr id="11" name="Text 9"/>
          <p:cNvSpPr txBox="1"/>
          <p:nvPr/>
        </p:nvSpPr>
        <p:spPr>
          <a:xfrm>
            <a:off x="4224528" y="1463040"/>
            <a:ext cx="2057400" cy="365760"/>
          </a:xfrm>
          <a:prstGeom prst="rect">
            <a:avLst/>
          </a:prstGeom>
          <a:noFill/>
          <a:ln/>
        </p:spPr>
        <p:txBody>
          <a:bodyPr wrap="square" lIns="0" tIns="0" rIns="0" bIns="0" rtlCol="0" anchor="t"/>
          <a:lstStyle/>
          <a:p>
            <a:pPr indent="0" marL="0">
              <a:buNone/>
            </a:pPr>
            <a:r>
              <a:rPr lang="en-US" sz="1500" b="1" dirty="0">
                <a:solidFill>
                  <a:srgbClr val="23303B"/>
                </a:solidFill>
              </a:rPr>
              <a:t>Propose 256</a:t>
            </a:r>
            <a:endParaRPr lang="en-US" sz="1500" dirty="0"/>
          </a:p>
        </p:txBody>
      </p:sp>
      <p:sp>
        <p:nvSpPr>
          <p:cNvPr id="12" name="Text 10"/>
          <p:cNvSpPr txBox="1"/>
          <p:nvPr/>
        </p:nvSpPr>
        <p:spPr>
          <a:xfrm>
            <a:off x="3749040" y="1920240"/>
            <a:ext cx="2514600" cy="731520"/>
          </a:xfrm>
          <a:prstGeom prst="rect">
            <a:avLst/>
          </a:prstGeom>
          <a:noFill/>
          <a:ln/>
        </p:spPr>
        <p:txBody>
          <a:bodyPr wrap="square" lIns="0" tIns="0" rIns="0" bIns="0" rtlCol="0" anchor="t"/>
          <a:lstStyle/>
          <a:p>
            <a:pPr indent="0" marL="0">
              <a:buNone/>
            </a:pPr>
            <a:r>
              <a:rPr lang="en-US" sz="1200" dirty="0">
                <a:solidFill>
                  <a:srgbClr val="3C4A57"/>
                </a:solidFill>
              </a:rPr>
              <a:t>same proposal pool as M1: SmolVLA samples, perturbations, primitives</a:t>
            </a:r>
            <a:endParaRPr lang="en-US" sz="1200" dirty="0"/>
          </a:p>
        </p:txBody>
      </p:sp>
      <p:sp>
        <p:nvSpPr>
          <p:cNvPr id="13" name="flow2"/>
          <p:cNvSpPr/>
          <p:nvPr/>
        </p:nvSpPr>
        <p:spPr>
          <a:xfrm>
            <a:off x="548640" y="2880360"/>
            <a:ext cx="2834640" cy="1417320"/>
          </a:xfrm>
          <a:prstGeom prst="roundRect">
            <a:avLst>
              <a:gd name="adj" fmla="val 5161"/>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14" name="badge"/>
          <p:cNvSpPr/>
          <p:nvPr/>
        </p:nvSpPr>
        <p:spPr>
          <a:xfrm>
            <a:off x="713232" y="3044952"/>
            <a:ext cx="384048" cy="384048"/>
          </a:xfrm>
          <a:prstGeom prst="ellipse">
            <a:avLst/>
          </a:prstGeom>
          <a:solidFill>
            <a:srgbClr val="E8962E"/>
          </a:solidFill>
          <a:ln w="12700">
            <a:solidFill>
              <a:srgbClr val="E8962E"/>
            </a:solidFill>
            <a:prstDash val="solid"/>
          </a:ln>
        </p:spPr>
      </p:sp>
      <p:sp>
        <p:nvSpPr>
          <p:cNvPr id="15" name="Text 13"/>
          <p:cNvSpPr txBox="1"/>
          <p:nvPr/>
        </p:nvSpPr>
        <p:spPr>
          <a:xfrm>
            <a:off x="713232" y="3044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3</a:t>
            </a:r>
            <a:endParaRPr lang="en-US" sz="1400" dirty="0"/>
          </a:p>
        </p:txBody>
      </p:sp>
      <p:sp>
        <p:nvSpPr>
          <p:cNvPr id="16" name="Text 14"/>
          <p:cNvSpPr txBox="1"/>
          <p:nvPr/>
        </p:nvSpPr>
        <p:spPr>
          <a:xfrm>
            <a:off x="1207008" y="3063240"/>
            <a:ext cx="2057400" cy="365760"/>
          </a:xfrm>
          <a:prstGeom prst="rect">
            <a:avLst/>
          </a:prstGeom>
          <a:noFill/>
          <a:ln/>
        </p:spPr>
        <p:txBody>
          <a:bodyPr wrap="square" lIns="0" tIns="0" rIns="0" bIns="0" rtlCol="0" anchor="t"/>
          <a:lstStyle/>
          <a:p>
            <a:pPr indent="0" marL="0">
              <a:buNone/>
            </a:pPr>
            <a:r>
              <a:rPr lang="en-US" sz="1500" b="1" dirty="0">
                <a:solidFill>
                  <a:srgbClr val="23303B"/>
                </a:solidFill>
              </a:rPr>
              <a:t>Imagine</a:t>
            </a:r>
            <a:endParaRPr lang="en-US" sz="1500" dirty="0"/>
          </a:p>
        </p:txBody>
      </p:sp>
      <p:sp>
        <p:nvSpPr>
          <p:cNvPr id="17" name="Text 15"/>
          <p:cNvSpPr txBox="1"/>
          <p:nvPr/>
        </p:nvSpPr>
        <p:spPr>
          <a:xfrm>
            <a:off x="731520" y="3520440"/>
            <a:ext cx="2514600" cy="731520"/>
          </a:xfrm>
          <a:prstGeom prst="rect">
            <a:avLst/>
          </a:prstGeom>
          <a:noFill/>
          <a:ln/>
        </p:spPr>
        <p:txBody>
          <a:bodyPr wrap="square" lIns="0" tIns="0" rIns="0" bIns="0" rtlCol="0" anchor="t"/>
          <a:lstStyle/>
          <a:p>
            <a:pPr indent="0" marL="0">
              <a:buNone/>
            </a:pPr>
            <a:r>
              <a:rPr lang="en-US" sz="1200" dirty="0">
                <a:solidFill>
                  <a:srgbClr val="3C4A57"/>
                </a:solidFill>
              </a:rPr>
              <a:t>WM rolls each 50-step candidate forward: z0 → z50 (10 steps of 5 actions)</a:t>
            </a:r>
            <a:endParaRPr lang="en-US" sz="1200" dirty="0"/>
          </a:p>
        </p:txBody>
      </p:sp>
      <p:sp>
        <p:nvSpPr>
          <p:cNvPr id="18" name="flow3"/>
          <p:cNvSpPr/>
          <p:nvPr/>
        </p:nvSpPr>
        <p:spPr>
          <a:xfrm>
            <a:off x="3566160" y="2880360"/>
            <a:ext cx="2834640" cy="1417320"/>
          </a:xfrm>
          <a:prstGeom prst="roundRect">
            <a:avLst>
              <a:gd name="adj" fmla="val 5161"/>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19" name="badge"/>
          <p:cNvSpPr/>
          <p:nvPr/>
        </p:nvSpPr>
        <p:spPr>
          <a:xfrm>
            <a:off x="3730752" y="3044952"/>
            <a:ext cx="384048" cy="384048"/>
          </a:xfrm>
          <a:prstGeom prst="ellipse">
            <a:avLst/>
          </a:prstGeom>
          <a:solidFill>
            <a:srgbClr val="E8962E"/>
          </a:solidFill>
          <a:ln w="12700">
            <a:solidFill>
              <a:srgbClr val="E8962E"/>
            </a:solidFill>
            <a:prstDash val="solid"/>
          </a:ln>
        </p:spPr>
      </p:sp>
      <p:sp>
        <p:nvSpPr>
          <p:cNvPr id="20" name="Text 18"/>
          <p:cNvSpPr txBox="1"/>
          <p:nvPr/>
        </p:nvSpPr>
        <p:spPr>
          <a:xfrm>
            <a:off x="3730752" y="30449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4</a:t>
            </a:r>
            <a:endParaRPr lang="en-US" sz="1400" dirty="0"/>
          </a:p>
        </p:txBody>
      </p:sp>
      <p:sp>
        <p:nvSpPr>
          <p:cNvPr id="21" name="Text 19"/>
          <p:cNvSpPr txBox="1"/>
          <p:nvPr/>
        </p:nvSpPr>
        <p:spPr>
          <a:xfrm>
            <a:off x="4224528" y="3063240"/>
            <a:ext cx="2057400" cy="365760"/>
          </a:xfrm>
          <a:prstGeom prst="rect">
            <a:avLst/>
          </a:prstGeom>
          <a:noFill/>
          <a:ln/>
        </p:spPr>
        <p:txBody>
          <a:bodyPr wrap="square" lIns="0" tIns="0" rIns="0" bIns="0" rtlCol="0" anchor="t"/>
          <a:lstStyle/>
          <a:p>
            <a:pPr indent="0" marL="0">
              <a:buNone/>
            </a:pPr>
            <a:r>
              <a:rPr lang="en-US" sz="1500" b="1" dirty="0">
                <a:solidFill>
                  <a:srgbClr val="23303B"/>
                </a:solidFill>
              </a:rPr>
              <a:t>Score</a:t>
            </a:r>
            <a:endParaRPr lang="en-US" sz="1500" dirty="0"/>
          </a:p>
        </p:txBody>
      </p:sp>
      <p:sp>
        <p:nvSpPr>
          <p:cNvPr id="22" name="Text 20"/>
          <p:cNvSpPr txBox="1"/>
          <p:nvPr/>
        </p:nvSpPr>
        <p:spPr>
          <a:xfrm>
            <a:off x="3749040" y="3520440"/>
            <a:ext cx="2514600" cy="731520"/>
          </a:xfrm>
          <a:prstGeom prst="rect">
            <a:avLst/>
          </a:prstGeom>
          <a:noFill/>
          <a:ln/>
        </p:spPr>
        <p:txBody>
          <a:bodyPr wrap="square" lIns="0" tIns="0" rIns="0" bIns="0" rtlCol="0" anchor="t"/>
          <a:lstStyle/>
          <a:p>
            <a:pPr indent="0" marL="0">
              <a:buNone/>
            </a:pPr>
            <a:r>
              <a:rPr lang="en-US" sz="1200" dirty="0">
                <a:solidFill>
                  <a:srgbClr val="3C4A57"/>
                </a:solidFill>
              </a:rPr>
              <a:t>S = V(z50) − λ·uncertainty − β·jerkiness</a:t>
            </a:r>
            <a:endParaRPr lang="en-US" sz="1200" dirty="0"/>
          </a:p>
        </p:txBody>
      </p:sp>
      <p:sp>
        <p:nvSpPr>
          <p:cNvPr id="23" name="flow4"/>
          <p:cNvSpPr/>
          <p:nvPr/>
        </p:nvSpPr>
        <p:spPr>
          <a:xfrm>
            <a:off x="548640" y="4480560"/>
            <a:ext cx="2834640" cy="1417320"/>
          </a:xfrm>
          <a:prstGeom prst="roundRect">
            <a:avLst>
              <a:gd name="adj" fmla="val 5161"/>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24" name="badge"/>
          <p:cNvSpPr/>
          <p:nvPr/>
        </p:nvSpPr>
        <p:spPr>
          <a:xfrm>
            <a:off x="713232" y="4645152"/>
            <a:ext cx="384048" cy="384048"/>
          </a:xfrm>
          <a:prstGeom prst="ellipse">
            <a:avLst/>
          </a:prstGeom>
          <a:solidFill>
            <a:srgbClr val="E8962E"/>
          </a:solidFill>
          <a:ln w="12700">
            <a:solidFill>
              <a:srgbClr val="E8962E"/>
            </a:solidFill>
            <a:prstDash val="solid"/>
          </a:ln>
        </p:spPr>
      </p:sp>
      <p:sp>
        <p:nvSpPr>
          <p:cNvPr id="25" name="Text 23"/>
          <p:cNvSpPr txBox="1"/>
          <p:nvPr/>
        </p:nvSpPr>
        <p:spPr>
          <a:xfrm>
            <a:off x="713232"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5</a:t>
            </a:r>
            <a:endParaRPr lang="en-US" sz="1400" dirty="0"/>
          </a:p>
        </p:txBody>
      </p:sp>
      <p:sp>
        <p:nvSpPr>
          <p:cNvPr id="26" name="Text 24"/>
          <p:cNvSpPr txBox="1"/>
          <p:nvPr/>
        </p:nvSpPr>
        <p:spPr>
          <a:xfrm>
            <a:off x="1207008" y="4663440"/>
            <a:ext cx="2057400" cy="365760"/>
          </a:xfrm>
          <a:prstGeom prst="rect">
            <a:avLst/>
          </a:prstGeom>
          <a:noFill/>
          <a:ln/>
        </p:spPr>
        <p:txBody>
          <a:bodyPr wrap="square" lIns="0" tIns="0" rIns="0" bIns="0" rtlCol="0" anchor="t"/>
          <a:lstStyle/>
          <a:p>
            <a:pPr indent="0" marL="0">
              <a:buNone/>
            </a:pPr>
            <a:r>
              <a:rPr lang="en-US" sz="1500" b="1" dirty="0">
                <a:solidFill>
                  <a:srgbClr val="23303B"/>
                </a:solidFill>
              </a:rPr>
              <a:t>Refine in imagination</a:t>
            </a:r>
            <a:endParaRPr lang="en-US" sz="1500" dirty="0"/>
          </a:p>
        </p:txBody>
      </p:sp>
      <p:sp>
        <p:nvSpPr>
          <p:cNvPr id="27" name="Text 25"/>
          <p:cNvSpPr txBox="1"/>
          <p:nvPr/>
        </p:nvSpPr>
        <p:spPr>
          <a:xfrm>
            <a:off x="731520" y="5120640"/>
            <a:ext cx="2514600" cy="731520"/>
          </a:xfrm>
          <a:prstGeom prst="rect">
            <a:avLst/>
          </a:prstGeom>
          <a:noFill/>
          <a:ln/>
        </p:spPr>
        <p:txBody>
          <a:bodyPr wrap="square" lIns="0" tIns="0" rIns="0" bIns="0" rtlCol="0" anchor="t"/>
          <a:lstStyle/>
          <a:p>
            <a:pPr indent="0" marL="0">
              <a:buNone/>
            </a:pPr>
            <a:r>
              <a:rPr lang="en-US" sz="1200" dirty="0">
                <a:solidFill>
                  <a:srgbClr val="3C4A57"/>
                </a:solidFill>
              </a:rPr>
              <a:t>2 rounds of elite-local CEM, ~800 candidates, zero simulator calls</a:t>
            </a:r>
            <a:endParaRPr lang="en-US" sz="1200" dirty="0"/>
          </a:p>
        </p:txBody>
      </p:sp>
      <p:sp>
        <p:nvSpPr>
          <p:cNvPr id="28" name="flow5"/>
          <p:cNvSpPr/>
          <p:nvPr/>
        </p:nvSpPr>
        <p:spPr>
          <a:xfrm>
            <a:off x="3566160" y="4480560"/>
            <a:ext cx="2834640" cy="1417320"/>
          </a:xfrm>
          <a:prstGeom prst="roundRect">
            <a:avLst>
              <a:gd name="adj" fmla="val 5161"/>
            </a:avLst>
          </a:prstGeom>
          <a:solidFill>
            <a:srgbClr val="E0F2EF"/>
          </a:solidFill>
          <a:ln w="12700">
            <a:solidFill>
              <a:srgbClr val="E0F2EF"/>
            </a:solidFill>
            <a:prstDash val="solid"/>
          </a:ln>
          <a:effectLst>
            <a:outerShdw sx="100000" sy="100000" kx="0" ky="0" algn="bl" rotWithShape="0" blurRad="76200" dist="25400" dir="5400000">
              <a:srgbClr val="23303B">
                <a:alpha val="12000"/>
              </a:srgbClr>
            </a:outerShdw>
          </a:effectLst>
        </p:spPr>
      </p:sp>
      <p:sp>
        <p:nvSpPr>
          <p:cNvPr id="29" name="badge"/>
          <p:cNvSpPr/>
          <p:nvPr/>
        </p:nvSpPr>
        <p:spPr>
          <a:xfrm>
            <a:off x="3730752" y="4645152"/>
            <a:ext cx="384048" cy="384048"/>
          </a:xfrm>
          <a:prstGeom prst="ellipse">
            <a:avLst/>
          </a:prstGeom>
          <a:solidFill>
            <a:srgbClr val="2A9D8F"/>
          </a:solidFill>
          <a:ln w="12700">
            <a:solidFill>
              <a:srgbClr val="2A9D8F"/>
            </a:solidFill>
            <a:prstDash val="solid"/>
          </a:ln>
        </p:spPr>
      </p:sp>
      <p:sp>
        <p:nvSpPr>
          <p:cNvPr id="30" name="Text 28"/>
          <p:cNvSpPr txBox="1"/>
          <p:nvPr/>
        </p:nvSpPr>
        <p:spPr>
          <a:xfrm>
            <a:off x="3730752" y="4645152"/>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rPr>
              <a:t>6</a:t>
            </a:r>
            <a:endParaRPr lang="en-US" sz="1400" dirty="0"/>
          </a:p>
        </p:txBody>
      </p:sp>
      <p:sp>
        <p:nvSpPr>
          <p:cNvPr id="31" name="Text 29"/>
          <p:cNvSpPr txBox="1"/>
          <p:nvPr/>
        </p:nvSpPr>
        <p:spPr>
          <a:xfrm>
            <a:off x="4224528" y="4663440"/>
            <a:ext cx="2057400" cy="365760"/>
          </a:xfrm>
          <a:prstGeom prst="rect">
            <a:avLst/>
          </a:prstGeom>
          <a:noFill/>
          <a:ln/>
        </p:spPr>
        <p:txBody>
          <a:bodyPr wrap="square" lIns="0" tIns="0" rIns="0" bIns="0" rtlCol="0" anchor="t"/>
          <a:lstStyle/>
          <a:p>
            <a:pPr indent="0" marL="0">
              <a:buNone/>
            </a:pPr>
            <a:r>
              <a:rPr lang="en-US" sz="1500" b="1" dirty="0">
                <a:solidFill>
                  <a:srgbClr val="23303B"/>
                </a:solidFill>
              </a:rPr>
              <a:t>Verify top-16</a:t>
            </a:r>
            <a:endParaRPr lang="en-US" sz="1500" dirty="0"/>
          </a:p>
        </p:txBody>
      </p:sp>
      <p:sp>
        <p:nvSpPr>
          <p:cNvPr id="32" name="Text 30"/>
          <p:cNvSpPr txBox="1"/>
          <p:nvPr/>
        </p:nvSpPr>
        <p:spPr>
          <a:xfrm>
            <a:off x="3749040" y="5120640"/>
            <a:ext cx="2514600" cy="731520"/>
          </a:xfrm>
          <a:prstGeom prst="rect">
            <a:avLst/>
          </a:prstGeom>
          <a:noFill/>
          <a:ln/>
        </p:spPr>
        <p:txBody>
          <a:bodyPr wrap="square" lIns="0" tIns="0" rIns="0" bIns="0" rtlCol="0" anchor="t"/>
          <a:lstStyle/>
          <a:p>
            <a:pPr indent="0" marL="0">
              <a:buNone/>
            </a:pPr>
            <a:r>
              <a:rPr lang="en-US" sz="1200" dirty="0">
                <a:solidFill>
                  <a:srgbClr val="3C4A57"/>
                </a:solidFill>
              </a:rPr>
              <a:t>only these touch the simulator; successes become training data</a:t>
            </a:r>
            <a:endParaRPr lang="en-US" sz="1200" dirty="0"/>
          </a:p>
        </p:txBody>
      </p:sp>
      <p:pic>
        <p:nvPicPr>
          <p:cNvPr id="33" name="drawer_failure_frame.png" descr="drawer failure agent view">    </p:cNvPr>
          <p:cNvPicPr>
            <a:picLocks noChangeAspect="1"/>
          </p:cNvPicPr>
          <p:nvPr/>
        </p:nvPicPr>
        <p:blipFill>
          <a:blip r:embed="rId1"/>
          <a:stretch>
            <a:fillRect/>
          </a:stretch>
        </p:blipFill>
        <p:spPr>
          <a:xfrm>
            <a:off x="6766560" y="1280160"/>
            <a:ext cx="2331720" cy="2331720"/>
          </a:xfrm>
          <a:prstGeom prst="rect">
            <a:avLst/>
          </a:prstGeom>
        </p:spPr>
      </p:pic>
      <p:pic>
        <p:nvPicPr>
          <p:cNvPr id="34" name="drawer_failure_wrist.png" descr="drawer failure wrist view">    </p:cNvPr>
          <p:cNvPicPr>
            <a:picLocks noChangeAspect="1"/>
          </p:cNvPicPr>
          <p:nvPr/>
        </p:nvPicPr>
        <p:blipFill>
          <a:blip r:embed="rId2"/>
          <a:stretch>
            <a:fillRect/>
          </a:stretch>
        </p:blipFill>
        <p:spPr>
          <a:xfrm>
            <a:off x="9281160" y="1280160"/>
            <a:ext cx="2331720" cy="2331720"/>
          </a:xfrm>
          <a:prstGeom prst="rect">
            <a:avLst/>
          </a:prstGeom>
        </p:spPr>
      </p:pic>
      <p:sp>
        <p:nvSpPr>
          <p:cNvPr id="35" name="Text 31"/>
          <p:cNvSpPr txBox="1"/>
          <p:nvPr/>
        </p:nvSpPr>
        <p:spPr>
          <a:xfrm>
            <a:off x="6766560" y="3657600"/>
            <a:ext cx="4846320" cy="274320"/>
          </a:xfrm>
          <a:prstGeom prst="rect">
            <a:avLst/>
          </a:prstGeom>
          <a:noFill/>
          <a:ln/>
        </p:spPr>
        <p:txBody>
          <a:bodyPr wrap="square" lIns="0" tIns="0" rIns="0" bIns="0" rtlCol="0" anchor="t"/>
          <a:lstStyle/>
          <a:p>
            <a:pPr indent="0" marL="0">
              <a:buNone/>
            </a:pPr>
            <a:r>
              <a:rPr lang="en-US" sz="1100" i="1" dirty="0">
                <a:solidFill>
                  <a:srgbClr val="6B7785"/>
                </a:solidFill>
              </a:rPr>
              <a:t>Input: one real failure observation (agent + wrist)</a:t>
            </a:r>
            <a:endParaRPr lang="en-US" sz="1100" dirty="0"/>
          </a:p>
        </p:txBody>
      </p:sp>
      <p:sp>
        <p:nvSpPr>
          <p:cNvPr id="36" name="fair"/>
          <p:cNvSpPr/>
          <p:nvPr/>
        </p:nvSpPr>
        <p:spPr>
          <a:xfrm>
            <a:off x="6766560" y="4069080"/>
            <a:ext cx="4846320" cy="2057400"/>
          </a:xfrm>
          <a:prstGeom prst="roundRect">
            <a:avLst>
              <a:gd name="adj" fmla="val 355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37" name="Text 33"/>
          <p:cNvSpPr txBox="1"/>
          <p:nvPr/>
        </p:nvSpPr>
        <p:spPr>
          <a:xfrm>
            <a:off x="6995160" y="4206240"/>
            <a:ext cx="4389120" cy="320040"/>
          </a:xfrm>
          <a:prstGeom prst="rect">
            <a:avLst/>
          </a:prstGeom>
          <a:noFill/>
          <a:ln/>
        </p:spPr>
        <p:txBody>
          <a:bodyPr wrap="square" lIns="0" tIns="0" rIns="0" bIns="0" rtlCol="0" anchor="t"/>
          <a:lstStyle/>
          <a:p>
            <a:pPr indent="0" marL="0">
              <a:buNone/>
            </a:pPr>
            <a:r>
              <a:rPr lang="en-US" sz="1500" b="1" dirty="0">
                <a:solidFill>
                  <a:srgbClr val="23303B"/>
                </a:solidFill>
              </a:rPr>
              <a:t>Fair comparison</a:t>
            </a:r>
            <a:endParaRPr lang="en-US" sz="1500" dirty="0"/>
          </a:p>
        </p:txBody>
      </p:sp>
      <p:sp>
        <p:nvSpPr>
          <p:cNvPr id="38" name="Text 34"/>
          <p:cNvSpPr txBox="1"/>
          <p:nvPr/>
        </p:nvSpPr>
        <p:spPr>
          <a:xfrm>
            <a:off x="6995160" y="4572000"/>
            <a:ext cx="4389120" cy="146304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random arm: 16 candidates drawn from the same 256-proposal pool</a:t>
            </a:r>
            <a:endParaRPr lang="en-US" sz="1200" dirty="0"/>
          </a:p>
          <a:p>
            <a:pPr marL="342900" indent="-342900">
              <a:spcAft>
                <a:spcPts val="600"/>
              </a:spcAft>
              <a:buSzPct val="100000"/>
              <a:buChar char="•"/>
            </a:pPr>
            <a:r>
              <a:rPr lang="en-US" sz="1200" dirty="0">
                <a:solidFill>
                  <a:srgbClr val="3C4A57"/>
                </a:solidFill>
              </a:rPr>
              <a:t>both arms: exactly 16 simulator rollouts per instance</a:t>
            </a:r>
            <a:endParaRPr lang="en-US" sz="1200" dirty="0"/>
          </a:p>
          <a:p>
            <a:pPr marL="342900" indent="-342900">
              <a:spcAft>
                <a:spcPts val="600"/>
              </a:spcAft>
              <a:buSzPct val="100000"/>
              <a:buChar char="•"/>
            </a:pPr>
            <a:r>
              <a:rPr lang="en-US" sz="1200" dirty="0">
                <a:solidFill>
                  <a:srgbClr val="3C4A57"/>
                </a:solidFill>
              </a:rPr>
              <a:t>53 hard instances whose failure episodes the WM/critic never saw</a:t>
            </a:r>
            <a:endParaRPr lang="en-US" sz="12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M3: 2× more recoveries on unseen hard failures</a:t>
            </a:r>
            <a:endParaRPr lang="en-US" sz="3000" dirty="0"/>
          </a:p>
        </p:txBody>
      </p:sp>
      <p:graphicFrame>
        <p:nvGraphicFramePr>
          <p:cNvPr id="3" name="Chart 0" descr=""/>
          <p:cNvGraphicFramePr/>
          <p:nvPr/>
        </p:nvGraphicFramePr>
        <p:xfrm>
          <a:off x="548640" y="1234440"/>
          <a:ext cx="6035040" cy="4023360"/>
        </p:xfrm>
        <a:graphic xmlns:a="http://schemas.openxmlformats.org/drawingml/2006/main">
          <a:graphicData uri="http://schemas.openxmlformats.org/drawingml/2006/chart">
            <c:chart xmlns:c="http://schemas.openxmlformats.org/drawingml/2006/chart" r:id="rId1"/>
          </a:graphicData>
        </a:graphic>
      </p:graphicFrame>
      <p:sp>
        <p:nvSpPr>
          <p:cNvPr id="4" name="Text 1"/>
          <p:cNvSpPr txBox="1"/>
          <p:nvPr/>
        </p:nvSpPr>
        <p:spPr>
          <a:xfrm>
            <a:off x="6949440" y="1325880"/>
            <a:ext cx="4663440" cy="685800"/>
          </a:xfrm>
          <a:prstGeom prst="rect">
            <a:avLst/>
          </a:prstGeom>
          <a:noFill/>
          <a:ln/>
        </p:spPr>
        <p:txBody>
          <a:bodyPr wrap="square" lIns="0" tIns="0" rIns="0" bIns="0" rtlCol="0" anchor="t"/>
          <a:lstStyle/>
          <a:p>
            <a:pPr indent="0" marL="0">
              <a:buNone/>
            </a:pPr>
            <a:r>
              <a:rPr lang="en-US" sz="4000" b="1" dirty="0">
                <a:solidFill>
                  <a:srgbClr val="E8962E"/>
                </a:solidFill>
                <a:latin typeface="Times New Roman" pitchFamily="34" charset="0"/>
                <a:ea typeface="Times New Roman" pitchFamily="34" charset="-122"/>
                <a:cs typeface="Times New Roman" pitchFamily="34" charset="-120"/>
              </a:rPr>
              <a:t>36% vs 17%</a:t>
            </a:r>
            <a:endParaRPr lang="en-US" sz="4000" dirty="0"/>
          </a:p>
        </p:txBody>
      </p:sp>
      <p:sp>
        <p:nvSpPr>
          <p:cNvPr id="5" name="Text 2"/>
          <p:cNvSpPr txBox="1"/>
          <p:nvPr/>
        </p:nvSpPr>
        <p:spPr>
          <a:xfrm>
            <a:off x="6949440" y="2039112"/>
            <a:ext cx="4663440" cy="548640"/>
          </a:xfrm>
          <a:prstGeom prst="rect">
            <a:avLst/>
          </a:prstGeom>
          <a:noFill/>
          <a:ln/>
        </p:spPr>
        <p:txBody>
          <a:bodyPr wrap="square" lIns="0" tIns="0" rIns="0" bIns="0" rtlCol="0" anchor="t"/>
          <a:lstStyle/>
          <a:p>
            <a:pPr indent="0" marL="0">
              <a:buNone/>
            </a:pPr>
            <a:r>
              <a:rPr lang="en-US" sz="1200" dirty="0">
                <a:solidFill>
                  <a:srgbClr val="6B7785"/>
                </a:solidFill>
              </a:rPr>
              <a:t>hard failures solved, same simulator budget (sign test p = 0.04)</a:t>
            </a:r>
            <a:endParaRPr lang="en-US" sz="1200" dirty="0"/>
          </a:p>
        </p:txBody>
      </p:sp>
      <p:sp>
        <p:nvSpPr>
          <p:cNvPr id="6" name="Text 3"/>
          <p:cNvSpPr txBox="1"/>
          <p:nvPr/>
        </p:nvSpPr>
        <p:spPr>
          <a:xfrm>
            <a:off x="6949440" y="2743200"/>
            <a:ext cx="4663440" cy="685800"/>
          </a:xfrm>
          <a:prstGeom prst="rect">
            <a:avLst/>
          </a:prstGeom>
          <a:noFill/>
          <a:ln/>
        </p:spPr>
        <p:txBody>
          <a:bodyPr wrap="square" lIns="0" tIns="0" rIns="0" bIns="0" rtlCol="0" anchor="t"/>
          <a:lstStyle/>
          <a:p>
            <a:pPr indent="0" marL="0">
              <a:buNone/>
            </a:pPr>
            <a:r>
              <a:rPr lang="en-US" sz="4000" b="1" dirty="0">
                <a:solidFill>
                  <a:srgbClr val="23303B"/>
                </a:solidFill>
                <a:latin typeface="Times New Roman" pitchFamily="34" charset="0"/>
                <a:ea typeface="Times New Roman" pitchFamily="34" charset="-122"/>
                <a:cs typeface="Times New Roman" pitchFamily="34" charset="-120"/>
              </a:rPr>
              <a:t>35 / 45</a:t>
            </a:r>
            <a:endParaRPr lang="en-US" sz="4000" dirty="0"/>
          </a:p>
        </p:txBody>
      </p:sp>
      <p:sp>
        <p:nvSpPr>
          <p:cNvPr id="7" name="Text 4"/>
          <p:cNvSpPr txBox="1"/>
          <p:nvPr/>
        </p:nvSpPr>
        <p:spPr>
          <a:xfrm>
            <a:off x="6949440" y="3456432"/>
            <a:ext cx="4663440" cy="548640"/>
          </a:xfrm>
          <a:prstGeom prst="rect">
            <a:avLst/>
          </a:prstGeom>
          <a:noFill/>
          <a:ln/>
        </p:spPr>
        <p:txBody>
          <a:bodyPr wrap="square" lIns="0" tIns="0" rIns="0" bIns="0" rtlCol="0" anchor="t"/>
          <a:lstStyle/>
          <a:p>
            <a:pPr indent="0" marL="0">
              <a:buNone/>
            </a:pPr>
            <a:r>
              <a:rPr lang="en-US" sz="1200" dirty="0">
                <a:solidFill>
                  <a:srgbClr val="6B7785"/>
                </a:solidFill>
              </a:rPr>
              <a:t>recoveries found by latent CEM: plans the WM invented, never simulated before verification</a:t>
            </a:r>
            <a:endParaRPr lang="en-US" sz="1200" dirty="0"/>
          </a:p>
        </p:txBody>
      </p:sp>
      <p:sp>
        <p:nvSpPr>
          <p:cNvPr id="8" name="caveat"/>
          <p:cNvSpPr/>
          <p:nvPr/>
        </p:nvSpPr>
        <p:spPr>
          <a:xfrm>
            <a:off x="6949440" y="4206240"/>
            <a:ext cx="4663440" cy="1920240"/>
          </a:xfrm>
          <a:prstGeom prst="roundRect">
            <a:avLst>
              <a:gd name="adj" fmla="val 3810"/>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9" name="Text 6"/>
          <p:cNvSpPr txBox="1"/>
          <p:nvPr/>
        </p:nvSpPr>
        <p:spPr>
          <a:xfrm>
            <a:off x="7178040" y="4315968"/>
            <a:ext cx="4206240" cy="320040"/>
          </a:xfrm>
          <a:prstGeom prst="rect">
            <a:avLst/>
          </a:prstGeom>
          <a:noFill/>
          <a:ln/>
        </p:spPr>
        <p:txBody>
          <a:bodyPr wrap="square" lIns="0" tIns="0" rIns="0" bIns="0" rtlCol="0" anchor="t"/>
          <a:lstStyle/>
          <a:p>
            <a:pPr indent="0" marL="0">
              <a:buNone/>
            </a:pPr>
            <a:r>
              <a:rPr lang="en-US" sz="1500" b="1" dirty="0">
                <a:solidFill>
                  <a:srgbClr val="C8553D"/>
                </a:solidFill>
              </a:rPr>
              <a:t>Caveat</a:t>
            </a:r>
            <a:endParaRPr lang="en-US" sz="1500" dirty="0"/>
          </a:p>
        </p:txBody>
      </p:sp>
      <p:sp>
        <p:nvSpPr>
          <p:cNvPr id="10" name="Text 7"/>
          <p:cNvSpPr txBox="1"/>
          <p:nvPr/>
        </p:nvSpPr>
        <p:spPr>
          <a:xfrm>
            <a:off x="7178040" y="4681728"/>
            <a:ext cx="4206240" cy="1371600"/>
          </a:xfrm>
          <a:prstGeom prst="rect">
            <a:avLst/>
          </a:prstGeom>
          <a:noFill/>
          <a:ln/>
        </p:spPr>
        <p:txBody>
          <a:bodyPr wrap="square" lIns="0" tIns="0" rIns="0" bIns="0" rtlCol="0" anchor="t"/>
          <a:lstStyle/>
          <a:p>
            <a:pPr indent="0" marL="0">
              <a:buNone/>
            </a:pPr>
            <a:r>
              <a:rPr lang="en-US" sz="1300" dirty="0">
                <a:solidFill>
                  <a:srgbClr val="3C4A57"/>
                </a:solidFill>
              </a:rPr>
              <a:t>The gain is concentrated in the drawer task (WM 12/20 vs random 1/20). Other tasks: 7/33 vs 8/33. N = 53, one seed.</a:t>
            </a:r>
            <a:endParaRPr lang="en-US" sz="1300" dirty="0"/>
          </a:p>
        </p:txBody>
      </p:sp>
      <p:sp>
        <p:nvSpPr>
          <p:cNvPr id="11" name="Text 8"/>
          <p:cNvSpPr txBox="1"/>
          <p:nvPr/>
        </p:nvSpPr>
        <p:spPr>
          <a:xfrm>
            <a:off x="548640" y="5349240"/>
            <a:ext cx="6035040" cy="274320"/>
          </a:xfrm>
          <a:prstGeom prst="rect">
            <a:avLst/>
          </a:prstGeom>
          <a:noFill/>
          <a:ln/>
        </p:spPr>
        <p:txBody>
          <a:bodyPr wrap="square" lIns="0" tIns="0" rIns="0" bIns="0" rtlCol="0" anchor="t"/>
          <a:lstStyle/>
          <a:p>
            <a:pPr indent="0" marL="0">
              <a:buNone/>
            </a:pPr>
            <a:r>
              <a:rPr lang="en-US" sz="1100" i="1" dirty="0">
                <a:solidFill>
                  <a:srgbClr val="6B7785"/>
                </a:solidFill>
              </a:rPr>
              <a:t>Picks are also smoother: jerk 0.017 vs 0.027</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Same failure state: SmolVLA alone vs WM-guided</a:t>
            </a:r>
            <a:endParaRPr lang="en-US" sz="3000" dirty="0"/>
          </a:p>
        </p:txBody>
      </p:sp>
      <p:pic>
        <p:nvPicPr>
          <p:cNvPr id="3" name="compare_grid.png" descr="side by side comparison">    </p:cNvPr>
          <p:cNvPicPr>
            <a:picLocks noChangeAspect="1"/>
          </p:cNvPicPr>
          <p:nvPr/>
        </p:nvPicPr>
        <p:blipFill>
          <a:blip r:embed="rId1"/>
          <a:stretch>
            <a:fillRect/>
          </a:stretch>
        </p:blipFill>
        <p:spPr>
          <a:xfrm>
            <a:off x="548640" y="1191782"/>
            <a:ext cx="11064240" cy="3605757"/>
          </a:xfrm>
          <a:prstGeom prst="rect">
            <a:avLst/>
          </a:prstGeom>
        </p:spPr>
      </p:pic>
      <p:sp>
        <p:nvSpPr>
          <p:cNvPr id="4" name="alone"/>
          <p:cNvSpPr/>
          <p:nvPr/>
        </p:nvSpPr>
        <p:spPr>
          <a:xfrm>
            <a:off x="548640" y="4983480"/>
            <a:ext cx="5394960" cy="1188720"/>
          </a:xfrm>
          <a:prstGeom prst="roundRect">
            <a:avLst>
              <a:gd name="adj" fmla="val 6154"/>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777240" y="5120640"/>
            <a:ext cx="4937760" cy="960120"/>
          </a:xfrm>
          <a:prstGeom prst="rect">
            <a:avLst/>
          </a:prstGeom>
          <a:noFill/>
          <a:ln/>
        </p:spPr>
        <p:txBody>
          <a:bodyPr wrap="square" lIns="0" tIns="0" rIns="0" bIns="0" rtlCol="0" anchor="t"/>
          <a:lstStyle/>
          <a:p>
            <a:pPr indent="0" marL="0">
              <a:buNone/>
            </a:pPr>
            <a:r>
              <a:rPr lang="en-US" sz="1300" dirty="0">
                <a:solidFill>
                  <a:srgbClr val="3C4A57"/>
                </a:solidFill>
              </a:rPr>
              <a:t>Top: SmolVLA alone hovers at the drawer mouth for 350 steps. 0/3 seeds, 0/4 pre-checks, random 0/16.</a:t>
            </a:r>
            <a:endParaRPr lang="en-US" sz="1300" dirty="0"/>
          </a:p>
        </p:txBody>
      </p:sp>
      <p:sp>
        <p:nvSpPr>
          <p:cNvPr id="6" name="wmguided"/>
          <p:cNvSpPr/>
          <p:nvPr/>
        </p:nvSpPr>
        <p:spPr>
          <a:xfrm>
            <a:off x="6217920" y="4983480"/>
            <a:ext cx="5394960" cy="1188720"/>
          </a:xfrm>
          <a:prstGeom prst="roundRect">
            <a:avLst>
              <a:gd name="adj" fmla="val 6154"/>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7" name="Text 4"/>
          <p:cNvSpPr txBox="1"/>
          <p:nvPr/>
        </p:nvSpPr>
        <p:spPr>
          <a:xfrm>
            <a:off x="6446520" y="5120640"/>
            <a:ext cx="4937760" cy="960120"/>
          </a:xfrm>
          <a:prstGeom prst="rect">
            <a:avLst/>
          </a:prstGeom>
          <a:noFill/>
          <a:ln/>
        </p:spPr>
        <p:txBody>
          <a:bodyPr wrap="square" lIns="0" tIns="0" rIns="0" bIns="0" rtlCol="0" anchor="t"/>
          <a:lstStyle/>
          <a:p>
            <a:pPr indent="0" marL="0">
              <a:buNone/>
            </a:pPr>
            <a:r>
              <a:rPr lang="en-US" sz="1300" dirty="0">
                <a:solidFill>
                  <a:srgbClr val="3C4A57"/>
                </a:solidFill>
              </a:rPr>
              <a:t>Bottom: the WM picks 'lift straight up' (orange). From there SmolVLA reaches in, grasps and places the bowl. 3/16 verified.</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SmolVLA alone vs WM-guided, same failure</a:t>
            </a:r>
            <a:endParaRPr lang="en-US" sz="3000" dirty="0"/>
          </a:p>
        </p:txBody>
      </p:sp>
      <p:pic>
        <p:nvPicPr>
          <p:cNvPr id="3" name="video_m3_compare">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2098040" y="1188720"/>
            <a:ext cx="7965440" cy="4480560"/>
          </a:xfrm>
          <a:prstGeom prst="rect">
            <a:avLst/>
          </a:prstGeom>
        </p:spPr>
      </p:pic>
      <p:sp>
        <p:nvSpPr>
          <p:cNvPr id="4" name="Shape 1"/>
          <p:cNvSpPr/>
          <p:nvPr/>
        </p:nvSpPr>
        <p:spPr>
          <a:xfrm>
            <a:off x="548640" y="1234440"/>
            <a:ext cx="1143000" cy="292608"/>
          </a:xfrm>
          <a:prstGeom prst="roundRect">
            <a:avLst>
              <a:gd name="adj" fmla="val 25000"/>
            </a:avLst>
          </a:prstGeom>
          <a:solidFill>
            <a:srgbClr val="E8962E"/>
          </a:solidFill>
          <a:ln w="12700">
            <a:solidFill>
              <a:srgbClr val="E8962E"/>
            </a:solidFill>
            <a:prstDash val="solid"/>
          </a:ln>
        </p:spPr>
      </p:sp>
      <p:sp>
        <p:nvSpPr>
          <p:cNvPr id="5" name="Text 2"/>
          <p:cNvSpPr txBox="1"/>
          <p:nvPr/>
        </p:nvSpPr>
        <p:spPr>
          <a:xfrm>
            <a:off x="548640" y="1234440"/>
            <a:ext cx="1143000" cy="292608"/>
          </a:xfrm>
          <a:prstGeom prst="rect">
            <a:avLst/>
          </a:prstGeom>
          <a:noFill/>
          <a:ln/>
        </p:spPr>
        <p:txBody>
          <a:bodyPr wrap="square" lIns="0" tIns="0" rIns="0" bIns="0" rtlCol="0" anchor="ctr"/>
          <a:lstStyle/>
          <a:p>
            <a:pPr algn="ctr" indent="0" marL="0">
              <a:buNone/>
            </a:pPr>
            <a:r>
              <a:rPr lang="en-US" sz="1100" b="1" dirty="0">
                <a:solidFill>
                  <a:srgbClr val="FFFFFF"/>
                </a:solidFill>
              </a:rPr>
              <a:t>VIDEO</a:t>
            </a:r>
            <a:endParaRPr lang="en-US" sz="1100" dirty="0"/>
          </a:p>
        </p:txBody>
      </p:sp>
      <p:sp>
        <p:nvSpPr>
          <p:cNvPr id="6" name="Text 3"/>
          <p:cNvSpPr txBox="1"/>
          <p:nvPr/>
        </p:nvSpPr>
        <p:spPr>
          <a:xfrm>
            <a:off x="548640" y="5760720"/>
            <a:ext cx="11064240" cy="457200"/>
          </a:xfrm>
          <a:prstGeom prst="rect">
            <a:avLst/>
          </a:prstGeom>
          <a:noFill/>
          <a:ln/>
        </p:spPr>
        <p:txBody>
          <a:bodyPr wrap="square" lIns="0" tIns="0" rIns="0" bIns="0" rtlCol="0" anchor="t"/>
          <a:lstStyle/>
          <a:p>
            <a:pPr indent="0" marL="0">
              <a:buNone/>
            </a:pPr>
            <a:r>
              <a:rPr lang="en-US" sz="1400" dirty="0">
                <a:solidFill>
                  <a:srgbClr val="3C4A57"/>
                </a:solidFill>
              </a:rPr>
              <a:t>Left: SmolVLA alone hovers at the drawer for 350 steps. Right: WM-chosen 50-step lift (orange) then SmolVLA grasps and places the bowl.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Video: WM-found recoveries on unseen failures</a:t>
            </a:r>
            <a:endParaRPr lang="en-US" sz="3000" dirty="0"/>
          </a:p>
        </p:txBody>
      </p:sp>
      <p:pic>
        <p:nvPicPr>
          <p:cNvPr id="3" name="video_m3_wm_pair">
            <a:hlinkClick r:id="" action="ppaction://media"/>
          </p:cNvPr>
          <p:cNvPicPr>
            <a:picLocks noChangeAspect="1"/>
          </p:cNvPicPr>
          <p:nvPr>
            <a:videoFile r:link="rId1"/>
            <p:extLst>
              <p:ext uri="{DAA4B4D4-6D71-4841-9C94-3DE7FCFB9230}">
                <p14:media xmlns:p14="http://schemas.microsoft.com/office/powerpoint/2010/main" r:embed="rId2"/>
              </p:ext>
            </p:extLst>
          </p:nvPr>
        </p:nvPicPr>
        <p:blipFill>
          <a:blip r:embed="rId3"/>
          <a:stretch>
            <a:fillRect/>
          </a:stretch>
        </p:blipFill>
        <p:spPr>
          <a:xfrm>
            <a:off x="1937995" y="1188720"/>
            <a:ext cx="4170729" cy="4937760"/>
          </a:xfrm>
          <a:prstGeom prst="rect">
            <a:avLst/>
          </a:prstGeom>
        </p:spPr>
      </p:pic>
      <p:sp>
        <p:nvSpPr>
          <p:cNvPr id="4" name="m3v"/>
          <p:cNvSpPr/>
          <p:nvPr/>
        </p:nvSpPr>
        <p:spPr>
          <a:xfrm>
            <a:off x="7863840" y="1188720"/>
            <a:ext cx="3749040" cy="4937760"/>
          </a:xfrm>
          <a:prstGeom prst="roundRect">
            <a:avLst>
              <a:gd name="adj" fmla="val 1951"/>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8092440" y="1371600"/>
            <a:ext cx="3291840" cy="685800"/>
          </a:xfrm>
          <a:prstGeom prst="rect">
            <a:avLst/>
          </a:prstGeom>
          <a:noFill/>
          <a:ln/>
        </p:spPr>
        <p:txBody>
          <a:bodyPr wrap="square" lIns="0" tIns="0" rIns="0" bIns="0" rtlCol="0" anchor="t"/>
          <a:lstStyle/>
          <a:p>
            <a:pPr indent="0" marL="0">
              <a:buNone/>
            </a:pPr>
            <a:r>
              <a:rPr lang="en-US" sz="1600" b="1" dirty="0">
                <a:solidFill>
                  <a:srgbClr val="23303B"/>
                </a:solidFill>
              </a:rPr>
              <a:t>Picked by WM + critic, verified in sim</a:t>
            </a:r>
            <a:endParaRPr lang="en-US" sz="1600" dirty="0"/>
          </a:p>
        </p:txBody>
      </p:sp>
      <p:sp>
        <p:nvSpPr>
          <p:cNvPr id="6" name="Text 3"/>
          <p:cNvSpPr txBox="1"/>
          <p:nvPr/>
        </p:nvSpPr>
        <p:spPr>
          <a:xfrm>
            <a:off x="8092440" y="2194560"/>
            <a:ext cx="3291840" cy="3749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orange: the 50 steps the WM chose in imagination (lift clear of the drawer)</a:t>
            </a:r>
            <a:endParaRPr lang="en-US" sz="1300" dirty="0"/>
          </a:p>
          <a:p>
            <a:pPr marL="342900" indent="-342900">
              <a:spcAft>
                <a:spcPts val="600"/>
              </a:spcAft>
              <a:buSzPct val="100000"/>
              <a:buChar char="•"/>
            </a:pPr>
            <a:r>
              <a:rPr lang="en-US" sz="1300" dirty="0">
                <a:solidFill>
                  <a:srgbClr val="3C4A57"/>
                </a:solidFill>
              </a:rPr>
              <a:t>blue: SmolVLA reaches in, grasps, places the bowl</a:t>
            </a:r>
            <a:endParaRPr lang="en-US" sz="1300" dirty="0"/>
          </a:p>
          <a:p>
            <a:pPr marL="342900" indent="-342900">
              <a:spcAft>
                <a:spcPts val="600"/>
              </a:spcAft>
              <a:buSzPct val="100000"/>
              <a:buChar char="•"/>
            </a:pPr>
            <a:r>
              <a:rPr lang="en-US" sz="1300" dirty="0">
                <a:solidFill>
                  <a:srgbClr val="3C4A57"/>
                </a:solidFill>
              </a:rPr>
              <a:t>neither failure episode was in the WM's training data</a:t>
            </a:r>
            <a:endParaRPr lang="en-US" sz="1300" dirty="0"/>
          </a:p>
          <a:p>
            <a:pPr marL="342900" indent="-342900">
              <a:spcAft>
                <a:spcPts val="600"/>
              </a:spcAft>
              <a:buSzPct val="100000"/>
              <a:buChar char="•"/>
            </a:pPr>
            <a:r>
              <a:rPr lang="en-US" sz="1300" dirty="0">
                <a:solidFill>
                  <a:srgbClr val="3C4A57"/>
                </a:solidFill>
              </a:rPr>
              <a:t>same strategy found on different failures: the WM generalizes the 'get clear first' idea</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What the WM chose, step by step</a:t>
            </a:r>
            <a:endParaRPr lang="en-US" sz="3000" dirty="0"/>
          </a:p>
        </p:txBody>
      </p:sp>
      <p:pic>
        <p:nvPicPr>
          <p:cNvPr id="3" name="strip_wm_drawer.png" descr="WM-chosen drawer recovery strip">    </p:cNvPr>
          <p:cNvPicPr>
            <a:picLocks noChangeAspect="1"/>
          </p:cNvPicPr>
          <p:nvPr/>
        </p:nvPicPr>
        <p:blipFill>
          <a:blip r:embed="rId1"/>
          <a:stretch>
            <a:fillRect/>
          </a:stretch>
        </p:blipFill>
        <p:spPr>
          <a:xfrm>
            <a:off x="551386" y="1188720"/>
            <a:ext cx="11058748" cy="2606040"/>
          </a:xfrm>
          <a:prstGeom prst="rect">
            <a:avLst/>
          </a:prstGeom>
        </p:spPr>
      </p:pic>
      <p:pic>
        <p:nvPicPr>
          <p:cNvPr id="4" name="actions_wm_drawer.png" descr="WM recovery actions">    </p:cNvPr>
          <p:cNvPicPr>
            <a:picLocks noChangeAspect="1"/>
          </p:cNvPicPr>
          <p:nvPr/>
        </p:nvPicPr>
        <p:blipFill>
          <a:blip r:embed="rId2"/>
          <a:stretch>
            <a:fillRect/>
          </a:stretch>
        </p:blipFill>
        <p:spPr>
          <a:xfrm>
            <a:off x="548640" y="3886200"/>
            <a:ext cx="5660571" cy="2377440"/>
          </a:xfrm>
          <a:prstGeom prst="rect">
            <a:avLst/>
          </a:prstGeom>
        </p:spPr>
      </p:pic>
      <p:sp>
        <p:nvSpPr>
          <p:cNvPr id="5" name="readact"/>
          <p:cNvSpPr/>
          <p:nvPr/>
        </p:nvSpPr>
        <p:spPr>
          <a:xfrm>
            <a:off x="7406640" y="3931920"/>
            <a:ext cx="4206240" cy="2240280"/>
          </a:xfrm>
          <a:prstGeom prst="roundRect">
            <a:avLst>
              <a:gd name="adj" fmla="val 3265"/>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6" name="Text 2"/>
          <p:cNvSpPr txBox="1"/>
          <p:nvPr/>
        </p:nvSpPr>
        <p:spPr>
          <a:xfrm>
            <a:off x="7635240" y="4069080"/>
            <a:ext cx="3749040" cy="201168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shaded = the 50 steps the WM chose: one clean dz = +0.5 move, gripper open, no chatter</a:t>
            </a:r>
            <a:endParaRPr lang="en-US" sz="1300" dirty="0"/>
          </a:p>
          <a:p>
            <a:pPr marL="342900" indent="-342900">
              <a:spcAft>
                <a:spcPts val="600"/>
              </a:spcAft>
              <a:buSzPct val="100000"/>
              <a:buChar char="•"/>
            </a:pPr>
            <a:r>
              <a:rPr lang="en-US" sz="1300" dirty="0">
                <a:solidFill>
                  <a:srgbClr val="3C4A57"/>
                </a:solidFill>
              </a:rPr>
              <a:t>white = SmolVLA's own actions afterwards; finger closes at t≈95 (red), bowl placed at t=183</a:t>
            </a:r>
            <a:endParaRPr lang="en-US" sz="1300" dirty="0"/>
          </a:p>
          <a:p>
            <a:pPr marL="342900" indent="-342900">
              <a:spcAft>
                <a:spcPts val="600"/>
              </a:spcAft>
              <a:buSzPct val="100000"/>
              <a:buChar char="•"/>
            </a:pPr>
            <a:r>
              <a:rPr lang="en-US" sz="1300" dirty="0">
                <a:solidFill>
                  <a:srgbClr val="3C4A57"/>
                </a:solidFill>
              </a:rPr>
              <a:t>contrast with the jerky old-CEM segment in M1</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M4: does WM-found data improve the VLA? Not yet measurable</a:t>
            </a:r>
            <a:endParaRPr lang="en-US" sz="3000" dirty="0"/>
          </a:p>
        </p:txBody>
      </p:sp>
      <p:graphicFrame>
        <p:nvGraphicFramePr>
          <p:cNvPr id="58" name="Table 0"/>
          <p:cNvGraphicFramePr>
            <a:graphicFrameLocks noGrp="1"/>
          </p:cNvGraphicFramePr>
          <p:nvPr>
            <p:extLst>
              <p:ext uri="{D42A27DB-BD31-4B8C-83A1-F6EECF244321}">
                <p14:modId xmlns:p14="http://schemas.microsoft.com/office/powerpoint/2010/main" val="1579011935"/>
              </p:ext>
            </p:extLst>
          </p:nvPr>
        </p:nvGraphicFramePr>
        <p:xfrm>
          <a:off x="548640" y="1325880"/>
          <a:ext cx="7040880" cy="914400"/>
        </p:xfrm>
        <a:graphic>
          <a:graphicData uri="http://schemas.openxmlformats.org/drawingml/2006/table">
            <a:tbl>
              <a:tblPr/>
              <a:tblGrid>
                <a:gridCol w="1920240"/>
                <a:gridCol w="2011680"/>
                <a:gridCol w="1005840"/>
                <a:gridCol w="1005840"/>
                <a:gridCol w="1097280"/>
              </a:tblGrid>
              <a:tr h="384048">
                <a:tc>
                  <a:txBody>
                    <a:bodyPr/>
                    <a:lstStyle/>
                    <a:p>
                      <a:pPr indent="0" marL="0">
                        <a:buNone/>
                      </a:pPr>
                      <a:r>
                        <a:rPr lang="en-US" sz="1300" b="1" dirty="0">
                          <a:solidFill>
                            <a:srgbClr val="FFFFFF"/>
                          </a:solidFill>
                        </a:rPr>
                        <a:t>policy (init)</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rPr>
                        <a:t>recovery data</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rPr>
                        <a:t>test RSR</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rPr>
                        <a:t>drawer</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c>
                  <a:txBody>
                    <a:bodyPr/>
                    <a:lstStyle/>
                    <a:p>
                      <a:pPr indent="0" marL="0">
                        <a:buNone/>
                      </a:pPr>
                      <a:r>
                        <a:rPr lang="en-US" sz="1300" b="1" dirty="0">
                          <a:solidFill>
                            <a:srgbClr val="FFFFFF"/>
                          </a:solidFill>
                        </a:rPr>
                        <a:t>nominal</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23303B"/>
                    </a:solidFill>
                  </a:tcPr>
                </a:tc>
              </a:tr>
              <a:tr h="384048">
                <a:tc>
                  <a:txBody>
                    <a:bodyPr/>
                    <a:lstStyle/>
                    <a:p>
                      <a:pPr indent="0" marL="0">
                        <a:buNone/>
                      </a:pPr>
                      <a:r>
                        <a:rPr lang="en-US" sz="1300" dirty="0">
                          <a:solidFill>
                            <a:srgbClr val="23303B"/>
                          </a:solidFill>
                        </a:rPr>
                        <a:t>pi1-random (pi0)</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241 random</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0.279</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18/160</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0.698</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23303B"/>
                          </a:solidFill>
                        </a:rPr>
                        <a:t>A (pi1-nominal)</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241 random</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0.293</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24/160</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0.756</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r h="384048">
                <a:tc>
                  <a:txBody>
                    <a:bodyPr/>
                    <a:lstStyle/>
                    <a:p>
                      <a:pPr indent="0" marL="0">
                        <a:buNone/>
                      </a:pPr>
                      <a:r>
                        <a:rPr lang="en-US" sz="1300" dirty="0">
                          <a:solidFill>
                            <a:srgbClr val="23303B"/>
                          </a:solidFill>
                        </a:rPr>
                        <a:t>B (pi1-nominal)</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241 random + 45 WM</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0.298</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28/160</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c>
                  <a:txBody>
                    <a:bodyPr/>
                    <a:lstStyle/>
                    <a:p>
                      <a:pPr indent="0" marL="0">
                        <a:buNone/>
                      </a:pPr>
                      <a:r>
                        <a:rPr lang="en-US" sz="1300" dirty="0">
                          <a:solidFill>
                            <a:srgbClr val="23303B"/>
                          </a:solidFill>
                        </a:rPr>
                        <a:t>0.748</a:t>
                      </a:r>
                      <a:endParaRPr lang="en-US" sz="1300" dirty="0"/>
                    </a:p>
                  </a:txBody>
                  <a:tcPr marL="91440" marR="91440" marT="45720" marB="45720">
                    <a:lnL w="9525" cap="flat" cmpd="sng" algn="ctr">
                      <a:solidFill>
                        <a:srgbClr val="D5DBE1"/>
                      </a:solidFill>
                      <a:prstDash val="solid"/>
                      <a:round/>
                      <a:headEnd type="none" w="med" len="med"/>
                      <a:tailEnd type="none" w="med" len="med"/>
                    </a:lnL>
                    <a:lnR w="9525" cap="flat" cmpd="sng" algn="ctr">
                      <a:solidFill>
                        <a:srgbClr val="D5DBE1"/>
                      </a:solidFill>
                      <a:prstDash val="solid"/>
                      <a:round/>
                      <a:headEnd type="none" w="med" len="med"/>
                      <a:tailEnd type="none" w="med" len="med"/>
                    </a:lnR>
                    <a:lnT w="9525" cap="flat" cmpd="sng" algn="ctr">
                      <a:solidFill>
                        <a:srgbClr val="D5DBE1"/>
                      </a:solidFill>
                      <a:prstDash val="solid"/>
                      <a:round/>
                      <a:headEnd type="none" w="med" len="med"/>
                      <a:tailEnd type="none" w="med" len="med"/>
                    </a:lnT>
                    <a:lnB w="9525" cap="flat" cmpd="sng" algn="ctr">
                      <a:solidFill>
                        <a:srgbClr val="D5DBE1"/>
                      </a:solidFill>
                      <a:prstDash val="solid"/>
                      <a:round/>
                      <a:headEnd type="none" w="med" len="med"/>
                      <a:tailEnd type="none" w="med" len="med"/>
                    </a:lnB>
                    <a:solidFill>
                      <a:srgbClr val="FFFFFF"/>
                    </a:solidFill>
                  </a:tcPr>
                </a:tc>
              </a:tr>
            </a:tbl>
          </a:graphicData>
        </a:graphic>
      </p:graphicFrame>
      <p:sp>
        <p:nvSpPr>
          <p:cNvPr id="4" name="Text 1"/>
          <p:cNvSpPr txBox="1"/>
          <p:nvPr/>
        </p:nvSpPr>
        <p:spPr>
          <a:xfrm>
            <a:off x="548640" y="3154680"/>
            <a:ext cx="7040880" cy="1645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stronger init (pi1-nominal) recovers nominal 0.70 → 0.75 and nudges RSR up</a:t>
            </a:r>
            <a:endParaRPr lang="en-US" sz="1400" dirty="0"/>
          </a:p>
          <a:p>
            <a:pPr marL="342900" indent="-342900">
              <a:spcAft>
                <a:spcPts val="600"/>
              </a:spcAft>
              <a:buSzPct val="100000"/>
              <a:buChar char="•"/>
            </a:pPr>
            <a:r>
              <a:rPr lang="en-US" sz="1400" dirty="0">
                <a:solidFill>
                  <a:srgbClr val="3C4A57"/>
                </a:solidFill>
              </a:rPr>
              <a:t>+45 WM trajectories: +0.005 RSR, drawer 24 → 28. Paired episodes 61 vs 58: noise</a:t>
            </a:r>
            <a:endParaRPr lang="en-US" sz="1400" dirty="0"/>
          </a:p>
          <a:p>
            <a:pPr marL="342900" indent="-342900">
              <a:spcAft>
                <a:spcPts val="600"/>
              </a:spcAft>
              <a:buSzPct val="100000"/>
              <a:buChar char="•"/>
            </a:pPr>
            <a:r>
              <a:rPr lang="en-US" sz="1400" dirty="0">
                <a:solidFill>
                  <a:srgbClr val="3C4A57"/>
                </a:solidFill>
              </a:rPr>
              <a:t>the dose is tiny: 45 WM trajectories ≈ 8% of training samples</a:t>
            </a:r>
            <a:endParaRPr lang="en-US" sz="1400" dirty="0"/>
          </a:p>
        </p:txBody>
      </p:sp>
      <p:sp>
        <p:nvSpPr>
          <p:cNvPr id="5" name="fix"/>
          <p:cNvSpPr/>
          <p:nvPr/>
        </p:nvSpPr>
        <p:spPr>
          <a:xfrm>
            <a:off x="7955280" y="1325880"/>
            <a:ext cx="3657600" cy="4800600"/>
          </a:xfrm>
          <a:prstGeom prst="roundRect">
            <a:avLst>
              <a:gd name="adj" fmla="val 2000"/>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6" name="Text 3"/>
          <p:cNvSpPr txBox="1"/>
          <p:nvPr/>
        </p:nvSpPr>
        <p:spPr>
          <a:xfrm>
            <a:off x="8183880" y="1508760"/>
            <a:ext cx="3200400" cy="365760"/>
          </a:xfrm>
          <a:prstGeom prst="rect">
            <a:avLst/>
          </a:prstGeom>
          <a:noFill/>
          <a:ln/>
        </p:spPr>
        <p:txBody>
          <a:bodyPr wrap="square" lIns="0" tIns="0" rIns="0" bIns="0" rtlCol="0" anchor="t"/>
          <a:lstStyle/>
          <a:p>
            <a:pPr indent="0" marL="0">
              <a:buNone/>
            </a:pPr>
            <a:r>
              <a:rPr lang="en-US" sz="1700" b="1" dirty="0">
                <a:solidFill>
                  <a:srgbClr val="23303B"/>
                </a:solidFill>
              </a:rPr>
              <a:t>So M5 asks it properly</a:t>
            </a:r>
            <a:endParaRPr lang="en-US" sz="1700" dirty="0"/>
          </a:p>
        </p:txBody>
      </p:sp>
      <p:sp>
        <p:nvSpPr>
          <p:cNvPr id="7" name="Text 4"/>
          <p:cNvSpPr txBox="1"/>
          <p:nvPr/>
        </p:nvSpPr>
        <p:spPr>
          <a:xfrm>
            <a:off x="8183880" y="2011680"/>
            <a:ext cx="3200400" cy="3931920"/>
          </a:xfrm>
          <a:prstGeom prst="rect">
            <a:avLst/>
          </a:prstGeom>
          <a:noFill/>
          <a:ln/>
        </p:spPr>
        <p:txBody>
          <a:bodyPr wrap="square" lIns="0" tIns="0" rIns="0" bIns="0" rtlCol="0" anchor="t"/>
          <a:lstStyle/>
          <a:p>
            <a:pPr marL="342900" indent="-342900">
              <a:spcAft>
                <a:spcPts val="600"/>
              </a:spcAft>
              <a:buSzPct val="100000"/>
              <a:buChar char="•"/>
            </a:pPr>
            <a:r>
              <a:rPr lang="en-US" sz="1400" dirty="0">
                <a:solidFill>
                  <a:srgbClr val="3C4A57"/>
                </a:solidFill>
              </a:rPr>
              <a:t>generate WM data on all 108 pilot failures (not just 53 hard)</a:t>
            </a:r>
            <a:endParaRPr lang="en-US" sz="1400" dirty="0"/>
          </a:p>
          <a:p>
            <a:pPr marL="342900" indent="-342900">
              <a:spcAft>
                <a:spcPts val="600"/>
              </a:spcAft>
              <a:buSzPct val="100000"/>
              <a:buChar char="•"/>
            </a:pPr>
            <a:r>
              <a:rPr lang="en-US" sz="1400" dirty="0">
                <a:solidFill>
                  <a:srgbClr val="3C4A57"/>
                </a:solidFill>
              </a:rPr>
              <a:t>same trajectory count WM vs random</a:t>
            </a:r>
            <a:endParaRPr lang="en-US" sz="1400" dirty="0"/>
          </a:p>
          <a:p>
            <a:pPr marL="342900" indent="-342900">
              <a:spcAft>
                <a:spcPts val="600"/>
              </a:spcAft>
              <a:buSzPct val="100000"/>
              <a:buChar char="•"/>
            </a:pPr>
            <a:r>
              <a:rPr lang="en-US" sz="1400" dirty="0">
                <a:solidFill>
                  <a:srgbClr val="3C4A57"/>
                </a:solidFill>
              </a:rPr>
              <a:t>WM-only vs random-only SFT, same init, same recipe</a:t>
            </a:r>
            <a:endParaRPr lang="en-US" sz="1400" dirty="0"/>
          </a:p>
          <a:p>
            <a:pPr marL="342900" indent="-342900">
              <a:spcAft>
                <a:spcPts val="600"/>
              </a:spcAft>
              <a:buSzPct val="100000"/>
              <a:buChar char="•"/>
            </a:pPr>
            <a:r>
              <a:rPr lang="en-US" sz="1400" dirty="0">
                <a:solidFill>
                  <a:srgbClr val="3C4A57"/>
                </a:solidFill>
              </a:rPr>
              <a:t>measure RSR, drawer, nominal</a:t>
            </a:r>
            <a:endParaRPr lang="en-US" sz="14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731520" y="2468880"/>
            <a:ext cx="10698480" cy="1097280"/>
          </a:xfrm>
          <a:prstGeom prst="rect">
            <a:avLst/>
          </a:prstGeom>
          <a:noFill/>
          <a:ln/>
        </p:spPr>
        <p:txBody>
          <a:bodyPr wrap="square" lIns="0" tIns="0" rIns="0" bIns="0" rtlCol="0" anchor="b"/>
          <a:lstStyle/>
          <a:p>
            <a:pPr algn="l" indent="0" marL="0">
              <a:buNone/>
            </a:pPr>
            <a:r>
              <a:rPr lang="en-US" sz="4000" b="1" dirty="0">
                <a:solidFill>
                  <a:schemeClr val="bg1"/>
                </a:solidFill>
              </a:rPr>
              <a:t>M5: WM data vs random data (Spatial, seed 0)</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indent="0" marL="0">
              <a:buNone/>
            </a:pPr>
            <a:r>
              <a:rPr lang="en-US" sz="1800" dirty="0">
                <a:solidFill>
                  <a:srgbClr val="F3C98B"/>
                </a:solidFill>
              </a:rPr>
              <a:t>test RSR 0.25 (random data) → 0.44 (WM data, seed 0; 3 seeds: 0.418 ± 0.021), same #trajectories</a:t>
            </a:r>
            <a:endParaRPr lang="en-US" sz="1800" dirty="0"/>
          </a:p>
          <a:p>
            <a:pPr indent="0" marL="0">
              <a:buNone/>
            </a:pPr>
            <a:r>
              <a:rPr lang="en-US" sz="1800" dirty="0">
                <a:solidFill>
                  <a:srgbClr val="F3C98B"/>
                </a:solidFill>
              </a:rPr>
              <a:t>on held-out Object the equal-count gap did not replicate (0.354 vs 0.362)</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AAB4BE"/>
                </a:solidFill>
              </a:defRPr>
            </a:lvl1pPr>
          </a:lstStyle>
          <a:p>
            <a:pPr algn="l"/>
            <a:fld id="{F7021451-1387-4CA6-816F-3879F97B5CBC}" type="slidenum">
              <a:rPr b="0" lang="en-US"/>
              <a:t>58</a:t>
            </a:fld>
            <a:endParaRPr 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M5b: 4 search arms, 256 fresh failures, same 16 sims each</a:t>
            </a:r>
            <a:endParaRPr lang="en-US" sz="3000" dirty="0"/>
          </a:p>
        </p:txBody>
      </p:sp>
      <p:pic>
        <p:nvPicPr>
          <p:cNvPr id="3" name="m5b_search.png" descr="search arms solve rate and hit rate">    </p:cNvPr>
          <p:cNvPicPr>
            <a:picLocks noChangeAspect="1"/>
          </p:cNvPicPr>
          <p:nvPr/>
        </p:nvPicPr>
        <p:blipFill>
          <a:blip r:embed="rId1"/>
          <a:stretch>
            <a:fillRect/>
          </a:stretch>
        </p:blipFill>
        <p:spPr>
          <a:xfrm>
            <a:off x="548640" y="1260369"/>
            <a:ext cx="7589520" cy="3057101"/>
          </a:xfrm>
          <a:prstGeom prst="rect">
            <a:avLst/>
          </a:prstGeom>
        </p:spPr>
      </p:pic>
      <p:sp>
        <p:nvSpPr>
          <p:cNvPr id="4" name="Shape 1"/>
          <p:cNvSpPr/>
          <p:nvPr/>
        </p:nvSpPr>
        <p:spPr>
          <a:xfrm>
            <a:off x="8412480" y="1234440"/>
            <a:ext cx="109728" cy="640080"/>
          </a:xfrm>
          <a:prstGeom prst="rect">
            <a:avLst/>
          </a:prstGeom>
          <a:solidFill>
            <a:srgbClr val="6B7785"/>
          </a:solidFill>
          <a:ln w="12700">
            <a:solidFill>
              <a:srgbClr val="6B7785"/>
            </a:solidFill>
            <a:prstDash val="solid"/>
          </a:ln>
        </p:spPr>
      </p:sp>
      <p:sp>
        <p:nvSpPr>
          <p:cNvPr id="5" name="Text 2"/>
          <p:cNvSpPr txBox="1"/>
          <p:nvPr/>
        </p:nvSpPr>
        <p:spPr>
          <a:xfrm>
            <a:off x="8641080" y="1188720"/>
            <a:ext cx="3017520" cy="320040"/>
          </a:xfrm>
          <a:prstGeom prst="rect">
            <a:avLst/>
          </a:prstGeom>
          <a:noFill/>
          <a:ln/>
        </p:spPr>
        <p:txBody>
          <a:bodyPr wrap="square" lIns="0" tIns="0" rIns="0" bIns="0" rtlCol="0" anchor="t"/>
          <a:lstStyle/>
          <a:p>
            <a:pPr indent="0" marL="0">
              <a:buNone/>
            </a:pPr>
            <a:r>
              <a:rPr lang="en-US" sz="1400" b="1" dirty="0">
                <a:solidFill>
                  <a:srgbClr val="23303B"/>
                </a:solidFill>
              </a:rPr>
              <a:t>random</a:t>
            </a:r>
            <a:endParaRPr lang="en-US" sz="1400" dirty="0"/>
          </a:p>
        </p:txBody>
      </p:sp>
      <p:sp>
        <p:nvSpPr>
          <p:cNvPr id="6" name="Text 3"/>
          <p:cNvSpPr txBox="1"/>
          <p:nvPr/>
        </p:nvSpPr>
        <p:spPr>
          <a:xfrm>
            <a:off x="8641080" y="1490472"/>
            <a:ext cx="3017520" cy="502920"/>
          </a:xfrm>
          <a:prstGeom prst="rect">
            <a:avLst/>
          </a:prstGeom>
          <a:noFill/>
          <a:ln/>
        </p:spPr>
        <p:txBody>
          <a:bodyPr wrap="square" lIns="0" tIns="0" rIns="0" bIns="0" rtlCol="0" anchor="t"/>
          <a:lstStyle/>
          <a:p>
            <a:pPr indent="0" marL="0">
              <a:buNone/>
            </a:pPr>
            <a:r>
              <a:rPr lang="en-US" sz="1100" dirty="0">
                <a:solidFill>
                  <a:srgbClr val="3C4A57"/>
                </a:solidFill>
              </a:rPr>
              <a:t>16 uniform picks from the proposal pool (no WM)</a:t>
            </a:r>
            <a:endParaRPr lang="en-US" sz="1100" dirty="0"/>
          </a:p>
        </p:txBody>
      </p:sp>
      <p:sp>
        <p:nvSpPr>
          <p:cNvPr id="7" name="Shape 4"/>
          <p:cNvSpPr/>
          <p:nvPr/>
        </p:nvSpPr>
        <p:spPr>
          <a:xfrm>
            <a:off x="8412480" y="2057400"/>
            <a:ext cx="109728" cy="640080"/>
          </a:xfrm>
          <a:prstGeom prst="rect">
            <a:avLst/>
          </a:prstGeom>
          <a:solidFill>
            <a:srgbClr val="E8962E"/>
          </a:solidFill>
          <a:ln w="12700">
            <a:solidFill>
              <a:srgbClr val="E8962E"/>
            </a:solidFill>
            <a:prstDash val="solid"/>
          </a:ln>
        </p:spPr>
      </p:sp>
      <p:sp>
        <p:nvSpPr>
          <p:cNvPr id="8" name="Text 5"/>
          <p:cNvSpPr txBox="1"/>
          <p:nvPr/>
        </p:nvSpPr>
        <p:spPr>
          <a:xfrm>
            <a:off x="8641080" y="2011680"/>
            <a:ext cx="3017520" cy="320040"/>
          </a:xfrm>
          <a:prstGeom prst="rect">
            <a:avLst/>
          </a:prstGeom>
          <a:noFill/>
          <a:ln/>
        </p:spPr>
        <p:txBody>
          <a:bodyPr wrap="square" lIns="0" tIns="0" rIns="0" bIns="0" rtlCol="0" anchor="t"/>
          <a:lstStyle/>
          <a:p>
            <a:pPr indent="0" marL="0">
              <a:buNone/>
            </a:pPr>
            <a:r>
              <a:rPr lang="en-US" sz="1400" b="1" dirty="0">
                <a:solidFill>
                  <a:srgbClr val="23303B"/>
                </a:solidFill>
              </a:rPr>
              <a:t>WM diverse</a:t>
            </a:r>
            <a:endParaRPr lang="en-US" sz="1400" dirty="0"/>
          </a:p>
        </p:txBody>
      </p:sp>
      <p:sp>
        <p:nvSpPr>
          <p:cNvPr id="9" name="Text 6"/>
          <p:cNvSpPr txBox="1"/>
          <p:nvPr/>
        </p:nvSpPr>
        <p:spPr>
          <a:xfrm>
            <a:off x="8641080" y="2313432"/>
            <a:ext cx="3017520" cy="502920"/>
          </a:xfrm>
          <a:prstGeom prst="rect">
            <a:avLst/>
          </a:prstGeom>
          <a:noFill/>
          <a:ln/>
        </p:spPr>
        <p:txBody>
          <a:bodyPr wrap="square" lIns="0" tIns="0" rIns="0" bIns="0" rtlCol="0" anchor="t"/>
          <a:lstStyle/>
          <a:p>
            <a:pPr indent="0" marL="0">
              <a:buNone/>
            </a:pPr>
            <a:r>
              <a:rPr lang="en-US" sz="1100" dirty="0">
                <a:solidFill>
                  <a:srgbClr val="3C4A57"/>
                </a:solidFill>
              </a:rPr>
              <a:t>pool + latent CEM, k-means diverse top-16 (M5 default)</a:t>
            </a:r>
            <a:endParaRPr lang="en-US" sz="1100" dirty="0"/>
          </a:p>
        </p:txBody>
      </p:sp>
      <p:sp>
        <p:nvSpPr>
          <p:cNvPr id="10" name="Shape 7"/>
          <p:cNvSpPr/>
          <p:nvPr/>
        </p:nvSpPr>
        <p:spPr>
          <a:xfrm>
            <a:off x="8412480" y="2880360"/>
            <a:ext cx="109728" cy="640080"/>
          </a:xfrm>
          <a:prstGeom prst="rect">
            <a:avLst/>
          </a:prstGeom>
          <a:solidFill>
            <a:srgbClr val="1F8FE5"/>
          </a:solidFill>
          <a:ln w="12700">
            <a:solidFill>
              <a:srgbClr val="1F8FE5"/>
            </a:solidFill>
            <a:prstDash val="solid"/>
          </a:ln>
        </p:spPr>
      </p:sp>
      <p:sp>
        <p:nvSpPr>
          <p:cNvPr id="11" name="Text 8"/>
          <p:cNvSpPr txBox="1"/>
          <p:nvPr/>
        </p:nvSpPr>
        <p:spPr>
          <a:xfrm>
            <a:off x="8641080" y="2834640"/>
            <a:ext cx="3017520" cy="320040"/>
          </a:xfrm>
          <a:prstGeom prst="rect">
            <a:avLst/>
          </a:prstGeom>
          <a:noFill/>
          <a:ln/>
        </p:spPr>
        <p:txBody>
          <a:bodyPr wrap="square" lIns="0" tIns="0" rIns="0" bIns="0" rtlCol="0" anchor="t"/>
          <a:lstStyle/>
          <a:p>
            <a:pPr indent="0" marL="0">
              <a:buNone/>
            </a:pPr>
            <a:r>
              <a:rPr lang="en-US" sz="1400" b="1" dirty="0">
                <a:solidFill>
                  <a:srgbClr val="23303B"/>
                </a:solidFill>
              </a:rPr>
              <a:t>WM noise-CEM</a:t>
            </a:r>
            <a:endParaRPr lang="en-US" sz="1400" dirty="0"/>
          </a:p>
        </p:txBody>
      </p:sp>
      <p:sp>
        <p:nvSpPr>
          <p:cNvPr id="12" name="Text 9"/>
          <p:cNvSpPr txBox="1"/>
          <p:nvPr/>
        </p:nvSpPr>
        <p:spPr>
          <a:xfrm>
            <a:off x="8641080" y="3136392"/>
            <a:ext cx="3017520" cy="502920"/>
          </a:xfrm>
          <a:prstGeom prst="rect">
            <a:avLst/>
          </a:prstGeom>
          <a:noFill/>
          <a:ln/>
        </p:spPr>
        <p:txBody>
          <a:bodyPr wrap="square" lIns="0" tIns="0" rIns="0" bIns="0" rtlCol="0" anchor="t"/>
          <a:lstStyle/>
          <a:p>
            <a:pPr indent="0" marL="0">
              <a:buNone/>
            </a:pPr>
            <a:r>
              <a:rPr lang="en-US" sz="1100" dirty="0">
                <a:solidFill>
                  <a:srgbClr val="3C4A57"/>
                </a:solidFill>
              </a:rPr>
              <a:t>NEW: CEM in SmolVLA's flow-matching noise: on-manifold by construction</a:t>
            </a:r>
            <a:endParaRPr lang="en-US" sz="1100" dirty="0"/>
          </a:p>
        </p:txBody>
      </p:sp>
      <p:sp>
        <p:nvSpPr>
          <p:cNvPr id="13" name="Shape 10"/>
          <p:cNvSpPr/>
          <p:nvPr/>
        </p:nvSpPr>
        <p:spPr>
          <a:xfrm>
            <a:off x="8412480" y="3703320"/>
            <a:ext cx="109728" cy="640080"/>
          </a:xfrm>
          <a:prstGeom prst="rect">
            <a:avLst/>
          </a:prstGeom>
          <a:solidFill>
            <a:srgbClr val="2A9D8F"/>
          </a:solidFill>
          <a:ln w="12700">
            <a:solidFill>
              <a:srgbClr val="2A9D8F"/>
            </a:solidFill>
            <a:prstDash val="solid"/>
          </a:ln>
        </p:spPr>
      </p:sp>
      <p:sp>
        <p:nvSpPr>
          <p:cNvPr id="14" name="Text 11"/>
          <p:cNvSpPr txBox="1"/>
          <p:nvPr/>
        </p:nvSpPr>
        <p:spPr>
          <a:xfrm>
            <a:off x="8641080" y="3657600"/>
            <a:ext cx="3017520" cy="320040"/>
          </a:xfrm>
          <a:prstGeom prst="rect">
            <a:avLst/>
          </a:prstGeom>
          <a:noFill/>
          <a:ln/>
        </p:spPr>
        <p:txBody>
          <a:bodyPr wrap="square" lIns="0" tIns="0" rIns="0" bIns="0" rtlCol="0" anchor="t"/>
          <a:lstStyle/>
          <a:p>
            <a:pPr indent="0" marL="0">
              <a:buNone/>
            </a:pPr>
            <a:r>
              <a:rPr lang="en-US" sz="1400" b="1" dirty="0">
                <a:solidFill>
                  <a:srgbClr val="23303B"/>
                </a:solidFill>
              </a:rPr>
              <a:t>WM quality-div.</a:t>
            </a:r>
            <a:endParaRPr lang="en-US" sz="1400" dirty="0"/>
          </a:p>
        </p:txBody>
      </p:sp>
      <p:sp>
        <p:nvSpPr>
          <p:cNvPr id="15" name="Text 12"/>
          <p:cNvSpPr txBox="1"/>
          <p:nvPr/>
        </p:nvSpPr>
        <p:spPr>
          <a:xfrm>
            <a:off x="8641080" y="3959352"/>
            <a:ext cx="3017520" cy="502920"/>
          </a:xfrm>
          <a:prstGeom prst="rect">
            <a:avLst/>
          </a:prstGeom>
          <a:noFill/>
          <a:ln/>
        </p:spPr>
        <p:txBody>
          <a:bodyPr wrap="square" lIns="0" tIns="0" rIns="0" bIns="0" rtlCol="0" anchor="t"/>
          <a:lstStyle/>
          <a:p>
            <a:pPr indent="0" marL="0">
              <a:buNone/>
            </a:pPr>
            <a:r>
              <a:rPr lang="en-US" sz="1100" dirty="0">
                <a:solidFill>
                  <a:srgbClr val="3C4A57"/>
                </a:solidFill>
              </a:rPr>
              <a:t>NEW: MAP-Elites over 60 strategy cells (gripper × motion)</a:t>
            </a:r>
            <a:endParaRPr lang="en-US" sz="1100" dirty="0"/>
          </a:p>
        </p:txBody>
      </p:sp>
      <p:sp>
        <p:nvSpPr>
          <p:cNvPr id="16" name="m5bread"/>
          <p:cNvSpPr/>
          <p:nvPr/>
        </p:nvSpPr>
        <p:spPr>
          <a:xfrm>
            <a:off x="548640" y="4617720"/>
            <a:ext cx="11064240" cy="1554480"/>
          </a:xfrm>
          <a:prstGeom prst="roundRect">
            <a:avLst>
              <a:gd name="adj" fmla="val 4706"/>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17" name="Text 14"/>
          <p:cNvSpPr txBox="1"/>
          <p:nvPr/>
        </p:nvSpPr>
        <p:spPr>
          <a:xfrm>
            <a:off x="777240" y="4754880"/>
            <a:ext cx="10607040" cy="137160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WM diverse: 2.8× more verified recoveries per simulator rollout than random (0.171 vs 0.062), p = 4e-9. Drawer: 0.43 vs 0.07 solved</a:t>
            </a:r>
            <a:endParaRPr lang="en-US" sz="1300" dirty="0"/>
          </a:p>
          <a:p>
            <a:pPr marL="342900" indent="-342900">
              <a:spcAft>
                <a:spcPts val="600"/>
              </a:spcAft>
              <a:buSzPct val="100000"/>
              <a:buChar char="•"/>
            </a:pPr>
            <a:r>
              <a:rPr lang="en-US" sz="1300" dirty="0">
                <a:solidFill>
                  <a:srgbClr val="3C4A57"/>
                </a:solidFill>
              </a:rPr>
              <a:t>noise-CEM is the smoothest and closest to SmolVLA, but WORSE than random: it inherits SmolVLA's 'keep grasping' habit (drawer 0.02)</a:t>
            </a:r>
            <a:endParaRPr lang="en-US" sz="1300" dirty="0"/>
          </a:p>
          <a:p>
            <a:pPr marL="342900" indent="-342900">
              <a:spcAft>
                <a:spcPts val="600"/>
              </a:spcAft>
              <a:buSzPct val="100000"/>
              <a:buChar char="•"/>
            </a:pPr>
            <a:r>
              <a:rPr lang="en-US" sz="1300" dirty="0">
                <a:solidFill>
                  <a:srgbClr val="3C4A57"/>
                </a:solidFill>
              </a:rPr>
              <a:t>quality-diversity: most distinct strategies per solved failure (4.0 vs 2.2), still beats random (p = 0.002)</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59</a:t>
            </a:fld>
            <a:endParaRPr 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Which strategies the WM finds</a:t>
            </a:r>
            <a:endParaRPr lang="en-US" sz="3000" dirty="0"/>
          </a:p>
        </p:txBody>
      </p:sp>
      <p:pic>
        <p:nvPicPr>
          <p:cNvPr id="3" name="m5_strategies.png" descr="strategy statistics">    </p:cNvPr>
          <p:cNvPicPr>
            <a:picLocks noChangeAspect="1"/>
          </p:cNvPicPr>
          <p:nvPr/>
        </p:nvPicPr>
        <p:blipFill>
          <a:blip r:embed="rId1"/>
          <a:stretch>
            <a:fillRect/>
          </a:stretch>
        </p:blipFill>
        <p:spPr>
          <a:xfrm>
            <a:off x="548640" y="1226980"/>
            <a:ext cx="11064240" cy="3261039"/>
          </a:xfrm>
          <a:prstGeom prst="rect">
            <a:avLst/>
          </a:prstGeom>
        </p:spPr>
      </p:pic>
      <p:sp>
        <p:nvSpPr>
          <p:cNvPr id="4" name="s1"/>
          <p:cNvSpPr/>
          <p:nvPr/>
        </p:nvSpPr>
        <p:spPr>
          <a:xfrm>
            <a:off x="548640" y="4754880"/>
            <a:ext cx="5394960" cy="1417320"/>
          </a:xfrm>
          <a:prstGeom prst="roundRect">
            <a:avLst>
              <a:gd name="adj" fmla="val 5161"/>
            </a:avLst>
          </a:prstGeom>
          <a:solidFill>
            <a:srgbClr val="FCEFDC"/>
          </a:solidFill>
          <a:ln w="12700">
            <a:solidFill>
              <a:srgbClr val="FCEFDC"/>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777240" y="4892040"/>
            <a:ext cx="4937760" cy="1188720"/>
          </a:xfrm>
          <a:prstGeom prst="rect">
            <a:avLst/>
          </a:prstGeom>
          <a:noFill/>
          <a:ln/>
        </p:spPr>
        <p:txBody>
          <a:bodyPr wrap="square" lIns="0" tIns="0" rIns="0" bIns="0" rtlCol="0" anchor="t"/>
          <a:lstStyle/>
          <a:p>
            <a:pPr indent="0" marL="0">
              <a:buNone/>
            </a:pPr>
            <a:r>
              <a:rPr lang="en-US" sz="1300" dirty="0">
                <a:solidFill>
                  <a:srgbClr val="3C4A57"/>
                </a:solidFill>
              </a:rPr>
              <a:t>Top recovery = open + lift: let go, get clear, let SmolVLA re-approach as from a normal start. WM found it ~230×, random ~35×.</a:t>
            </a:r>
            <a:endParaRPr lang="en-US" sz="1300" dirty="0"/>
          </a:p>
        </p:txBody>
      </p:sp>
      <p:sp>
        <p:nvSpPr>
          <p:cNvPr id="6" name="s2"/>
          <p:cNvSpPr/>
          <p:nvPr/>
        </p:nvSpPr>
        <p:spPr>
          <a:xfrm>
            <a:off x="6217920" y="4754880"/>
            <a:ext cx="5394960" cy="1417320"/>
          </a:xfrm>
          <a:prstGeom prst="roundRect">
            <a:avLst>
              <a:gd name="adj" fmla="val 5161"/>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7" name="Text 4"/>
          <p:cNvSpPr txBox="1"/>
          <p:nvPr/>
        </p:nvSpPr>
        <p:spPr>
          <a:xfrm>
            <a:off x="6446520" y="4892040"/>
            <a:ext cx="4937760" cy="1188720"/>
          </a:xfrm>
          <a:prstGeom prst="rect">
            <a:avLst/>
          </a:prstGeom>
          <a:noFill/>
          <a:ln/>
        </p:spPr>
        <p:txBody>
          <a:bodyPr wrap="square" lIns="0" tIns="0" rIns="0" bIns="0" rtlCol="0" anchor="t"/>
          <a:lstStyle/>
          <a:p>
            <a:pPr indent="0" marL="0">
              <a:buNone/>
            </a:pPr>
            <a:r>
              <a:rPr lang="en-US" sz="1300" dirty="0">
                <a:solidFill>
                  <a:srgbClr val="3C4A57"/>
                </a:solidFill>
              </a:rPr>
              <a:t>Drawer: random spends 55% of sims on 'grasp again' (0 / 732 succeed); WM spends 83% on 'stay open, lift' (79 successes).</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60</a:t>
            </a:fld>
            <a:endParaRPr 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M5c (Spatial, seed 0): WM data &gt; random data for the VLA</a:t>
            </a:r>
            <a:endParaRPr lang="en-US" sz="3000" dirty="0"/>
          </a:p>
        </p:txBody>
      </p:sp>
      <p:pic>
        <p:nvPicPr>
          <p:cNvPr id="3" name="m5_sft.png" descr="test RSR per SFT variant">    </p:cNvPr>
          <p:cNvPicPr>
            <a:picLocks noChangeAspect="1"/>
          </p:cNvPicPr>
          <p:nvPr/>
        </p:nvPicPr>
        <p:blipFill>
          <a:blip r:embed="rId1"/>
          <a:stretch>
            <a:fillRect/>
          </a:stretch>
        </p:blipFill>
        <p:spPr>
          <a:xfrm>
            <a:off x="548640" y="1184148"/>
            <a:ext cx="7680960" cy="3072384"/>
          </a:xfrm>
          <a:prstGeom prst="rect">
            <a:avLst/>
          </a:prstGeom>
        </p:spPr>
      </p:pic>
      <p:sp>
        <p:nvSpPr>
          <p:cNvPr id="4" name="Text 1"/>
          <p:cNvSpPr txBox="1"/>
          <p:nvPr/>
        </p:nvSpPr>
        <p:spPr>
          <a:xfrm>
            <a:off x="8503920" y="1188720"/>
            <a:ext cx="3108960" cy="685800"/>
          </a:xfrm>
          <a:prstGeom prst="rect">
            <a:avLst/>
          </a:prstGeom>
          <a:noFill/>
          <a:ln/>
        </p:spPr>
        <p:txBody>
          <a:bodyPr wrap="square" lIns="0" tIns="0" rIns="0" bIns="0" rtlCol="0" anchor="t"/>
          <a:lstStyle/>
          <a:p>
            <a:pPr indent="0" marL="0">
              <a:buNone/>
            </a:pPr>
            <a:r>
              <a:rPr lang="en-US" sz="4000" b="1" dirty="0">
                <a:solidFill>
                  <a:srgbClr val="E8962E"/>
                </a:solidFill>
                <a:latin typeface="Times New Roman" pitchFamily="34" charset="0"/>
                <a:ea typeface="Times New Roman" pitchFamily="34" charset="-122"/>
                <a:cs typeface="Times New Roman" pitchFamily="34" charset="-120"/>
              </a:rPr>
              <a:t>0.439</a:t>
            </a:r>
            <a:endParaRPr lang="en-US" sz="4000" dirty="0"/>
          </a:p>
        </p:txBody>
      </p:sp>
      <p:sp>
        <p:nvSpPr>
          <p:cNvPr id="5" name="Text 2"/>
          <p:cNvSpPr txBox="1"/>
          <p:nvPr/>
        </p:nvSpPr>
        <p:spPr>
          <a:xfrm>
            <a:off x="8503920" y="1901952"/>
            <a:ext cx="3108960" cy="548640"/>
          </a:xfrm>
          <a:prstGeom prst="rect">
            <a:avLst/>
          </a:prstGeom>
          <a:noFill/>
          <a:ln/>
        </p:spPr>
        <p:txBody>
          <a:bodyPr wrap="square" lIns="0" tIns="0" rIns="0" bIns="0" rtlCol="0" anchor="t"/>
          <a:lstStyle/>
          <a:p>
            <a:pPr indent="0" marL="0">
              <a:buNone/>
            </a:pPr>
            <a:r>
              <a:rPr lang="en-US" sz="1200" dirty="0">
                <a:solidFill>
                  <a:srgbClr val="6B7785"/>
                </a:solidFill>
              </a:rPr>
              <a:t>test RSR, +208 WM recoveries (vs 0.252 random, same count, same init)</a:t>
            </a:r>
            <a:endParaRPr lang="en-US" sz="1200" dirty="0"/>
          </a:p>
        </p:txBody>
      </p:sp>
      <p:sp>
        <p:nvSpPr>
          <p:cNvPr id="6" name="Text 3"/>
          <p:cNvSpPr txBox="1"/>
          <p:nvPr/>
        </p:nvSpPr>
        <p:spPr>
          <a:xfrm>
            <a:off x="8503920" y="2560320"/>
            <a:ext cx="3108960" cy="685800"/>
          </a:xfrm>
          <a:prstGeom prst="rect">
            <a:avLst/>
          </a:prstGeom>
          <a:noFill/>
          <a:ln/>
        </p:spPr>
        <p:txBody>
          <a:bodyPr wrap="square" lIns="0" tIns="0" rIns="0" bIns="0" rtlCol="0" anchor="t"/>
          <a:lstStyle/>
          <a:p>
            <a:pPr indent="0" marL="0">
              <a:buNone/>
            </a:pPr>
            <a:r>
              <a:rPr lang="en-US" sz="4000" b="1" dirty="0">
                <a:solidFill>
                  <a:srgbClr val="2A9D8F"/>
                </a:solidFill>
                <a:latin typeface="Times New Roman" pitchFamily="34" charset="0"/>
                <a:ea typeface="Times New Roman" pitchFamily="34" charset="-122"/>
                <a:cs typeface="Times New Roman" pitchFamily="34" charset="-120"/>
              </a:rPr>
              <a:t>0.808</a:t>
            </a:r>
            <a:endParaRPr lang="en-US" sz="4000" dirty="0"/>
          </a:p>
        </p:txBody>
      </p:sp>
      <p:sp>
        <p:nvSpPr>
          <p:cNvPr id="7" name="Text 4"/>
          <p:cNvSpPr txBox="1"/>
          <p:nvPr/>
        </p:nvSpPr>
        <p:spPr>
          <a:xfrm>
            <a:off x="8503920" y="3273552"/>
            <a:ext cx="3108960" cy="548640"/>
          </a:xfrm>
          <a:prstGeom prst="rect">
            <a:avLst/>
          </a:prstGeom>
          <a:noFill/>
          <a:ln/>
        </p:spPr>
        <p:txBody>
          <a:bodyPr wrap="square" lIns="0" tIns="0" rIns="0" bIns="0" rtlCol="0" anchor="t"/>
          <a:lstStyle/>
          <a:p>
            <a:pPr indent="0" marL="0">
              <a:buNone/>
            </a:pPr>
            <a:r>
              <a:rPr lang="en-US" sz="1200" dirty="0">
                <a:solidFill>
                  <a:srgbClr val="6B7785"/>
                </a:solidFill>
              </a:rPr>
              <a:t>nominal SR: no longer lost (demo-only SFT: 0.796)</a:t>
            </a:r>
            <a:endParaRPr lang="en-US" sz="1200" dirty="0"/>
          </a:p>
        </p:txBody>
      </p:sp>
      <p:sp>
        <p:nvSpPr>
          <p:cNvPr id="8" name="sftread"/>
          <p:cNvSpPr/>
          <p:nvPr/>
        </p:nvSpPr>
        <p:spPr>
          <a:xfrm>
            <a:off x="548640" y="4526280"/>
            <a:ext cx="11064240" cy="1645920"/>
          </a:xfrm>
          <a:prstGeom prst="roundRect">
            <a:avLst>
              <a:gd name="adj" fmla="val 4444"/>
            </a:avLst>
          </a:prstGeom>
          <a:solidFill>
            <a:srgbClr val="F2F4F6"/>
          </a:solidFill>
          <a:ln w="12700">
            <a:solidFill>
              <a:srgbClr val="F2F4F6"/>
            </a:solidFill>
            <a:prstDash val="solid"/>
          </a:ln>
          <a:effectLst>
            <a:outerShdw sx="100000" sy="100000" kx="0" ky="0" algn="bl" rotWithShape="0" blurRad="76200" dist="25400" dir="5400000">
              <a:srgbClr val="23303B">
                <a:alpha val="12000"/>
              </a:srgbClr>
            </a:outerShdw>
          </a:effectLst>
        </p:spPr>
      </p:sp>
      <p:sp>
        <p:nvSpPr>
          <p:cNvPr id="9" name="Text 6"/>
          <p:cNvSpPr txBox="1"/>
          <p:nvPr/>
        </p:nvSpPr>
        <p:spPr>
          <a:xfrm>
            <a:off x="777240" y="4663440"/>
            <a:ext cx="10607040" cy="146304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3C4A57"/>
                </a:solidFill>
              </a:rPr>
              <a:t>M5 (241 vs 241): WM 0.402 vs random 0.286, +0.116 [+0.045, +0.191] scene-bootstrap CI, paired McNemar p = 4e-7</a:t>
            </a:r>
            <a:endParaRPr lang="en-US" sz="1300" dirty="0"/>
          </a:p>
          <a:p>
            <a:pPr marL="342900" indent="-342900">
              <a:spcAft>
                <a:spcPts val="600"/>
              </a:spcAft>
              <a:buSzPct val="100000"/>
              <a:buChar char="•"/>
            </a:pPr>
            <a:r>
              <a:rPr lang="en-US" sz="1300" dirty="0">
                <a:solidFill>
                  <a:srgbClr val="3C4A57"/>
                </a:solidFill>
              </a:rPr>
              <a:t>M5c (208 vs 208, round-robin subset): WM diverse 0.439, quality-div. 0.354, random 0.252</a:t>
            </a:r>
            <a:endParaRPr lang="en-US" sz="1300" dirty="0"/>
          </a:p>
          <a:p>
            <a:pPr marL="342900" indent="-342900">
              <a:spcAft>
                <a:spcPts val="600"/>
              </a:spcAft>
              <a:buSzPct val="100000"/>
              <a:buChar char="•"/>
            </a:pPr>
            <a:r>
              <a:rPr lang="en-US" sz="1300" dirty="0">
                <a:solidFill>
                  <a:srgbClr val="3C4A57"/>
                </a:solidFill>
              </a:rPr>
              <a:t>more is not better: all 423 WM trajectories 0.389 &lt; 208 balanced. One training seed per variant</a:t>
            </a:r>
            <a:endParaRPr lang="en-US" sz="13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61</a:t>
            </a:fld>
            <a:endParaRPr 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685800"/>
          </a:xfrm>
          <a:prstGeom prst="rect">
            <a:avLst/>
          </a:prstGeom>
          <a:noFill/>
          <a:ln/>
        </p:spPr>
        <p:txBody>
          <a:bodyPr wrap="square" lIns="0" tIns="0" rIns="0" bIns="0" rtlCol="0" anchor="ctr"/>
          <a:lstStyle/>
          <a:p>
            <a:pPr indent="0" marL="0">
              <a:buNone/>
            </a:pPr>
            <a:r>
              <a:rPr lang="en-US" sz="3000" b="1" dirty="0">
                <a:solidFill>
                  <a:schemeClr val="tx1"/>
                </a:solidFill>
              </a:rPr>
              <a:t>A data-selection bug that hid the gain</a:t>
            </a:r>
            <a:endParaRPr lang="en-US" sz="3000" dirty="0"/>
          </a:p>
        </p:txBody>
      </p:sp>
      <p:pic>
        <p:nvPicPr>
          <p:cNvPr id="3" name="m5_task_rsr.png" descr="per task RSR">    </p:cNvPr>
          <p:cNvPicPr>
            <a:picLocks noChangeAspect="1"/>
          </p:cNvPicPr>
          <p:nvPr/>
        </p:nvPicPr>
        <p:blipFill>
          <a:blip r:embed="rId1"/>
          <a:stretch>
            <a:fillRect/>
          </a:stretch>
        </p:blipFill>
        <p:spPr>
          <a:xfrm>
            <a:off x="548640" y="1408176"/>
            <a:ext cx="7680960" cy="2944368"/>
          </a:xfrm>
          <a:prstGeom prst="rect">
            <a:avLst/>
          </a:prstGeom>
        </p:spPr>
      </p:pic>
      <p:sp>
        <p:nvSpPr>
          <p:cNvPr id="4" name="bug"/>
          <p:cNvSpPr/>
          <p:nvPr/>
        </p:nvSpPr>
        <p:spPr>
          <a:xfrm>
            <a:off x="8503920" y="1143000"/>
            <a:ext cx="3108960" cy="5029200"/>
          </a:xfrm>
          <a:prstGeom prst="roundRect">
            <a:avLst>
              <a:gd name="adj" fmla="val 2353"/>
            </a:avLst>
          </a:prstGeom>
          <a:solidFill>
            <a:srgbClr val="F8E3DE"/>
          </a:solidFill>
          <a:ln w="12700">
            <a:solidFill>
              <a:srgbClr val="F8E3DE"/>
            </a:solidFill>
            <a:prstDash val="solid"/>
          </a:ln>
          <a:effectLst>
            <a:outerShdw sx="100000" sy="100000" kx="0" ky="0" algn="bl" rotWithShape="0" blurRad="76200" dist="25400" dir="5400000">
              <a:srgbClr val="23303B">
                <a:alpha val="12000"/>
              </a:srgbClr>
            </a:outerShdw>
          </a:effectLst>
        </p:spPr>
      </p:sp>
      <p:sp>
        <p:nvSpPr>
          <p:cNvPr id="5" name="Text 2"/>
          <p:cNvSpPr txBox="1"/>
          <p:nvPr/>
        </p:nvSpPr>
        <p:spPr>
          <a:xfrm>
            <a:off x="8732520" y="1325880"/>
            <a:ext cx="2651760" cy="365760"/>
          </a:xfrm>
          <a:prstGeom prst="rect">
            <a:avLst/>
          </a:prstGeom>
          <a:noFill/>
          <a:ln/>
        </p:spPr>
        <p:txBody>
          <a:bodyPr wrap="square" lIns="0" tIns="0" rIns="0" bIns="0" rtlCol="0" anchor="t"/>
          <a:lstStyle/>
          <a:p>
            <a:pPr indent="0" marL="0">
              <a:buNone/>
            </a:pPr>
            <a:r>
              <a:rPr lang="en-US" sz="1600" b="1" dirty="0">
                <a:solidFill>
                  <a:srgbClr val="C8553D"/>
                </a:solidFill>
              </a:rPr>
              <a:t>What went wrong</a:t>
            </a:r>
            <a:endParaRPr lang="en-US" sz="1600" dirty="0"/>
          </a:p>
        </p:txBody>
      </p:sp>
      <p:sp>
        <p:nvSpPr>
          <p:cNvPr id="6" name="Text 3"/>
          <p:cNvSpPr txBox="1"/>
          <p:nvPr/>
        </p:nvSpPr>
        <p:spPr>
          <a:xfrm>
            <a:off x="8732520" y="1783080"/>
            <a:ext cx="2697480" cy="4297680"/>
          </a:xfrm>
          <a:prstGeom prst="rect">
            <a:avLst/>
          </a:prstGeom>
          <a:noFill/>
          <a:ln/>
        </p:spPr>
        <p:txBody>
          <a:bodyPr wrap="square" lIns="0" tIns="0" rIns="0" bIns="0" rtlCol="0" anchor="t"/>
          <a:lstStyle/>
          <a:p>
            <a:pPr marL="342900" indent="-342900">
              <a:spcAft>
                <a:spcPts val="600"/>
              </a:spcAft>
              <a:buSzPct val="100000"/>
              <a:buChar char="•"/>
            </a:pPr>
            <a:r>
              <a:rPr lang="en-US" sz="1200" dirty="0">
                <a:solidFill>
                  <a:srgbClr val="3C4A57"/>
                </a:solidFill>
              </a:rPr>
              <a:t>to match counts we kept the top-208 trajectories by critic score</a:t>
            </a:r>
            <a:endParaRPr lang="en-US" sz="1200" dirty="0"/>
          </a:p>
          <a:p>
            <a:pPr marL="342900" indent="-342900">
              <a:spcAft>
                <a:spcPts val="600"/>
              </a:spcAft>
              <a:buSzPct val="100000"/>
              <a:buChar char="•"/>
            </a:pPr>
            <a:r>
              <a:rPr lang="en-US" sz="1200" dirty="0">
                <a:solidFill>
                  <a:srgbClr val="3C4A57"/>
                </a:solidFill>
              </a:rPr>
              <a:t>the critic scores drawer recoveries low, so only 4 drawer trajectories survived (of 44)</a:t>
            </a:r>
            <a:endParaRPr lang="en-US" sz="1200" dirty="0"/>
          </a:p>
          <a:p>
            <a:pPr marL="342900" indent="-342900">
              <a:spcAft>
                <a:spcPts val="600"/>
              </a:spcAft>
              <a:buSzPct val="100000"/>
              <a:buChar char="•"/>
            </a:pPr>
            <a:r>
              <a:rPr lang="en-US" sz="1200" dirty="0">
                <a:solidFill>
                  <a:srgbClr val="3C4A57"/>
                </a:solidFill>
              </a:rPr>
              <a:t>drawer test RSR collapsed to 0.11</a:t>
            </a:r>
            <a:endParaRPr lang="en-US" sz="1200" dirty="0"/>
          </a:p>
          <a:p>
            <a:pPr marL="342900" indent="-342900">
              <a:spcAft>
                <a:spcPts val="600"/>
              </a:spcAft>
              <a:buSzPct val="100000"/>
              <a:buChar char="•"/>
            </a:pPr>
            <a:r>
              <a:rPr lang="en-US" sz="1200" dirty="0">
                <a:solidFill>
                  <a:srgbClr val="3C4A57"/>
                </a:solidFill>
              </a:rPr>
              <a:t>fix: round-robin per failure (each failure's best, then 2nd best, ...): drawer 0.44, overall 0.30 → 0.44</a:t>
            </a:r>
            <a:endParaRPr lang="en-US" sz="1200" dirty="0"/>
          </a:p>
        </p:txBody>
      </p:sp>
      <p:sp>
        <p:nvSpPr>
          <p:cNvPr id="7" name="Text 4"/>
          <p:cNvSpPr txBox="1"/>
          <p:nvPr/>
        </p:nvSpPr>
        <p:spPr>
          <a:xfrm>
            <a:off x="548640" y="4846320"/>
            <a:ext cx="7680960" cy="274320"/>
          </a:xfrm>
          <a:prstGeom prst="rect">
            <a:avLst/>
          </a:prstGeom>
          <a:noFill/>
          <a:ln/>
        </p:spPr>
        <p:txBody>
          <a:bodyPr wrap="square" lIns="0" tIns="0" rIns="0" bIns="0" rtlCol="0" anchor="t"/>
          <a:lstStyle/>
          <a:p>
            <a:pPr indent="0" marL="0">
              <a:buNone/>
            </a:pPr>
            <a:r>
              <a:rPr lang="en-US" sz="1100" i="1" dirty="0">
                <a:solidFill>
                  <a:srgbClr val="6B7785"/>
                </a:solidFill>
              </a:rPr>
              <a:t>Lesson: the distribution of the distilled data matters as much as the search</a:t>
            </a:r>
            <a:endParaRPr lang="en-US" sz="1100" dirty="0"/>
          </a:p>
        </p:txBody>
      </p:sp>
      <p:sp>
        <p:nvSpPr>
          <p:cNvPr id="25" name="Slide Number Placeholder 0"/>
          <p:cNvSpPr>
            <a:spLocks noGrp="1"/>
          </p:cNvSpPr>
          <p:nvPr>
            <p:ph type="sldNum" sz="quarter" idx="4294967295"/>
          </p:nvPr>
        </p:nvSpPr>
        <p:spPr>
          <a:xfrm>
            <a:off x="1124712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l"/>
            <a:fld id="{F7021451-1387-4CA6-816F-3879F97B5CBC}" type="slidenum">
              <a:rPr b="0" lang="en-US"/>
              <a:t>62</a:t>
            </a:fld>
            <a:endParaRPr lang="en-US"/>
          </a:p>
        </p:txBody>
      </p:sp>
    </p:spTree>
  </p:cSld>
  <p:clrMapOvr>
    <a:masterClrMapping/>
  </p:clrMapOvr>
</p:sld>
</file>

<file path=ppt/theme/theme1.xml><?xml version="1.0" encoding="utf-8"?>
<a:theme xmlns:a="http://schemas.openxmlformats.org/drawingml/2006/main" name="RetryVLA">
  <a:themeElements>
    <a:clrScheme name="RetryVLA">
      <a:dk1>
        <a:srgbClr val="23303B"/>
      </a:dk1>
      <a:lt1>
        <a:srgbClr val="FFFFFF"/>
      </a:lt1>
      <a:dk2>
        <a:srgbClr val="3C4A57"/>
      </a:dk2>
      <a:lt2>
        <a:srgbClr val="F2F4F6"/>
      </a:lt2>
      <a:accent1>
        <a:srgbClr val="E8962E"/>
      </a:accent1>
      <a:accent2>
        <a:srgbClr val="1F8FE5"/>
      </a:accent2>
      <a:accent3>
        <a:srgbClr val="2A9D8F"/>
      </a:accent3>
      <a:accent4>
        <a:srgbClr val="C8553D"/>
      </a:accent4>
      <a:accent5>
        <a:srgbClr val="6B7785"/>
      </a:accent5>
      <a:accent6>
        <a:srgbClr val="F3C98B"/>
      </a:accent6>
      <a:hlink>
        <a:srgbClr val="1F8FE5"/>
      </a:hlink>
      <a:folHlink>
        <a:srgbClr val="6B7785"/>
      </a:folHlink>
    </a:clrScheme>
    <a:fontScheme name="RetryVLA">
      <a:majorFont>
        <a:latin typeface="Times New Roman"/>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Times New Roman"/>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62</Slides>
  <Notes>62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62</vt:i4>
      </vt:variant>
    </vt:vector>
  </HeadingPairs>
  <TitlesOfParts>
    <vt:vector size="6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RetryVLA: Policy-Competence-Guided Recovery Search and Distillation</dc:title>
  <dc:subject>PptxGenJS Presentation</dc:subject>
  <dc:creator>ltdoanhwork</dc:creator>
  <cp:lastModifiedBy>ltdoanhwork</cp:lastModifiedBy>
  <cp:revision>1</cp:revision>
  <dcterms:created xsi:type="dcterms:W3CDTF">2026-10-26T03:23:28Z</dcterms:created>
  <dcterms:modified xsi:type="dcterms:W3CDTF">2026-10-26T03:23:28Z</dcterms:modified>
</cp:coreProperties>
</file>